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14"/>
  </p:notesMasterIdLst>
  <p:sldIdLst>
    <p:sldId id="256" r:id="rId5"/>
    <p:sldId id="257" r:id="rId6"/>
    <p:sldId id="262" r:id="rId7"/>
    <p:sldId id="263" r:id="rId8"/>
    <p:sldId id="265" r:id="rId9"/>
    <p:sldId id="266" r:id="rId10"/>
    <p:sldId id="267" r:id="rId11"/>
    <p:sldId id="268" r:id="rId12"/>
    <p:sldId id="261"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iN+V/mrKHSZtKa6x0kiSQU58VV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C5C2CB-EDF4-FD02-9FEE-7647A9103CD0}" v="577" dt="2024-11-06T11:39:28.317"/>
  </p1510:revLst>
</p1510:revInfo>
</file>

<file path=ppt/tableStyles.xml><?xml version="1.0" encoding="utf-8"?>
<a:tblStyleLst xmlns:a="http://schemas.openxmlformats.org/drawingml/2006/main" def="{F0909D47-F51C-4509-9F9C-E1853B2526B3}">
  <a:tblStyle styleId="{F0909D47-F51C-4509-9F9C-E1853B2526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D7B26C5-4107-4FEC-AEDC-1716B250A1EF}" styleName="Φωτεινό στυλ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Φωτεινό στυλ 1 - Έμφαση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Μεσαίο στυλ 2 - Έμφαση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FD0F851-EC5A-4D38-B0AD-8093EC10F338}" styleName="Φωτεινό στυλ 1 - Έμφαση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customschemas.google.com/relationships/presentationmetadata" Target="metadata"/><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Αντωνιος Μακρης" userId="S::antoniosmakris@ntua.gr::eea0bc52-0833-4d66-a611-1693fee57a2c" providerId="AD" clId="Web-{83C5C2CB-EDF4-FD02-9FEE-7647A9103CD0}"/>
    <pc:docChg chg="addSld delSld modSld">
      <pc:chgData name="Αντωνιος Μακρης" userId="S::antoniosmakris@ntua.gr::eea0bc52-0833-4d66-a611-1693fee57a2c" providerId="AD" clId="Web-{83C5C2CB-EDF4-FD02-9FEE-7647A9103CD0}" dt="2024-11-06T11:39:28.317" v="526" actId="20577"/>
      <pc:docMkLst>
        <pc:docMk/>
      </pc:docMkLst>
      <pc:sldChg chg="modSp">
        <pc:chgData name="Αντωνιος Μακρης" userId="S::antoniosmakris@ntua.gr::eea0bc52-0833-4d66-a611-1693fee57a2c" providerId="AD" clId="Web-{83C5C2CB-EDF4-FD02-9FEE-7647A9103CD0}" dt="2024-11-06T09:42:03.961" v="56"/>
        <pc:sldMkLst>
          <pc:docMk/>
          <pc:sldMk cId="0" sldId="257"/>
        </pc:sldMkLst>
        <pc:graphicFrameChg chg="mod modGraphic">
          <ac:chgData name="Αντωνιος Μακρης" userId="S::antoniosmakris@ntua.gr::eea0bc52-0833-4d66-a611-1693fee57a2c" providerId="AD" clId="Web-{83C5C2CB-EDF4-FD02-9FEE-7647A9103CD0}" dt="2024-11-06T09:42:03.961" v="56"/>
          <ac:graphicFrameMkLst>
            <pc:docMk/>
            <pc:sldMk cId="0" sldId="257"/>
            <ac:graphicFrameMk id="101" creationId="{00000000-0000-0000-0000-000000000000}"/>
          </ac:graphicFrameMkLst>
        </pc:graphicFrameChg>
      </pc:sldChg>
      <pc:sldChg chg="delSp add del">
        <pc:chgData name="Αντωνιος Μακρης" userId="S::antoniosmakris@ntua.gr::eea0bc52-0833-4d66-a611-1693fee57a2c" providerId="AD" clId="Web-{83C5C2CB-EDF4-FD02-9FEE-7647A9103CD0}" dt="2024-11-06T10:03:21.796" v="369"/>
        <pc:sldMkLst>
          <pc:docMk/>
          <pc:sldMk cId="0" sldId="258"/>
        </pc:sldMkLst>
        <pc:graphicFrameChg chg="del">
          <ac:chgData name="Αντωνιος Μακρης" userId="S::antoniosmakris@ntua.gr::eea0bc52-0833-4d66-a611-1693fee57a2c" providerId="AD" clId="Web-{83C5C2CB-EDF4-FD02-9FEE-7647A9103CD0}" dt="2024-11-06T09:42:13.212" v="57"/>
          <ac:graphicFrameMkLst>
            <pc:docMk/>
            <pc:sldMk cId="0" sldId="258"/>
            <ac:graphicFrameMk id="109" creationId="{00000000-0000-0000-0000-000000000000}"/>
          </ac:graphicFrameMkLst>
        </pc:graphicFrameChg>
      </pc:sldChg>
      <pc:sldChg chg="del">
        <pc:chgData name="Αντωνιος Μακρης" userId="S::antoniosmakris@ntua.gr::eea0bc52-0833-4d66-a611-1693fee57a2c" providerId="AD" clId="Web-{83C5C2CB-EDF4-FD02-9FEE-7647A9103CD0}" dt="2024-11-06T09:42:47.025" v="67"/>
        <pc:sldMkLst>
          <pc:docMk/>
          <pc:sldMk cId="0" sldId="259"/>
        </pc:sldMkLst>
      </pc:sldChg>
      <pc:sldChg chg="del">
        <pc:chgData name="Αντωνιος Μακρης" userId="S::antoniosmakris@ntua.gr::eea0bc52-0833-4d66-a611-1693fee57a2c" providerId="AD" clId="Web-{83C5C2CB-EDF4-FD02-9FEE-7647A9103CD0}" dt="2024-11-06T09:42:50.182" v="68"/>
        <pc:sldMkLst>
          <pc:docMk/>
          <pc:sldMk cId="0" sldId="260"/>
        </pc:sldMkLst>
      </pc:sldChg>
      <pc:sldChg chg="addSp modSp add replId">
        <pc:chgData name="Αντωνιος Μακρης" userId="S::antoniosmakris@ntua.gr::eea0bc52-0833-4d66-a611-1693fee57a2c" providerId="AD" clId="Web-{83C5C2CB-EDF4-FD02-9FEE-7647A9103CD0}" dt="2024-11-06T09:52:39.831" v="323" actId="20577"/>
        <pc:sldMkLst>
          <pc:docMk/>
          <pc:sldMk cId="3817426289" sldId="262"/>
        </pc:sldMkLst>
        <pc:spChg chg="add mod">
          <ac:chgData name="Αντωνιος Μακρης" userId="S::antoniosmakris@ntua.gr::eea0bc52-0833-4d66-a611-1693fee57a2c" providerId="AD" clId="Web-{83C5C2CB-EDF4-FD02-9FEE-7647A9103CD0}" dt="2024-11-06T09:52:39.831" v="323" actId="20577"/>
          <ac:spMkLst>
            <pc:docMk/>
            <pc:sldMk cId="3817426289" sldId="262"/>
            <ac:spMk id="2" creationId="{E26E3D37-0F76-03FD-9FCB-F213E5D105A3}"/>
          </ac:spMkLst>
        </pc:spChg>
        <pc:spChg chg="mod">
          <ac:chgData name="Αντωνιος Μακρης" userId="S::antoniosmakris@ntua.gr::eea0bc52-0833-4d66-a611-1693fee57a2c" providerId="AD" clId="Web-{83C5C2CB-EDF4-FD02-9FEE-7647A9103CD0}" dt="2024-11-06T09:42:40.244" v="66" actId="20577"/>
          <ac:spMkLst>
            <pc:docMk/>
            <pc:sldMk cId="3817426289" sldId="262"/>
            <ac:spMk id="132" creationId="{00000000-0000-0000-0000-000000000000}"/>
          </ac:spMkLst>
        </pc:spChg>
        <pc:spChg chg="mod">
          <ac:chgData name="Αντωνιος Μακρης" userId="S::antoniosmakris@ntua.gr::eea0bc52-0833-4d66-a611-1693fee57a2c" providerId="AD" clId="Web-{83C5C2CB-EDF4-FD02-9FEE-7647A9103CD0}" dt="2024-11-06T09:52:32.019" v="322" actId="20577"/>
          <ac:spMkLst>
            <pc:docMk/>
            <pc:sldMk cId="3817426289" sldId="262"/>
            <ac:spMk id="133" creationId="{00000000-0000-0000-0000-000000000000}"/>
          </ac:spMkLst>
        </pc:spChg>
      </pc:sldChg>
      <pc:sldChg chg="modSp add replId">
        <pc:chgData name="Αντωνιος Μακρης" userId="S::antoniosmakris@ntua.gr::eea0bc52-0833-4d66-a611-1693fee57a2c" providerId="AD" clId="Web-{83C5C2CB-EDF4-FD02-9FEE-7647A9103CD0}" dt="2024-11-06T11:39:28.317" v="526" actId="20577"/>
        <pc:sldMkLst>
          <pc:docMk/>
          <pc:sldMk cId="4058644610" sldId="263"/>
        </pc:sldMkLst>
        <pc:spChg chg="mod">
          <ac:chgData name="Αντωνιος Μακρης" userId="S::antoniosmakris@ntua.gr::eea0bc52-0833-4d66-a611-1693fee57a2c" providerId="AD" clId="Web-{83C5C2CB-EDF4-FD02-9FEE-7647A9103CD0}" dt="2024-11-06T11:39:28.317" v="526" actId="20577"/>
          <ac:spMkLst>
            <pc:docMk/>
            <pc:sldMk cId="4058644610" sldId="263"/>
            <ac:spMk id="133" creationId="{00000000-0000-0000-0000-000000000000}"/>
          </ac:spMkLst>
        </pc:spChg>
      </pc:sldChg>
      <pc:sldChg chg="modSp add del replId">
        <pc:chgData name="Αντωνιος Μακρης" userId="S::antoniosmakris@ntua.gr::eea0bc52-0833-4d66-a611-1693fee57a2c" providerId="AD" clId="Web-{83C5C2CB-EDF4-FD02-9FEE-7647A9103CD0}" dt="2024-11-06T09:54:05.757" v="349"/>
        <pc:sldMkLst>
          <pc:docMk/>
          <pc:sldMk cId="3508367134" sldId="264"/>
        </pc:sldMkLst>
        <pc:spChg chg="mod">
          <ac:chgData name="Αντωνιος Μακρης" userId="S::antoniosmakris@ntua.gr::eea0bc52-0833-4d66-a611-1693fee57a2c" providerId="AD" clId="Web-{83C5C2CB-EDF4-FD02-9FEE-7647A9103CD0}" dt="2024-11-06T09:51:40.641" v="311" actId="20577"/>
          <ac:spMkLst>
            <pc:docMk/>
            <pc:sldMk cId="3508367134" sldId="264"/>
            <ac:spMk id="133" creationId="{00000000-0000-0000-0000-000000000000}"/>
          </ac:spMkLst>
        </pc:spChg>
      </pc:sldChg>
      <pc:sldChg chg="modSp add replId">
        <pc:chgData name="Αντωνιος Μακρης" userId="S::antoniosmakris@ntua.gr::eea0bc52-0833-4d66-a611-1693fee57a2c" providerId="AD" clId="Web-{83C5C2CB-EDF4-FD02-9FEE-7647A9103CD0}" dt="2024-11-06T09:55:54.324" v="363" actId="1076"/>
        <pc:sldMkLst>
          <pc:docMk/>
          <pc:sldMk cId="3888441397" sldId="265"/>
        </pc:sldMkLst>
        <pc:spChg chg="mod">
          <ac:chgData name="Αντωνιος Μακρης" userId="S::antoniosmakris@ntua.gr::eea0bc52-0833-4d66-a611-1693fee57a2c" providerId="AD" clId="Web-{83C5C2CB-EDF4-FD02-9FEE-7647A9103CD0}" dt="2024-11-06T09:55:54.324" v="363" actId="1076"/>
          <ac:spMkLst>
            <pc:docMk/>
            <pc:sldMk cId="3888441397" sldId="265"/>
            <ac:spMk id="2" creationId="{E26E3D37-0F76-03FD-9FCB-F213E5D105A3}"/>
          </ac:spMkLst>
        </pc:spChg>
        <pc:spChg chg="mod">
          <ac:chgData name="Αντωνιος Μακρης" userId="S::antoniosmakris@ntua.gr::eea0bc52-0833-4d66-a611-1693fee57a2c" providerId="AD" clId="Web-{83C5C2CB-EDF4-FD02-9FEE-7647A9103CD0}" dt="2024-11-06T09:53:24.661" v="332" actId="20577"/>
          <ac:spMkLst>
            <pc:docMk/>
            <pc:sldMk cId="3888441397" sldId="265"/>
            <ac:spMk id="132" creationId="{00000000-0000-0000-0000-000000000000}"/>
          </ac:spMkLst>
        </pc:spChg>
        <pc:spChg chg="mod">
          <ac:chgData name="Αντωνιος Μακρης" userId="S::antoniosmakris@ntua.gr::eea0bc52-0833-4d66-a611-1693fee57a2c" providerId="AD" clId="Web-{83C5C2CB-EDF4-FD02-9FEE-7647A9103CD0}" dt="2024-11-06T09:54:57.993" v="355" actId="20577"/>
          <ac:spMkLst>
            <pc:docMk/>
            <pc:sldMk cId="3888441397" sldId="265"/>
            <ac:spMk id="133" creationId="{00000000-0000-0000-0000-000000000000}"/>
          </ac:spMkLst>
        </pc:spChg>
      </pc:sldChg>
      <pc:sldChg chg="modSp add replId">
        <pc:chgData name="Αντωνιος Μακρης" userId="S::antoniosmakris@ntua.gr::eea0bc52-0833-4d66-a611-1693fee57a2c" providerId="AD" clId="Web-{83C5C2CB-EDF4-FD02-9FEE-7647A9103CD0}" dt="2024-11-06T09:53:49.397" v="342" actId="20577"/>
        <pc:sldMkLst>
          <pc:docMk/>
          <pc:sldMk cId="3447493505" sldId="266"/>
        </pc:sldMkLst>
        <pc:spChg chg="mod">
          <ac:chgData name="Αντωνιος Μακρης" userId="S::antoniosmakris@ntua.gr::eea0bc52-0833-4d66-a611-1693fee57a2c" providerId="AD" clId="Web-{83C5C2CB-EDF4-FD02-9FEE-7647A9103CD0}" dt="2024-11-06T09:53:41.084" v="336" actId="20577"/>
          <ac:spMkLst>
            <pc:docMk/>
            <pc:sldMk cId="3447493505" sldId="266"/>
            <ac:spMk id="132" creationId="{00000000-0000-0000-0000-000000000000}"/>
          </ac:spMkLst>
        </pc:spChg>
        <pc:spChg chg="mod">
          <ac:chgData name="Αντωνιος Μακρης" userId="S::antoniosmakris@ntua.gr::eea0bc52-0833-4d66-a611-1693fee57a2c" providerId="AD" clId="Web-{83C5C2CB-EDF4-FD02-9FEE-7647A9103CD0}" dt="2024-11-06T09:53:49.397" v="342" actId="20577"/>
          <ac:spMkLst>
            <pc:docMk/>
            <pc:sldMk cId="3447493505" sldId="266"/>
            <ac:spMk id="133" creationId="{00000000-0000-0000-0000-000000000000}"/>
          </ac:spMkLst>
        </pc:spChg>
      </pc:sldChg>
      <pc:sldChg chg="modSp add replId">
        <pc:chgData name="Αντωνιος Μακρης" userId="S::antoniosmakris@ntua.gr::eea0bc52-0833-4d66-a611-1693fee57a2c" providerId="AD" clId="Web-{83C5C2CB-EDF4-FD02-9FEE-7647A9103CD0}" dt="2024-11-06T09:56:58.155" v="367" actId="20577"/>
        <pc:sldMkLst>
          <pc:docMk/>
          <pc:sldMk cId="4058582469" sldId="267"/>
        </pc:sldMkLst>
        <pc:spChg chg="mod">
          <ac:chgData name="Αντωνιος Μακρης" userId="S::antoniosmakris@ntua.gr::eea0bc52-0833-4d66-a611-1693fee57a2c" providerId="AD" clId="Web-{83C5C2CB-EDF4-FD02-9FEE-7647A9103CD0}" dt="2024-11-06T09:56:58.155" v="367" actId="20577"/>
          <ac:spMkLst>
            <pc:docMk/>
            <pc:sldMk cId="4058582469" sldId="267"/>
            <ac:spMk id="2" creationId="{E26E3D37-0F76-03FD-9FCB-F213E5D105A3}"/>
          </ac:spMkLst>
        </pc:spChg>
        <pc:spChg chg="mod">
          <ac:chgData name="Αντωνιος Μακρης" userId="S::antoniosmakris@ntua.gr::eea0bc52-0833-4d66-a611-1693fee57a2c" providerId="AD" clId="Web-{83C5C2CB-EDF4-FD02-9FEE-7647A9103CD0}" dt="2024-11-06T09:54:49.009" v="353" actId="20577"/>
          <ac:spMkLst>
            <pc:docMk/>
            <pc:sldMk cId="4058582469" sldId="267"/>
            <ac:spMk id="132" creationId="{00000000-0000-0000-0000-000000000000}"/>
          </ac:spMkLst>
        </pc:spChg>
        <pc:spChg chg="mod">
          <ac:chgData name="Αντωνιος Μακρης" userId="S::antoniosmakris@ntua.gr::eea0bc52-0833-4d66-a611-1693fee57a2c" providerId="AD" clId="Web-{83C5C2CB-EDF4-FD02-9FEE-7647A9103CD0}" dt="2024-11-06T09:54:54.587" v="354" actId="20577"/>
          <ac:spMkLst>
            <pc:docMk/>
            <pc:sldMk cId="4058582469" sldId="267"/>
            <ac:spMk id="133" creationId="{00000000-0000-0000-0000-000000000000}"/>
          </ac:spMkLst>
        </pc:spChg>
      </pc:sldChg>
      <pc:sldChg chg="modSp add replId">
        <pc:chgData name="Αντωνιος Μακρης" userId="S::antoniosmakris@ntua.gr::eea0bc52-0833-4d66-a611-1693fee57a2c" providerId="AD" clId="Web-{83C5C2CB-EDF4-FD02-9FEE-7647A9103CD0}" dt="2024-11-06T10:03:29.280" v="370" actId="20577"/>
        <pc:sldMkLst>
          <pc:docMk/>
          <pc:sldMk cId="2375512919" sldId="268"/>
        </pc:sldMkLst>
        <pc:spChg chg="mod">
          <ac:chgData name="Αντωνιος Μακρης" userId="S::antoniosmakris@ntua.gr::eea0bc52-0833-4d66-a611-1693fee57a2c" providerId="AD" clId="Web-{83C5C2CB-EDF4-FD02-9FEE-7647A9103CD0}" dt="2024-11-06T10:03:29.280" v="370" actId="20577"/>
          <ac:spMkLst>
            <pc:docMk/>
            <pc:sldMk cId="2375512919" sldId="268"/>
            <ac:spMk id="13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bd5be33d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cbd5be33d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2688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bd5be33d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cbd5be33d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4068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bd5be33d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cbd5be33d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0879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bd5be33d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cbd5be33d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1744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bd5be33d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cbd5be33d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01436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bd5be33d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cbd5be33d5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3408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Διαφάνεια τίτλου"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Τίτλος και περιεχόμενο"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Κεφαλίδα ενότητας"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Δύο περιεχόμενα"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Σύγκριση"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Μόνο τίτλος"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Κενό"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Περιεχόμενο με λεζάντα"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Εικόνα με λεζάντα"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a:spLocks noGrp="1"/>
          </p:cNvSpPr>
          <p:nvPr>
            <p:ph type="pic" idx="2"/>
          </p:nvPr>
        </p:nvSpPr>
        <p:spPr>
          <a:xfrm>
            <a:off x="5183188" y="987425"/>
            <a:ext cx="6172200" cy="4873625"/>
          </a:xfrm>
          <a:prstGeom prst="rect">
            <a:avLst/>
          </a:prstGeom>
          <a:noFill/>
          <a:ln>
            <a:noFill/>
          </a:ln>
        </p:spPr>
      </p:sp>
      <p:sp>
        <p:nvSpPr>
          <p:cNvPr id="68" name="Google Shape;68;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Τίτλος και Κατακόρυφο κείμενο"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Κατακόρυφος τίτλος και Κείμενο"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806550" y="2251125"/>
            <a:ext cx="10578900" cy="1682700"/>
          </a:xfrm>
          <a:prstGeom prst="rect">
            <a:avLst/>
          </a:prstGeom>
          <a:noFill/>
          <a:ln>
            <a:noFill/>
          </a:ln>
        </p:spPr>
        <p:txBody>
          <a:bodyPr spcFirstLastPara="1" wrap="square" lIns="91425" tIns="45700" rIns="91425" bIns="45700" anchor="b" anchorCtr="0">
            <a:noAutofit/>
          </a:bodyPr>
          <a:lstStyle/>
          <a:p>
            <a:pPr marL="457200" lvl="0" indent="-228600" algn="ctr" rtl="0">
              <a:lnSpc>
                <a:spcPct val="115000"/>
              </a:lnSpc>
              <a:spcBef>
                <a:spcPts val="1200"/>
              </a:spcBef>
              <a:spcAft>
                <a:spcPts val="0"/>
              </a:spcAft>
              <a:buSzPts val="3100"/>
              <a:buFont typeface="Calibri"/>
              <a:buNone/>
            </a:pPr>
            <a:r>
              <a:rPr lang="en-US" sz="3100"/>
              <a:t>Project work planning and coordination for first deliverables</a:t>
            </a:r>
            <a:endParaRPr sz="3100"/>
          </a:p>
        </p:txBody>
      </p:sp>
      <p:sp>
        <p:nvSpPr>
          <p:cNvPr id="89" name="Google Shape;89;p1"/>
          <p:cNvSpPr txBox="1">
            <a:spLocks noGrp="1"/>
          </p:cNvSpPr>
          <p:nvPr>
            <p:ph type="subTitle" idx="1"/>
          </p:nvPr>
        </p:nvSpPr>
        <p:spPr>
          <a:xfrm>
            <a:off x="2539950" y="5033475"/>
            <a:ext cx="7112100" cy="909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1000"/>
              </a:spcBef>
              <a:spcAft>
                <a:spcPts val="0"/>
              </a:spcAft>
              <a:buClr>
                <a:schemeClr val="dk1"/>
              </a:buClr>
              <a:buSzPts val="2400"/>
              <a:buNone/>
            </a:pPr>
            <a:r>
              <a:rPr lang="en-US"/>
              <a:t>KoM, Athens, 12th &amp; 13th November</a:t>
            </a:r>
            <a:endParaRPr/>
          </a:p>
        </p:txBody>
      </p:sp>
      <p:pic>
        <p:nvPicPr>
          <p:cNvPr id="90" name="Google Shape;90;p1"/>
          <p:cNvPicPr preferRelativeResize="0"/>
          <p:nvPr/>
        </p:nvPicPr>
        <p:blipFill rotWithShape="1">
          <a:blip r:embed="rId3">
            <a:alphaModFix/>
          </a:blip>
          <a:srcRect/>
          <a:stretch/>
        </p:blipFill>
        <p:spPr>
          <a:xfrm>
            <a:off x="10566582" y="5735637"/>
            <a:ext cx="772930" cy="514350"/>
          </a:xfrm>
          <a:prstGeom prst="rect">
            <a:avLst/>
          </a:prstGeom>
          <a:noFill/>
          <a:ln>
            <a:noFill/>
          </a:ln>
        </p:spPr>
      </p:pic>
      <p:sp>
        <p:nvSpPr>
          <p:cNvPr id="91" name="Google Shape;91;p1"/>
          <p:cNvSpPr txBox="1"/>
          <p:nvPr/>
        </p:nvSpPr>
        <p:spPr>
          <a:xfrm>
            <a:off x="133350" y="180975"/>
            <a:ext cx="2406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CoEvolution LOGO</a:t>
            </a:r>
            <a:endParaRPr sz="1800" b="1" i="0" u="none" strike="noStrike" cap="none">
              <a:solidFill>
                <a:srgbClr val="000000"/>
              </a:solidFill>
              <a:latin typeface="Calibri"/>
              <a:ea typeface="Calibri"/>
              <a:cs typeface="Calibri"/>
              <a:sym typeface="Calibri"/>
            </a:endParaRPr>
          </a:p>
        </p:txBody>
      </p:sp>
      <p:sp>
        <p:nvSpPr>
          <p:cNvPr id="92" name="Google Shape;92;p1"/>
          <p:cNvSpPr txBox="1"/>
          <p:nvPr/>
        </p:nvSpPr>
        <p:spPr>
          <a:xfrm>
            <a:off x="9982200" y="6254175"/>
            <a:ext cx="2038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757070"/>
                </a:solidFill>
                <a:latin typeface="Calibri"/>
                <a:ea typeface="Calibri"/>
                <a:cs typeface="Calibri"/>
                <a:sym typeface="Calibri"/>
              </a:rPr>
              <a:t>The project has received funding from the Horizon Europe Framework Programme (HORIZON), under Grant Agreement no 101168560.</a:t>
            </a:r>
            <a:endParaRPr sz="800" b="0" i="0" u="none" strike="noStrike" cap="none">
              <a:solidFill>
                <a:srgbClr val="757070"/>
              </a:solidFill>
              <a:latin typeface="Calibri"/>
              <a:ea typeface="Calibri"/>
              <a:cs typeface="Calibri"/>
              <a:sym typeface="Calibri"/>
            </a:endParaRPr>
          </a:p>
        </p:txBody>
      </p:sp>
      <p:sp>
        <p:nvSpPr>
          <p:cNvPr id="93" name="Google Shape;93;p1"/>
          <p:cNvSpPr txBox="1"/>
          <p:nvPr/>
        </p:nvSpPr>
        <p:spPr>
          <a:xfrm>
            <a:off x="133350" y="1755776"/>
            <a:ext cx="6111000" cy="6444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2154A2"/>
              </a:buClr>
              <a:buSzPts val="3600"/>
              <a:buFont typeface="Arial"/>
              <a:buNone/>
            </a:pPr>
            <a:r>
              <a:rPr lang="en-US" sz="3600" b="0" i="0" u="none" strike="noStrike" cap="none">
                <a:solidFill>
                  <a:srgbClr val="2154A2"/>
                </a:solidFill>
                <a:latin typeface="Arial"/>
                <a:ea typeface="Arial"/>
                <a:cs typeface="Arial"/>
                <a:sym typeface="Arial"/>
              </a:rPr>
              <a:t>CoEvolution  KoM</a:t>
            </a:r>
            <a:endParaRPr sz="3600" b="0" i="0" u="none" strike="noStrike" cap="none">
              <a:solidFill>
                <a:srgbClr val="2154A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154A2"/>
              </a:buClr>
              <a:buSzPts val="3600"/>
              <a:buFont typeface="Arial"/>
              <a:buNone/>
            </a:pPr>
            <a:r>
              <a:rPr lang="en-US" sz="3600">
                <a:solidFill>
                  <a:srgbClr val="2154A2"/>
                </a:solidFill>
                <a:latin typeface="Arial"/>
                <a:ea typeface="Arial"/>
                <a:cs typeface="Arial"/>
                <a:sym typeface="Arial"/>
              </a:rPr>
              <a:t>Deliverables</a:t>
            </a:r>
            <a:endParaRPr sz="3600">
              <a:solidFill>
                <a:srgbClr val="2154A2"/>
              </a:solidFill>
              <a:latin typeface="Arial"/>
              <a:ea typeface="Arial"/>
              <a:cs typeface="Arial"/>
              <a:sym typeface="Arial"/>
            </a:endParaRPr>
          </a:p>
        </p:txBody>
      </p:sp>
      <p:sp>
        <p:nvSpPr>
          <p:cNvPr id="99" name="Google Shape;99;p2"/>
          <p:cNvSpPr/>
          <p:nvPr/>
        </p:nvSpPr>
        <p:spPr>
          <a:xfrm>
            <a:off x="1766975" y="1664300"/>
            <a:ext cx="8928000" cy="80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
          <p:cNvSpPr txBox="1"/>
          <p:nvPr/>
        </p:nvSpPr>
        <p:spPr>
          <a:xfrm>
            <a:off x="9448800" y="365125"/>
            <a:ext cx="2406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libri"/>
                <a:ea typeface="Calibri"/>
                <a:cs typeface="Calibri"/>
                <a:sym typeface="Calibri"/>
              </a:rPr>
              <a:t>CoEvolution LOGO</a:t>
            </a:r>
            <a:endParaRPr sz="1800" b="1" i="0" u="none" strike="noStrike" cap="none">
              <a:solidFill>
                <a:srgbClr val="000000"/>
              </a:solidFill>
              <a:latin typeface="Calibri"/>
              <a:ea typeface="Calibri"/>
              <a:cs typeface="Calibri"/>
              <a:sym typeface="Calibri"/>
            </a:endParaRPr>
          </a:p>
        </p:txBody>
      </p:sp>
      <p:graphicFrame>
        <p:nvGraphicFramePr>
          <p:cNvPr id="101" name="Google Shape;101;p2"/>
          <p:cNvGraphicFramePr/>
          <p:nvPr>
            <p:extLst>
              <p:ext uri="{D42A27DB-BD31-4B8C-83A1-F6EECF244321}">
                <p14:modId xmlns:p14="http://schemas.microsoft.com/office/powerpoint/2010/main" val="1720199343"/>
              </p:ext>
            </p:extLst>
          </p:nvPr>
        </p:nvGraphicFramePr>
        <p:xfrm>
          <a:off x="952488" y="2667000"/>
          <a:ext cx="10287025" cy="2255400"/>
        </p:xfrm>
        <a:graphic>
          <a:graphicData uri="http://schemas.openxmlformats.org/drawingml/2006/table">
            <a:tbl>
              <a:tblPr bandRow="1">
                <a:tableStyleId>{5FD0F851-EC5A-4D38-B0AD-8093EC10F338}</a:tableStyleId>
              </a:tblPr>
              <a:tblGrid>
                <a:gridCol w="1469575">
                  <a:extLst>
                    <a:ext uri="{9D8B030D-6E8A-4147-A177-3AD203B41FA5}">
                      <a16:colId xmlns:a16="http://schemas.microsoft.com/office/drawing/2014/main" val="20000"/>
                    </a:ext>
                  </a:extLst>
                </a:gridCol>
                <a:gridCol w="1469575">
                  <a:extLst>
                    <a:ext uri="{9D8B030D-6E8A-4147-A177-3AD203B41FA5}">
                      <a16:colId xmlns:a16="http://schemas.microsoft.com/office/drawing/2014/main" val="20001"/>
                    </a:ext>
                  </a:extLst>
                </a:gridCol>
                <a:gridCol w="1469575">
                  <a:extLst>
                    <a:ext uri="{9D8B030D-6E8A-4147-A177-3AD203B41FA5}">
                      <a16:colId xmlns:a16="http://schemas.microsoft.com/office/drawing/2014/main" val="20002"/>
                    </a:ext>
                  </a:extLst>
                </a:gridCol>
                <a:gridCol w="1469575">
                  <a:extLst>
                    <a:ext uri="{9D8B030D-6E8A-4147-A177-3AD203B41FA5}">
                      <a16:colId xmlns:a16="http://schemas.microsoft.com/office/drawing/2014/main" val="20003"/>
                    </a:ext>
                  </a:extLst>
                </a:gridCol>
                <a:gridCol w="1469575">
                  <a:extLst>
                    <a:ext uri="{9D8B030D-6E8A-4147-A177-3AD203B41FA5}">
                      <a16:colId xmlns:a16="http://schemas.microsoft.com/office/drawing/2014/main" val="20004"/>
                    </a:ext>
                  </a:extLst>
                </a:gridCol>
                <a:gridCol w="1469575">
                  <a:extLst>
                    <a:ext uri="{9D8B030D-6E8A-4147-A177-3AD203B41FA5}">
                      <a16:colId xmlns:a16="http://schemas.microsoft.com/office/drawing/2014/main" val="20005"/>
                    </a:ext>
                  </a:extLst>
                </a:gridCol>
                <a:gridCol w="1469575">
                  <a:extLst>
                    <a:ext uri="{9D8B030D-6E8A-4147-A177-3AD203B41FA5}">
                      <a16:colId xmlns:a16="http://schemas.microsoft.com/office/drawing/2014/main" val="20006"/>
                    </a:ext>
                  </a:extLst>
                </a:gridCol>
              </a:tblGrid>
              <a:tr h="381000">
                <a:tc>
                  <a:txBody>
                    <a:bodyPr/>
                    <a:lstStyle/>
                    <a:p>
                      <a:pPr marL="0" lvl="0" indent="0" algn="l" rtl="0">
                        <a:spcBef>
                          <a:spcPts val="0"/>
                        </a:spcBef>
                        <a:spcAft>
                          <a:spcPts val="0"/>
                        </a:spcAft>
                        <a:buClr>
                          <a:schemeClr val="dk1"/>
                        </a:buClr>
                        <a:buSzPts val="1100"/>
                        <a:buFont typeface="Arial"/>
                        <a:buNone/>
                      </a:pPr>
                      <a:r>
                        <a:rPr lang="en-US" dirty="0">
                          <a:solidFill>
                            <a:schemeClr val="bg1"/>
                          </a:solidFill>
                        </a:rPr>
                        <a:t>Deliverable</a:t>
                      </a:r>
                      <a:endParaRPr>
                        <a:solidFill>
                          <a:schemeClr val="bg1"/>
                        </a:solidFill>
                      </a:endParaRPr>
                    </a:p>
                    <a:p>
                      <a:pPr marL="0" lvl="0" indent="0" algn="l" rtl="0">
                        <a:spcBef>
                          <a:spcPts val="0"/>
                        </a:spcBef>
                        <a:spcAft>
                          <a:spcPts val="0"/>
                        </a:spcAft>
                        <a:buNone/>
                      </a:pPr>
                      <a:r>
                        <a:rPr lang="en-US" dirty="0">
                          <a:solidFill>
                            <a:schemeClr val="bg1"/>
                          </a:solidFill>
                        </a:rPr>
                        <a:t>No</a:t>
                      </a:r>
                      <a:endParaRPr>
                        <a:solidFill>
                          <a:schemeClr val="bg1"/>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US" dirty="0">
                          <a:solidFill>
                            <a:schemeClr val="bg1"/>
                          </a:solidFill>
                        </a:rPr>
                        <a:t>Deliverable Name</a:t>
                      </a:r>
                      <a:endParaRPr>
                        <a:solidFill>
                          <a:schemeClr val="bg1"/>
                        </a:solidFill>
                      </a:endParaRPr>
                    </a:p>
                  </a:txBody>
                  <a:tcPr marL="91425" marR="91425" marT="91425" marB="91425">
                    <a:solidFill>
                      <a:schemeClr val="accent1"/>
                    </a:solidFill>
                  </a:tcPr>
                </a:tc>
                <a:tc>
                  <a:txBody>
                    <a:bodyPr/>
                    <a:lstStyle/>
                    <a:p>
                      <a:pPr marL="0" lvl="0" indent="0" algn="l" rtl="0">
                        <a:spcBef>
                          <a:spcPts val="0"/>
                        </a:spcBef>
                        <a:spcAft>
                          <a:spcPts val="0"/>
                        </a:spcAft>
                        <a:buClr>
                          <a:schemeClr val="dk1"/>
                        </a:buClr>
                        <a:buSzPts val="1100"/>
                        <a:buFont typeface="Arial"/>
                        <a:buNone/>
                      </a:pPr>
                      <a:r>
                        <a:rPr lang="en-US" dirty="0">
                          <a:solidFill>
                            <a:schemeClr val="bg1"/>
                          </a:solidFill>
                        </a:rPr>
                        <a:t>Work Package</a:t>
                      </a:r>
                      <a:endParaRPr>
                        <a:solidFill>
                          <a:schemeClr val="bg1"/>
                        </a:solidFill>
                      </a:endParaRPr>
                    </a:p>
                    <a:p>
                      <a:pPr marL="0" lvl="0" indent="0" algn="l" rtl="0">
                        <a:spcBef>
                          <a:spcPts val="0"/>
                        </a:spcBef>
                        <a:spcAft>
                          <a:spcPts val="0"/>
                        </a:spcAft>
                        <a:buNone/>
                      </a:pPr>
                      <a:r>
                        <a:rPr lang="en-US" dirty="0">
                          <a:solidFill>
                            <a:schemeClr val="bg1"/>
                          </a:solidFill>
                        </a:rPr>
                        <a:t>No</a:t>
                      </a:r>
                      <a:endParaRPr>
                        <a:solidFill>
                          <a:schemeClr val="bg1"/>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US" dirty="0">
                          <a:solidFill>
                            <a:schemeClr val="bg1"/>
                          </a:solidFill>
                        </a:rPr>
                        <a:t>Lead Beneficiary</a:t>
                      </a:r>
                      <a:endParaRPr>
                        <a:solidFill>
                          <a:schemeClr val="bg1"/>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US" dirty="0">
                          <a:solidFill>
                            <a:schemeClr val="bg1"/>
                          </a:solidFill>
                        </a:rPr>
                        <a:t>Type</a:t>
                      </a:r>
                      <a:endParaRPr>
                        <a:solidFill>
                          <a:schemeClr val="bg1"/>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US" dirty="0">
                          <a:solidFill>
                            <a:schemeClr val="bg1"/>
                          </a:solidFill>
                        </a:rPr>
                        <a:t>Dissemination Level</a:t>
                      </a:r>
                      <a:endParaRPr>
                        <a:solidFill>
                          <a:schemeClr val="bg1"/>
                        </a:solidFill>
                      </a:endParaRPr>
                    </a:p>
                  </a:txBody>
                  <a:tcPr marL="91425" marR="91425" marT="91425" marB="91425">
                    <a:solidFill>
                      <a:schemeClr val="accent1"/>
                    </a:solidFill>
                  </a:tcPr>
                </a:tc>
                <a:tc>
                  <a:txBody>
                    <a:bodyPr/>
                    <a:lstStyle/>
                    <a:p>
                      <a:pPr marL="0" lvl="0" indent="0" algn="l" rtl="0">
                        <a:spcBef>
                          <a:spcPts val="0"/>
                        </a:spcBef>
                        <a:spcAft>
                          <a:spcPts val="0"/>
                        </a:spcAft>
                        <a:buClr>
                          <a:schemeClr val="dk1"/>
                        </a:buClr>
                        <a:buSzPts val="1100"/>
                        <a:buFont typeface="Arial"/>
                        <a:buNone/>
                      </a:pPr>
                      <a:r>
                        <a:rPr lang="en-US" dirty="0">
                          <a:solidFill>
                            <a:schemeClr val="bg1"/>
                          </a:solidFill>
                        </a:rPr>
                        <a:t>Due Date</a:t>
                      </a:r>
                      <a:endParaRPr>
                        <a:solidFill>
                          <a:schemeClr val="bg1"/>
                        </a:solidFill>
                      </a:endParaRPr>
                    </a:p>
                    <a:p>
                      <a:pPr marL="0" lvl="0" indent="0" algn="l" rtl="0">
                        <a:spcBef>
                          <a:spcPts val="0"/>
                        </a:spcBef>
                        <a:spcAft>
                          <a:spcPts val="0"/>
                        </a:spcAft>
                        <a:buNone/>
                      </a:pPr>
                      <a:r>
                        <a:rPr lang="en-US" dirty="0">
                          <a:solidFill>
                            <a:schemeClr val="bg1"/>
                          </a:solidFill>
                        </a:rPr>
                        <a:t>(month)</a:t>
                      </a:r>
                      <a:endParaRPr>
                        <a:solidFill>
                          <a:schemeClr val="bg1"/>
                        </a:solidFill>
                      </a:endParaRPr>
                    </a:p>
                  </a:txBody>
                  <a:tcPr marL="91425" marR="91425" marT="91425" marB="91425">
                    <a:solidFill>
                      <a:schemeClr val="accen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200" dirty="0"/>
                        <a:t>D1.1</a:t>
                      </a:r>
                      <a:endParaRPr sz="1200" dirty="0"/>
                    </a:p>
                  </a:txBody>
                  <a:tcPr marL="91425" marR="91425" marT="91425" marB="91425"/>
                </a:tc>
                <a:tc>
                  <a:txBody>
                    <a:bodyPr/>
                    <a:lstStyle/>
                    <a:p>
                      <a:pPr marL="0" lvl="0" indent="0" algn="l" rtl="0">
                        <a:spcBef>
                          <a:spcPts val="0"/>
                        </a:spcBef>
                        <a:spcAft>
                          <a:spcPts val="0"/>
                        </a:spcAft>
                        <a:buNone/>
                      </a:pPr>
                      <a:r>
                        <a:rPr lang="en-US" sz="1200" dirty="0"/>
                        <a:t>Project Manual</a:t>
                      </a:r>
                      <a:endParaRPr sz="1200" dirty="0"/>
                    </a:p>
                  </a:txBody>
                  <a:tcPr marL="91425" marR="91425" marT="91425" marB="91425"/>
                </a:tc>
                <a:tc>
                  <a:txBody>
                    <a:bodyPr/>
                    <a:lstStyle/>
                    <a:p>
                      <a:pPr marL="0" lvl="0" indent="0" algn="l" rtl="0">
                        <a:spcBef>
                          <a:spcPts val="0"/>
                        </a:spcBef>
                        <a:spcAft>
                          <a:spcPts val="0"/>
                        </a:spcAft>
                        <a:buNone/>
                      </a:pPr>
                      <a:r>
                        <a:rPr lang="en-US" sz="1200" dirty="0"/>
                        <a:t>WP1</a:t>
                      </a:r>
                      <a:endParaRPr sz="1200" dirty="0"/>
                    </a:p>
                  </a:txBody>
                  <a:tcPr marL="91425" marR="91425" marT="91425" marB="91425"/>
                </a:tc>
                <a:tc>
                  <a:txBody>
                    <a:bodyPr/>
                    <a:lstStyle/>
                    <a:p>
                      <a:pPr marL="0" lvl="0" indent="0" algn="l" rtl="0">
                        <a:spcBef>
                          <a:spcPts val="0"/>
                        </a:spcBef>
                        <a:spcAft>
                          <a:spcPts val="0"/>
                        </a:spcAft>
                        <a:buNone/>
                      </a:pPr>
                      <a:r>
                        <a:rPr lang="en-US" sz="1200" dirty="0"/>
                        <a:t>1 - ICCS</a:t>
                      </a:r>
                      <a:endParaRPr sz="1200" dirty="0"/>
                    </a:p>
                  </a:txBody>
                  <a:tcPr marL="91425" marR="91425" marT="91425" marB="91425"/>
                </a:tc>
                <a:tc>
                  <a:txBody>
                    <a:bodyPr/>
                    <a:lstStyle/>
                    <a:p>
                      <a:pPr marL="0" lvl="0" indent="0" algn="l" rtl="0">
                        <a:spcBef>
                          <a:spcPts val="0"/>
                        </a:spcBef>
                        <a:spcAft>
                          <a:spcPts val="0"/>
                        </a:spcAft>
                        <a:buNone/>
                      </a:pPr>
                      <a:r>
                        <a:rPr lang="en-US" sz="1200" dirty="0"/>
                        <a:t>R — Document, report</a:t>
                      </a:r>
                      <a:endParaRPr sz="1200" dirty="0"/>
                    </a:p>
                  </a:txBody>
                  <a:tcPr marL="91425" marR="91425" marT="91425" marB="91425"/>
                </a:tc>
                <a:tc>
                  <a:txBody>
                    <a:bodyPr/>
                    <a:lstStyle/>
                    <a:p>
                      <a:pPr marL="0" lvl="0" indent="0" algn="l" rtl="0">
                        <a:spcBef>
                          <a:spcPts val="0"/>
                        </a:spcBef>
                        <a:spcAft>
                          <a:spcPts val="0"/>
                        </a:spcAft>
                        <a:buNone/>
                      </a:pPr>
                      <a:r>
                        <a:rPr lang="en-US" sz="1200" dirty="0"/>
                        <a:t>PU - Public</a:t>
                      </a:r>
                      <a:endParaRPr sz="1200" dirty="0"/>
                    </a:p>
                  </a:txBody>
                  <a:tcPr marL="91425" marR="91425" marT="91425" marB="91425"/>
                </a:tc>
                <a:tc>
                  <a:txBody>
                    <a:bodyPr/>
                    <a:lstStyle/>
                    <a:p>
                      <a:pPr marL="0" lvl="0" indent="0" algn="l" rtl="0">
                        <a:spcBef>
                          <a:spcPts val="0"/>
                        </a:spcBef>
                        <a:spcAft>
                          <a:spcPts val="0"/>
                        </a:spcAft>
                        <a:buNone/>
                      </a:pPr>
                      <a:r>
                        <a:rPr lang="en-US" sz="1200" dirty="0"/>
                        <a:t>3</a:t>
                      </a:r>
                      <a:endParaRPr sz="1200"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1200" dirty="0"/>
                        <a:t>D1.2</a:t>
                      </a:r>
                      <a:endParaRPr sz="1200" dirty="0"/>
                    </a:p>
                  </a:txBody>
                  <a:tcPr marL="91425" marR="91425" marT="91425" marB="91425"/>
                </a:tc>
                <a:tc>
                  <a:txBody>
                    <a:bodyPr/>
                    <a:lstStyle/>
                    <a:p>
                      <a:pPr marL="0" lvl="0" indent="0" algn="l" rtl="0">
                        <a:spcBef>
                          <a:spcPts val="0"/>
                        </a:spcBef>
                        <a:spcAft>
                          <a:spcPts val="0"/>
                        </a:spcAft>
                        <a:buNone/>
                      </a:pPr>
                      <a:r>
                        <a:rPr lang="en-US" sz="1200" dirty="0"/>
                        <a:t>Data Management Plan</a:t>
                      </a:r>
                      <a:endParaRPr sz="1200" dirty="0"/>
                    </a:p>
                  </a:txBody>
                  <a:tcPr marL="91425" marR="91425" marT="91425" marB="91425"/>
                </a:tc>
                <a:tc>
                  <a:txBody>
                    <a:bodyPr/>
                    <a:lstStyle/>
                    <a:p>
                      <a:pPr marL="0" lvl="0" indent="0" algn="l" rtl="0">
                        <a:spcBef>
                          <a:spcPts val="0"/>
                        </a:spcBef>
                        <a:spcAft>
                          <a:spcPts val="0"/>
                        </a:spcAft>
                        <a:buNone/>
                      </a:pPr>
                      <a:r>
                        <a:rPr lang="en-US" sz="1200" dirty="0"/>
                        <a:t>WP1</a:t>
                      </a:r>
                      <a:endParaRPr sz="1200" dirty="0"/>
                    </a:p>
                  </a:txBody>
                  <a:tcPr marL="91425" marR="91425" marT="91425" marB="91425"/>
                </a:tc>
                <a:tc>
                  <a:txBody>
                    <a:bodyPr/>
                    <a:lstStyle/>
                    <a:p>
                      <a:pPr marL="0" lvl="0" indent="0" algn="l" rtl="0">
                        <a:spcBef>
                          <a:spcPts val="0"/>
                        </a:spcBef>
                        <a:spcAft>
                          <a:spcPts val="0"/>
                        </a:spcAft>
                        <a:buNone/>
                      </a:pPr>
                      <a:r>
                        <a:rPr lang="en-US" sz="1200" dirty="0"/>
                        <a:t>6 - AEGIS</a:t>
                      </a:r>
                      <a:endParaRPr sz="1200" dirty="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200" dirty="0"/>
                        <a:t>DMP — Data</a:t>
                      </a:r>
                      <a:endParaRPr sz="1200" dirty="0"/>
                    </a:p>
                    <a:p>
                      <a:pPr marL="0" lvl="0" indent="0" algn="l" rtl="0">
                        <a:spcBef>
                          <a:spcPts val="0"/>
                        </a:spcBef>
                        <a:spcAft>
                          <a:spcPts val="0"/>
                        </a:spcAft>
                        <a:buNone/>
                      </a:pPr>
                      <a:r>
                        <a:rPr lang="en-US" sz="1200" dirty="0"/>
                        <a:t>Management Plan</a:t>
                      </a:r>
                      <a:endParaRPr sz="1200" dirty="0"/>
                    </a:p>
                  </a:txBody>
                  <a:tcPr marL="91425" marR="91425" marT="91425" marB="91425"/>
                </a:tc>
                <a:tc>
                  <a:txBody>
                    <a:bodyPr/>
                    <a:lstStyle/>
                    <a:p>
                      <a:pPr marL="0" lvl="0" indent="0" algn="l" rtl="0">
                        <a:spcBef>
                          <a:spcPts val="0"/>
                        </a:spcBef>
                        <a:spcAft>
                          <a:spcPts val="0"/>
                        </a:spcAft>
                        <a:buNone/>
                      </a:pPr>
                      <a:r>
                        <a:rPr lang="en-US" sz="1200" dirty="0"/>
                        <a:t>SEN - Sensitive</a:t>
                      </a:r>
                      <a:endParaRPr sz="1200" dirty="0"/>
                    </a:p>
                  </a:txBody>
                  <a:tcPr marL="91425" marR="91425" marT="91425" marB="91425"/>
                </a:tc>
                <a:tc>
                  <a:txBody>
                    <a:bodyPr/>
                    <a:lstStyle/>
                    <a:p>
                      <a:pPr marL="0" lvl="0" indent="0" algn="l" rtl="0">
                        <a:spcBef>
                          <a:spcPts val="0"/>
                        </a:spcBef>
                        <a:spcAft>
                          <a:spcPts val="0"/>
                        </a:spcAft>
                        <a:buNone/>
                      </a:pPr>
                      <a:r>
                        <a:rPr lang="en-US" sz="1200" dirty="0"/>
                        <a:t>6</a:t>
                      </a:r>
                      <a:endParaRPr sz="1200" dirty="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1200" dirty="0"/>
                        <a:t>D2.1</a:t>
                      </a:r>
                      <a:endParaRPr sz="1200" dirty="0"/>
                    </a:p>
                  </a:txBody>
                  <a:tcPr marL="91425" marR="91425" marT="91425" marB="91425"/>
                </a:tc>
                <a:tc>
                  <a:txBody>
                    <a:bodyPr/>
                    <a:lstStyle/>
                    <a:p>
                      <a:pPr marL="0" lvl="0" indent="0" algn="l" rtl="0">
                        <a:spcBef>
                          <a:spcPts val="0"/>
                        </a:spcBef>
                        <a:spcAft>
                          <a:spcPts val="0"/>
                        </a:spcAft>
                        <a:buNone/>
                      </a:pPr>
                      <a:r>
                        <a:rPr lang="en-US" sz="1200" dirty="0"/>
                        <a:t>Plan for impact delivery</a:t>
                      </a:r>
                      <a:endParaRPr sz="1200" dirty="0"/>
                    </a:p>
                  </a:txBody>
                  <a:tcPr marL="91425" marR="91425" marT="91425" marB="91425"/>
                </a:tc>
                <a:tc>
                  <a:txBody>
                    <a:bodyPr/>
                    <a:lstStyle/>
                    <a:p>
                      <a:pPr marL="0" lvl="0" indent="0" algn="l" rtl="0">
                        <a:spcBef>
                          <a:spcPts val="0"/>
                        </a:spcBef>
                        <a:spcAft>
                          <a:spcPts val="0"/>
                        </a:spcAft>
                        <a:buNone/>
                      </a:pPr>
                      <a:r>
                        <a:rPr lang="en-US" sz="1200" dirty="0"/>
                        <a:t>WP2</a:t>
                      </a:r>
                      <a:endParaRPr sz="1200" dirty="0"/>
                    </a:p>
                  </a:txBody>
                  <a:tcPr marL="91425" marR="91425" marT="91425" marB="91425"/>
                </a:tc>
                <a:tc>
                  <a:txBody>
                    <a:bodyPr/>
                    <a:lstStyle/>
                    <a:p>
                      <a:pPr marL="0" lvl="0" indent="0" algn="l" rtl="0">
                        <a:spcBef>
                          <a:spcPts val="0"/>
                        </a:spcBef>
                        <a:spcAft>
                          <a:spcPts val="0"/>
                        </a:spcAft>
                        <a:buNone/>
                      </a:pPr>
                      <a:r>
                        <a:rPr lang="en-US" sz="1200" dirty="0"/>
                        <a:t>6 - AEGIS</a:t>
                      </a:r>
                      <a:endParaRPr sz="1200" dirty="0"/>
                    </a:p>
                  </a:txBody>
                  <a:tcPr marL="91425" marR="91425" marT="91425" marB="91425"/>
                </a:tc>
                <a:tc>
                  <a:txBody>
                    <a:bodyPr/>
                    <a:lstStyle/>
                    <a:p>
                      <a:pPr marL="0" lvl="0" indent="0" algn="l" rtl="0">
                        <a:spcBef>
                          <a:spcPts val="0"/>
                        </a:spcBef>
                        <a:spcAft>
                          <a:spcPts val="0"/>
                        </a:spcAft>
                        <a:buNone/>
                      </a:pPr>
                      <a:r>
                        <a:rPr lang="en-US" sz="1200" dirty="0"/>
                        <a:t>R — Document, report</a:t>
                      </a:r>
                      <a:endParaRPr sz="1200" dirty="0"/>
                    </a:p>
                  </a:txBody>
                  <a:tcPr marL="91425" marR="91425" marT="91425" marB="91425"/>
                </a:tc>
                <a:tc>
                  <a:txBody>
                    <a:bodyPr/>
                    <a:lstStyle/>
                    <a:p>
                      <a:pPr marL="0" lvl="0" indent="0" algn="l" rtl="0">
                        <a:spcBef>
                          <a:spcPts val="0"/>
                        </a:spcBef>
                        <a:spcAft>
                          <a:spcPts val="0"/>
                        </a:spcAft>
                        <a:buNone/>
                      </a:pPr>
                      <a:r>
                        <a:rPr lang="en-US" sz="1200" dirty="0"/>
                        <a:t>SEN - Sensitive</a:t>
                      </a:r>
                      <a:endParaRPr sz="1200" dirty="0"/>
                    </a:p>
                  </a:txBody>
                  <a:tcPr marL="91425" marR="91425" marT="91425" marB="91425"/>
                </a:tc>
                <a:tc>
                  <a:txBody>
                    <a:bodyPr/>
                    <a:lstStyle/>
                    <a:p>
                      <a:pPr marL="0" lvl="0" indent="0" algn="l" rtl="0">
                        <a:spcBef>
                          <a:spcPts val="0"/>
                        </a:spcBef>
                        <a:spcAft>
                          <a:spcPts val="0"/>
                        </a:spcAft>
                        <a:buNone/>
                      </a:pPr>
                      <a:r>
                        <a:rPr lang="en-US" sz="1200" dirty="0"/>
                        <a:t>6</a:t>
                      </a:r>
                      <a:endParaRPr sz="1200"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g2cbd5be33d5_0_4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8" name="Google Shape;128;g2cbd5be33d5_0_44"/>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2cbd5be33d5_0_44"/>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3725"/>
                </a:srgbClr>
              </a:gs>
            </a:gsLst>
            <a:lin ang="1380014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g2cbd5be33d5_0_44"/>
          <p:cNvSpPr/>
          <p:nvPr/>
        </p:nvSpPr>
        <p:spPr>
          <a:xfrm flipH="1">
            <a:off x="8115297" y="-1"/>
            <a:ext cx="4076700" cy="1590600"/>
          </a:xfrm>
          <a:prstGeom prst="rect">
            <a:avLst/>
          </a:prstGeom>
          <a:gradFill>
            <a:gsLst>
              <a:gs pos="0">
                <a:srgbClr val="4472C4">
                  <a:alpha val="64705"/>
                </a:srgbClr>
              </a:gs>
              <a:gs pos="100000">
                <a:srgbClr val="000000">
                  <a:alpha val="28627"/>
                </a:srgbClr>
              </a:gs>
            </a:gsLst>
            <a:lin ang="1319991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g2cbd5be33d5_0_44"/>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0588"/>
                </a:srgbClr>
              </a:gs>
              <a:gs pos="100000">
                <a:srgbClr val="1F3864">
                  <a:alpha val="50588"/>
                </a:srgbClr>
              </a:gs>
            </a:gsLst>
            <a:lin ang="167999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 name="Google Shape;132;g2cbd5be33d5_0_44"/>
          <p:cNvSpPr txBox="1">
            <a:spLocks noGrp="1"/>
          </p:cNvSpPr>
          <p:nvPr>
            <p:ph type="title"/>
          </p:nvPr>
        </p:nvSpPr>
        <p:spPr>
          <a:xfrm>
            <a:off x="1371599" y="294538"/>
            <a:ext cx="9896100" cy="1033800"/>
          </a:xfrm>
          <a:prstGeom prst="rect">
            <a:avLst/>
          </a:prstGeom>
          <a:noFill/>
          <a:ln>
            <a:noFill/>
          </a:ln>
        </p:spPr>
        <p:txBody>
          <a:bodyPr spcFirstLastPara="1" wrap="square" lIns="91425" tIns="45700" rIns="91425" bIns="45700" anchor="ctr" anchorCtr="0">
            <a:normAutofit/>
          </a:bodyPr>
          <a:lstStyle/>
          <a:p>
            <a:r>
              <a:rPr lang="en-US" sz="4000" dirty="0">
                <a:solidFill>
                  <a:srgbClr val="FFFFFF"/>
                </a:solidFill>
              </a:rPr>
              <a:t>D1.1 Project Manual </a:t>
            </a:r>
            <a:endParaRPr lang="el-GR" dirty="0"/>
          </a:p>
        </p:txBody>
      </p:sp>
      <p:sp>
        <p:nvSpPr>
          <p:cNvPr id="133" name="Google Shape;133;g2cbd5be33d5_0_44"/>
          <p:cNvSpPr txBox="1">
            <a:spLocks noGrp="1"/>
          </p:cNvSpPr>
          <p:nvPr>
            <p:ph type="body" idx="1"/>
          </p:nvPr>
        </p:nvSpPr>
        <p:spPr>
          <a:xfrm>
            <a:off x="994275" y="1825625"/>
            <a:ext cx="10134000" cy="4843465"/>
          </a:xfrm>
          <a:prstGeom prst="rect">
            <a:avLst/>
          </a:prstGeom>
          <a:noFill/>
          <a:ln>
            <a:noFill/>
          </a:ln>
        </p:spPr>
        <p:txBody>
          <a:bodyPr spcFirstLastPara="1" wrap="square" lIns="91425" tIns="45700" rIns="91425" bIns="45700" anchor="t" anchorCtr="0">
            <a:noAutofit/>
          </a:bodyPr>
          <a:lstStyle/>
          <a:p>
            <a:pPr marL="76200" indent="0">
              <a:lnSpc>
                <a:spcPct val="125454"/>
              </a:lnSpc>
              <a:buNone/>
            </a:pPr>
            <a:endParaRPr lang="en-US" sz="2400" dirty="0"/>
          </a:p>
          <a:p>
            <a:pPr marL="76200" indent="0">
              <a:lnSpc>
                <a:spcPct val="125454"/>
              </a:lnSpc>
              <a:buNone/>
            </a:pPr>
            <a:endParaRPr lang="en-US" sz="2400" dirty="0"/>
          </a:p>
          <a:p>
            <a:pPr marL="76200" indent="0">
              <a:lnSpc>
                <a:spcPct val="125454"/>
              </a:lnSpc>
              <a:buNone/>
            </a:pPr>
            <a:r>
              <a:rPr lang="en-US" sz="2400" dirty="0"/>
              <a:t>General structure:</a:t>
            </a:r>
            <a:endParaRPr lang="en-US" dirty="0"/>
          </a:p>
          <a:p>
            <a:pPr marL="533400" indent="-457200">
              <a:lnSpc>
                <a:spcPct val="125454"/>
              </a:lnSpc>
              <a:buAutoNum type="arabicPeriod"/>
            </a:pPr>
            <a:r>
              <a:rPr lang="en-US" sz="2000" dirty="0"/>
              <a:t>Project management structure</a:t>
            </a:r>
          </a:p>
          <a:p>
            <a:pPr marL="533400" indent="-457200">
              <a:lnSpc>
                <a:spcPct val="125454"/>
              </a:lnSpc>
              <a:buAutoNum type="arabicPeriod"/>
            </a:pPr>
            <a:r>
              <a:rPr lang="en-US" sz="2000" dirty="0"/>
              <a:t>Project tools, document formats and file naming</a:t>
            </a:r>
          </a:p>
          <a:p>
            <a:pPr marL="533400" indent="-457200">
              <a:lnSpc>
                <a:spcPct val="125454"/>
              </a:lnSpc>
              <a:buAutoNum type="arabicPeriod"/>
            </a:pPr>
            <a:r>
              <a:rPr lang="en-US" sz="2000" dirty="0"/>
              <a:t>Project deliverables and milestones </a:t>
            </a:r>
          </a:p>
          <a:p>
            <a:pPr marL="533400" indent="-457200">
              <a:lnSpc>
                <a:spcPct val="125454"/>
              </a:lnSpc>
              <a:buAutoNum type="arabicPeriod"/>
            </a:pPr>
            <a:r>
              <a:rPr lang="en-US" sz="2000" dirty="0"/>
              <a:t>Quality assurance plans</a:t>
            </a:r>
          </a:p>
          <a:p>
            <a:pPr marL="533400" indent="-457200">
              <a:lnSpc>
                <a:spcPct val="125454"/>
              </a:lnSpc>
              <a:buAutoNum type="arabicPeriod"/>
            </a:pPr>
            <a:r>
              <a:rPr lang="en-US" sz="2000" dirty="0"/>
              <a:t>Administrative project reporting</a:t>
            </a:r>
          </a:p>
          <a:p>
            <a:pPr marL="533400" indent="-457200">
              <a:lnSpc>
                <a:spcPct val="125454"/>
              </a:lnSpc>
              <a:buAutoNum type="arabicPeriod"/>
            </a:pPr>
            <a:r>
              <a:rPr lang="en-US" sz="2000" dirty="0"/>
              <a:t>Processes related to dissemination and communication activities</a:t>
            </a:r>
          </a:p>
          <a:p>
            <a:pPr marL="533400" indent="-457200">
              <a:lnSpc>
                <a:spcPct val="125454"/>
              </a:lnSpc>
              <a:buAutoNum type="arabicPeriod"/>
            </a:pPr>
            <a:endParaRPr lang="en-US" sz="2400" dirty="0"/>
          </a:p>
        </p:txBody>
      </p:sp>
      <p:sp>
        <p:nvSpPr>
          <p:cNvPr id="2" name="Ορθογώνιο: Στρογγύλεμα γωνιών 1">
            <a:extLst>
              <a:ext uri="{FF2B5EF4-FFF2-40B4-BE49-F238E27FC236}">
                <a16:creationId xmlns:a16="http://schemas.microsoft.com/office/drawing/2014/main" id="{E26E3D37-0F76-03FD-9FCB-F213E5D105A3}"/>
              </a:ext>
            </a:extLst>
          </p:cNvPr>
          <p:cNvSpPr/>
          <p:nvPr/>
        </p:nvSpPr>
        <p:spPr>
          <a:xfrm>
            <a:off x="1896934" y="1715128"/>
            <a:ext cx="8401172" cy="8433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libri"/>
                <a:cs typeface="Calibri"/>
              </a:rPr>
              <a:t>Project processes for day-to-day operations and quality management (M03 - January 2025) – ICCS</a:t>
            </a:r>
            <a:endParaRPr lang="el-GR" sz="2400">
              <a:solidFill>
                <a:schemeClr val="bg1"/>
              </a:solidFill>
              <a:cs typeface="Arial"/>
            </a:endParaRPr>
          </a:p>
        </p:txBody>
      </p:sp>
    </p:spTree>
    <p:extLst>
      <p:ext uri="{BB962C8B-B14F-4D97-AF65-F5344CB8AC3E}">
        <p14:creationId xmlns:p14="http://schemas.microsoft.com/office/powerpoint/2010/main" val="3817426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g2cbd5be33d5_0_4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8" name="Google Shape;128;g2cbd5be33d5_0_44"/>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2cbd5be33d5_0_44"/>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3725"/>
                </a:srgbClr>
              </a:gs>
            </a:gsLst>
            <a:lin ang="1380014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g2cbd5be33d5_0_44"/>
          <p:cNvSpPr/>
          <p:nvPr/>
        </p:nvSpPr>
        <p:spPr>
          <a:xfrm flipH="1">
            <a:off x="8115297" y="-1"/>
            <a:ext cx="4076700" cy="1590600"/>
          </a:xfrm>
          <a:prstGeom prst="rect">
            <a:avLst/>
          </a:prstGeom>
          <a:gradFill>
            <a:gsLst>
              <a:gs pos="0">
                <a:srgbClr val="4472C4">
                  <a:alpha val="64705"/>
                </a:srgbClr>
              </a:gs>
              <a:gs pos="100000">
                <a:srgbClr val="000000">
                  <a:alpha val="28627"/>
                </a:srgbClr>
              </a:gs>
            </a:gsLst>
            <a:lin ang="1319991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g2cbd5be33d5_0_44"/>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0588"/>
                </a:srgbClr>
              </a:gs>
              <a:gs pos="100000">
                <a:srgbClr val="1F3864">
                  <a:alpha val="50588"/>
                </a:srgbClr>
              </a:gs>
            </a:gsLst>
            <a:lin ang="167999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 name="Google Shape;132;g2cbd5be33d5_0_44"/>
          <p:cNvSpPr txBox="1">
            <a:spLocks noGrp="1"/>
          </p:cNvSpPr>
          <p:nvPr>
            <p:ph type="title"/>
          </p:nvPr>
        </p:nvSpPr>
        <p:spPr>
          <a:xfrm>
            <a:off x="1371599" y="294538"/>
            <a:ext cx="9896100" cy="1033800"/>
          </a:xfrm>
          <a:prstGeom prst="rect">
            <a:avLst/>
          </a:prstGeom>
          <a:noFill/>
          <a:ln>
            <a:noFill/>
          </a:ln>
        </p:spPr>
        <p:txBody>
          <a:bodyPr spcFirstLastPara="1" wrap="square" lIns="91425" tIns="45700" rIns="91425" bIns="45700" anchor="ctr" anchorCtr="0">
            <a:normAutofit/>
          </a:bodyPr>
          <a:lstStyle/>
          <a:p>
            <a:r>
              <a:rPr lang="en-US" sz="4000" dirty="0">
                <a:solidFill>
                  <a:srgbClr val="FFFFFF"/>
                </a:solidFill>
              </a:rPr>
              <a:t>D1.1 Project Manual </a:t>
            </a:r>
            <a:endParaRPr lang="el-GR" dirty="0"/>
          </a:p>
        </p:txBody>
      </p:sp>
      <p:sp>
        <p:nvSpPr>
          <p:cNvPr id="133" name="Google Shape;133;g2cbd5be33d5_0_44"/>
          <p:cNvSpPr txBox="1">
            <a:spLocks noGrp="1"/>
          </p:cNvSpPr>
          <p:nvPr>
            <p:ph type="body" idx="1"/>
          </p:nvPr>
        </p:nvSpPr>
        <p:spPr>
          <a:xfrm>
            <a:off x="994275" y="1825625"/>
            <a:ext cx="10134000" cy="4843465"/>
          </a:xfrm>
          <a:prstGeom prst="rect">
            <a:avLst/>
          </a:prstGeom>
          <a:noFill/>
          <a:ln>
            <a:noFill/>
          </a:ln>
        </p:spPr>
        <p:txBody>
          <a:bodyPr spcFirstLastPara="1" wrap="square" lIns="91425" tIns="45700" rIns="91425" bIns="45700" anchor="t" anchorCtr="0">
            <a:noAutofit/>
          </a:bodyPr>
          <a:lstStyle/>
          <a:p>
            <a:pPr marL="76200" indent="0">
              <a:lnSpc>
                <a:spcPct val="125454"/>
              </a:lnSpc>
              <a:buNone/>
            </a:pPr>
            <a:r>
              <a:rPr lang="en-US" sz="2400" dirty="0"/>
              <a:t>In general, it will define various procedures, including meeting schedules, publication-related aspects, mailing lists, deliverables, the quality assurance plan, dissemination and communication related activities, etc. </a:t>
            </a:r>
            <a:endParaRPr lang="el-GR" dirty="0"/>
          </a:p>
          <a:p>
            <a:pPr marL="76200" indent="0">
              <a:lnSpc>
                <a:spcPct val="125454"/>
              </a:lnSpc>
              <a:buNone/>
            </a:pPr>
            <a:endParaRPr lang="en-US" sz="2400" dirty="0"/>
          </a:p>
          <a:p>
            <a:pPr marL="76200" indent="0">
              <a:lnSpc>
                <a:spcPct val="125454"/>
              </a:lnSpc>
              <a:buNone/>
            </a:pPr>
            <a:endParaRPr lang="en-US" sz="2400" dirty="0"/>
          </a:p>
          <a:p>
            <a:pPr marL="533400" indent="-457200">
              <a:lnSpc>
                <a:spcPct val="125454"/>
              </a:lnSpc>
              <a:buAutoNum type="arabicPeriod"/>
            </a:pPr>
            <a:endParaRPr lang="en-US" sz="2400" dirty="0"/>
          </a:p>
        </p:txBody>
      </p:sp>
    </p:spTree>
    <p:extLst>
      <p:ext uri="{BB962C8B-B14F-4D97-AF65-F5344CB8AC3E}">
        <p14:creationId xmlns:p14="http://schemas.microsoft.com/office/powerpoint/2010/main" val="4058644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8" name="Google Shape;128;g2cbd5be33d5_0_44"/>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2cbd5be33d5_0_44"/>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3725"/>
                </a:srgbClr>
              </a:gs>
            </a:gsLst>
            <a:lin ang="1380014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g2cbd5be33d5_0_44"/>
          <p:cNvSpPr/>
          <p:nvPr/>
        </p:nvSpPr>
        <p:spPr>
          <a:xfrm flipH="1">
            <a:off x="8115297" y="-1"/>
            <a:ext cx="4076700" cy="1590600"/>
          </a:xfrm>
          <a:prstGeom prst="rect">
            <a:avLst/>
          </a:prstGeom>
          <a:gradFill>
            <a:gsLst>
              <a:gs pos="0">
                <a:srgbClr val="4472C4">
                  <a:alpha val="64705"/>
                </a:srgbClr>
              </a:gs>
              <a:gs pos="100000">
                <a:srgbClr val="000000">
                  <a:alpha val="28627"/>
                </a:srgbClr>
              </a:gs>
            </a:gsLst>
            <a:lin ang="1319991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g2cbd5be33d5_0_44"/>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0588"/>
                </a:srgbClr>
              </a:gs>
              <a:gs pos="100000">
                <a:srgbClr val="1F3864">
                  <a:alpha val="50588"/>
                </a:srgbClr>
              </a:gs>
            </a:gsLst>
            <a:lin ang="167999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 name="Google Shape;132;g2cbd5be33d5_0_44"/>
          <p:cNvSpPr txBox="1">
            <a:spLocks noGrp="1"/>
          </p:cNvSpPr>
          <p:nvPr>
            <p:ph type="title"/>
          </p:nvPr>
        </p:nvSpPr>
        <p:spPr>
          <a:xfrm>
            <a:off x="1371599" y="294538"/>
            <a:ext cx="9896100" cy="1033800"/>
          </a:xfrm>
          <a:prstGeom prst="rect">
            <a:avLst/>
          </a:prstGeom>
          <a:noFill/>
          <a:ln>
            <a:noFill/>
          </a:ln>
        </p:spPr>
        <p:txBody>
          <a:bodyPr spcFirstLastPara="1" wrap="square" lIns="91425" tIns="45700" rIns="91425" bIns="45700" anchor="ctr" anchorCtr="0">
            <a:normAutofit/>
          </a:bodyPr>
          <a:lstStyle/>
          <a:p>
            <a:r>
              <a:rPr lang="en-US" sz="4000" dirty="0">
                <a:solidFill>
                  <a:srgbClr val="FFFFFF"/>
                </a:solidFill>
              </a:rPr>
              <a:t>D1.2 Data Management Plan </a:t>
            </a:r>
            <a:endParaRPr lang="el-GR" dirty="0"/>
          </a:p>
        </p:txBody>
      </p:sp>
      <p:sp>
        <p:nvSpPr>
          <p:cNvPr id="133" name="Google Shape;133;g2cbd5be33d5_0_44"/>
          <p:cNvSpPr txBox="1">
            <a:spLocks noGrp="1"/>
          </p:cNvSpPr>
          <p:nvPr>
            <p:ph type="body" idx="1"/>
          </p:nvPr>
        </p:nvSpPr>
        <p:spPr>
          <a:xfrm>
            <a:off x="994275" y="1825625"/>
            <a:ext cx="10134000" cy="4843465"/>
          </a:xfrm>
          <a:prstGeom prst="rect">
            <a:avLst/>
          </a:prstGeom>
          <a:noFill/>
          <a:ln>
            <a:noFill/>
          </a:ln>
        </p:spPr>
        <p:txBody>
          <a:bodyPr spcFirstLastPara="1" wrap="square" lIns="91425" tIns="45700" rIns="91425" bIns="45700" anchor="t" anchorCtr="0">
            <a:noAutofit/>
          </a:bodyPr>
          <a:lstStyle/>
          <a:p>
            <a:pPr marL="76200" indent="0">
              <a:lnSpc>
                <a:spcPct val="125454"/>
              </a:lnSpc>
              <a:buNone/>
            </a:pPr>
            <a:endParaRPr lang="en-US" sz="2400" dirty="0"/>
          </a:p>
          <a:p>
            <a:pPr marL="76200" indent="0">
              <a:lnSpc>
                <a:spcPct val="125454"/>
              </a:lnSpc>
              <a:buNone/>
            </a:pPr>
            <a:endParaRPr lang="en-US" sz="2400" dirty="0"/>
          </a:p>
          <a:p>
            <a:pPr marL="76200" indent="0">
              <a:lnSpc>
                <a:spcPct val="125454"/>
              </a:lnSpc>
              <a:buNone/>
            </a:pPr>
            <a:r>
              <a:rPr lang="en-US" sz="2400" dirty="0"/>
              <a:t>General structure:</a:t>
            </a:r>
            <a:endParaRPr lang="en-US" dirty="0"/>
          </a:p>
          <a:p>
            <a:pPr marL="533400" indent="-457200">
              <a:lnSpc>
                <a:spcPct val="100000"/>
              </a:lnSpc>
              <a:buFont typeface="+mj-lt"/>
              <a:buAutoNum type="arabicPeriod"/>
            </a:pPr>
            <a:r>
              <a:rPr lang="en-GB" sz="2000" dirty="0"/>
              <a:t>Definitions (a number of important definitions of terms used throughout the deliverable)</a:t>
            </a:r>
            <a:endParaRPr lang="en-US" sz="2400" dirty="0"/>
          </a:p>
          <a:p>
            <a:pPr marL="533400" indent="-457200">
              <a:lnSpc>
                <a:spcPct val="100000"/>
              </a:lnSpc>
              <a:buFont typeface="+mj-lt"/>
              <a:buAutoNum type="arabicPeriod"/>
            </a:pPr>
            <a:r>
              <a:rPr lang="en-GB" sz="2000" dirty="0"/>
              <a:t>Data Summary</a:t>
            </a:r>
          </a:p>
          <a:p>
            <a:pPr marL="533400" indent="-457200">
              <a:lnSpc>
                <a:spcPct val="100000"/>
              </a:lnSpc>
              <a:buFont typeface="+mj-lt"/>
              <a:buAutoNum type="arabicPeriod"/>
            </a:pPr>
            <a:r>
              <a:rPr lang="en-GB" sz="2000" dirty="0"/>
              <a:t>FAIR requirements</a:t>
            </a:r>
          </a:p>
          <a:p>
            <a:pPr marL="533400" indent="-457200">
              <a:lnSpc>
                <a:spcPct val="100000"/>
              </a:lnSpc>
              <a:buFont typeface="+mj-lt"/>
              <a:buAutoNum type="arabicPeriod"/>
            </a:pPr>
            <a:r>
              <a:rPr lang="en-GB" sz="2000" dirty="0"/>
              <a:t>Allocation of resources</a:t>
            </a:r>
          </a:p>
          <a:p>
            <a:pPr marL="533400" indent="-457200">
              <a:lnSpc>
                <a:spcPct val="100000"/>
              </a:lnSpc>
              <a:buFont typeface="+mj-lt"/>
              <a:buAutoNum type="arabicPeriod"/>
            </a:pPr>
            <a:r>
              <a:rPr lang="en-GB" sz="2000" dirty="0"/>
              <a:t>Data security</a:t>
            </a:r>
          </a:p>
          <a:p>
            <a:pPr marL="533400" indent="-457200">
              <a:lnSpc>
                <a:spcPct val="100000"/>
              </a:lnSpc>
              <a:buFont typeface="+mj-lt"/>
              <a:buAutoNum type="arabicPeriod"/>
            </a:pPr>
            <a:r>
              <a:rPr lang="en-GB" sz="2000" dirty="0"/>
              <a:t>Ethics and Legal aspects</a:t>
            </a:r>
          </a:p>
          <a:p>
            <a:pPr marL="533400" indent="-457200">
              <a:lnSpc>
                <a:spcPct val="100000"/>
              </a:lnSpc>
              <a:buFont typeface="+mj-lt"/>
              <a:buAutoNum type="arabicPeriod"/>
            </a:pPr>
            <a:r>
              <a:rPr lang="en-GB" sz="2000" dirty="0"/>
              <a:t>Conclusions and future work</a:t>
            </a:r>
          </a:p>
        </p:txBody>
      </p:sp>
      <p:sp>
        <p:nvSpPr>
          <p:cNvPr id="2" name="Ορθογώνιο: Στρογγύλεμα γωνιών 1">
            <a:extLst>
              <a:ext uri="{FF2B5EF4-FFF2-40B4-BE49-F238E27FC236}">
                <a16:creationId xmlns:a16="http://schemas.microsoft.com/office/drawing/2014/main" id="{E26E3D37-0F76-03FD-9FCB-F213E5D105A3}"/>
              </a:ext>
            </a:extLst>
          </p:cNvPr>
          <p:cNvSpPr/>
          <p:nvPr/>
        </p:nvSpPr>
        <p:spPr>
          <a:xfrm>
            <a:off x="1890191" y="1715128"/>
            <a:ext cx="8407916" cy="9309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bg1"/>
                </a:solidFill>
                <a:latin typeface="Calibri"/>
                <a:ea typeface="+mn-lt"/>
                <a:cs typeface="+mn-lt"/>
              </a:rPr>
              <a:t>Data management plan and a plan for legal and ethical requirements analysis (live document) (M06 - April 2025) – AEGIS</a:t>
            </a:r>
            <a:endParaRPr lang="el-GR" dirty="0">
              <a:solidFill>
                <a:schemeClr val="bg1"/>
              </a:solidFill>
              <a:latin typeface="Calibri"/>
              <a:ea typeface="+mn-lt"/>
              <a:cs typeface="+mn-lt"/>
            </a:endParaRPr>
          </a:p>
        </p:txBody>
      </p:sp>
    </p:spTree>
    <p:extLst>
      <p:ext uri="{BB962C8B-B14F-4D97-AF65-F5344CB8AC3E}">
        <p14:creationId xmlns:p14="http://schemas.microsoft.com/office/powerpoint/2010/main" val="3888441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8" name="Google Shape;128;g2cbd5be33d5_0_44"/>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2cbd5be33d5_0_44"/>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3725"/>
                </a:srgbClr>
              </a:gs>
            </a:gsLst>
            <a:lin ang="1380014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g2cbd5be33d5_0_44"/>
          <p:cNvSpPr/>
          <p:nvPr/>
        </p:nvSpPr>
        <p:spPr>
          <a:xfrm flipH="1">
            <a:off x="8115297" y="-1"/>
            <a:ext cx="4076700" cy="1590600"/>
          </a:xfrm>
          <a:prstGeom prst="rect">
            <a:avLst/>
          </a:prstGeom>
          <a:gradFill>
            <a:gsLst>
              <a:gs pos="0">
                <a:srgbClr val="4472C4">
                  <a:alpha val="64705"/>
                </a:srgbClr>
              </a:gs>
              <a:gs pos="100000">
                <a:srgbClr val="000000">
                  <a:alpha val="28627"/>
                </a:srgbClr>
              </a:gs>
            </a:gsLst>
            <a:lin ang="1319991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g2cbd5be33d5_0_44"/>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0588"/>
                </a:srgbClr>
              </a:gs>
              <a:gs pos="100000">
                <a:srgbClr val="1F3864">
                  <a:alpha val="50588"/>
                </a:srgbClr>
              </a:gs>
            </a:gsLst>
            <a:lin ang="167999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 name="Google Shape;132;g2cbd5be33d5_0_44"/>
          <p:cNvSpPr txBox="1">
            <a:spLocks noGrp="1"/>
          </p:cNvSpPr>
          <p:nvPr>
            <p:ph type="title"/>
          </p:nvPr>
        </p:nvSpPr>
        <p:spPr>
          <a:xfrm>
            <a:off x="1371599" y="294538"/>
            <a:ext cx="9896100" cy="1033800"/>
          </a:xfrm>
          <a:prstGeom prst="rect">
            <a:avLst/>
          </a:prstGeom>
          <a:noFill/>
          <a:ln>
            <a:noFill/>
          </a:ln>
        </p:spPr>
        <p:txBody>
          <a:bodyPr spcFirstLastPara="1" wrap="square" lIns="91425" tIns="45700" rIns="91425" bIns="45700" anchor="ctr" anchorCtr="0">
            <a:normAutofit/>
          </a:bodyPr>
          <a:lstStyle/>
          <a:p>
            <a:r>
              <a:rPr lang="en-US" sz="4000" dirty="0">
                <a:solidFill>
                  <a:srgbClr val="FFFFFF"/>
                </a:solidFill>
              </a:rPr>
              <a:t>D1.2 Data Management Plan </a:t>
            </a:r>
            <a:endParaRPr lang="el-GR" dirty="0"/>
          </a:p>
        </p:txBody>
      </p:sp>
      <p:sp>
        <p:nvSpPr>
          <p:cNvPr id="133" name="Google Shape;133;g2cbd5be33d5_0_44"/>
          <p:cNvSpPr txBox="1">
            <a:spLocks noGrp="1"/>
          </p:cNvSpPr>
          <p:nvPr>
            <p:ph type="body" idx="1"/>
          </p:nvPr>
        </p:nvSpPr>
        <p:spPr>
          <a:xfrm>
            <a:off x="994275" y="1825625"/>
            <a:ext cx="10134000" cy="4843465"/>
          </a:xfrm>
          <a:prstGeom prst="rect">
            <a:avLst/>
          </a:prstGeom>
          <a:noFill/>
          <a:ln>
            <a:noFill/>
          </a:ln>
        </p:spPr>
        <p:txBody>
          <a:bodyPr spcFirstLastPara="1" wrap="square" lIns="91425" tIns="45700" rIns="91425" bIns="45700" anchor="t" anchorCtr="0">
            <a:noAutofit/>
          </a:bodyPr>
          <a:lstStyle/>
          <a:p>
            <a:pPr marL="76200" indent="0">
              <a:lnSpc>
                <a:spcPct val="100000"/>
              </a:lnSpc>
              <a:buNone/>
            </a:pPr>
            <a:r>
              <a:rPr lang="en-GB" sz="2400" dirty="0"/>
              <a:t>In general, it will include:</a:t>
            </a:r>
          </a:p>
          <a:p>
            <a:pPr marL="419100">
              <a:lnSpc>
                <a:spcPct val="100000"/>
              </a:lnSpc>
            </a:pPr>
            <a:r>
              <a:rPr lang="en-GB" sz="2400" dirty="0"/>
              <a:t>a description of the data to be collected, processed and/or generated</a:t>
            </a:r>
          </a:p>
          <a:p>
            <a:pPr marL="419100">
              <a:lnSpc>
                <a:spcPct val="100000"/>
              </a:lnSpc>
            </a:pPr>
            <a:r>
              <a:rPr lang="en-GB" sz="2400" dirty="0"/>
              <a:t>the activities, methodologies and standards that will be adopted</a:t>
            </a:r>
          </a:p>
          <a:p>
            <a:pPr marL="419100">
              <a:lnSpc>
                <a:spcPct val="100000"/>
              </a:lnSpc>
            </a:pPr>
            <a:r>
              <a:rPr lang="en-GB" sz="2400" dirty="0"/>
              <a:t>the data that will be characterized as open access</a:t>
            </a:r>
          </a:p>
          <a:p>
            <a:pPr marL="419100">
              <a:lnSpc>
                <a:spcPct val="100000"/>
              </a:lnSpc>
            </a:pPr>
            <a:r>
              <a:rPr lang="en-GB" sz="2400" dirty="0"/>
              <a:t>how data will be curated and preserved (including past the end of the project) and the data sharing policies (e.g. open access, restricted to the consortium, etc.)</a:t>
            </a:r>
          </a:p>
          <a:p>
            <a:pPr marL="419100">
              <a:lnSpc>
                <a:spcPct val="100000"/>
              </a:lnSpc>
            </a:pPr>
            <a:r>
              <a:rPr lang="en-GB" sz="2400" dirty="0"/>
              <a:t>the project’s provisions to ensure compliance with the FAIR data principles (Findable, Accessible, Interoperable, and Reusable)</a:t>
            </a:r>
          </a:p>
          <a:p>
            <a:pPr marL="419100">
              <a:lnSpc>
                <a:spcPct val="100000"/>
              </a:lnSpc>
            </a:pPr>
            <a:r>
              <a:rPr lang="en-GB" sz="2400" dirty="0"/>
              <a:t>the applicable ethical and legal framework with respect to data-related issues</a:t>
            </a:r>
            <a:endParaRPr lang="en-US" sz="2400" dirty="0"/>
          </a:p>
        </p:txBody>
      </p:sp>
    </p:spTree>
    <p:extLst>
      <p:ext uri="{BB962C8B-B14F-4D97-AF65-F5344CB8AC3E}">
        <p14:creationId xmlns:p14="http://schemas.microsoft.com/office/powerpoint/2010/main" val="3447493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8" name="Google Shape;128;g2cbd5be33d5_0_44"/>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2cbd5be33d5_0_44"/>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3725"/>
                </a:srgbClr>
              </a:gs>
            </a:gsLst>
            <a:lin ang="1380014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g2cbd5be33d5_0_44"/>
          <p:cNvSpPr/>
          <p:nvPr/>
        </p:nvSpPr>
        <p:spPr>
          <a:xfrm flipH="1">
            <a:off x="8115297" y="-1"/>
            <a:ext cx="4076700" cy="1590600"/>
          </a:xfrm>
          <a:prstGeom prst="rect">
            <a:avLst/>
          </a:prstGeom>
          <a:gradFill>
            <a:gsLst>
              <a:gs pos="0">
                <a:srgbClr val="4472C4">
                  <a:alpha val="64705"/>
                </a:srgbClr>
              </a:gs>
              <a:gs pos="100000">
                <a:srgbClr val="000000">
                  <a:alpha val="28627"/>
                </a:srgbClr>
              </a:gs>
            </a:gsLst>
            <a:lin ang="1319991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g2cbd5be33d5_0_44"/>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0588"/>
                </a:srgbClr>
              </a:gs>
              <a:gs pos="100000">
                <a:srgbClr val="1F3864">
                  <a:alpha val="50588"/>
                </a:srgbClr>
              </a:gs>
            </a:gsLst>
            <a:lin ang="167999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 name="Google Shape;132;g2cbd5be33d5_0_44"/>
          <p:cNvSpPr txBox="1">
            <a:spLocks noGrp="1"/>
          </p:cNvSpPr>
          <p:nvPr>
            <p:ph type="title"/>
          </p:nvPr>
        </p:nvSpPr>
        <p:spPr>
          <a:xfrm>
            <a:off x="1371599" y="294538"/>
            <a:ext cx="9896100" cy="1033800"/>
          </a:xfrm>
          <a:prstGeom prst="rect">
            <a:avLst/>
          </a:prstGeom>
          <a:noFill/>
          <a:ln>
            <a:noFill/>
          </a:ln>
        </p:spPr>
        <p:txBody>
          <a:bodyPr spcFirstLastPara="1" wrap="square" lIns="91425" tIns="45700" rIns="91425" bIns="45700" anchor="ctr" anchorCtr="0">
            <a:normAutofit/>
          </a:bodyPr>
          <a:lstStyle/>
          <a:p>
            <a:r>
              <a:rPr lang="en-US" sz="4000" dirty="0">
                <a:solidFill>
                  <a:srgbClr val="FFFFFF"/>
                </a:solidFill>
              </a:rPr>
              <a:t>D2.1 Plan for impact delivery </a:t>
            </a:r>
            <a:endParaRPr lang="el-GR" dirty="0"/>
          </a:p>
        </p:txBody>
      </p:sp>
      <p:sp>
        <p:nvSpPr>
          <p:cNvPr id="133" name="Google Shape;133;g2cbd5be33d5_0_44"/>
          <p:cNvSpPr txBox="1">
            <a:spLocks noGrp="1"/>
          </p:cNvSpPr>
          <p:nvPr>
            <p:ph type="body" idx="1"/>
          </p:nvPr>
        </p:nvSpPr>
        <p:spPr>
          <a:xfrm>
            <a:off x="994275" y="1825625"/>
            <a:ext cx="5704840" cy="4843465"/>
          </a:xfrm>
          <a:prstGeom prst="rect">
            <a:avLst/>
          </a:prstGeom>
          <a:noFill/>
          <a:ln>
            <a:noFill/>
          </a:ln>
        </p:spPr>
        <p:txBody>
          <a:bodyPr spcFirstLastPara="1" wrap="square" lIns="91425" tIns="45700" rIns="91425" bIns="45700" anchor="t" anchorCtr="0">
            <a:noAutofit/>
          </a:bodyPr>
          <a:lstStyle/>
          <a:p>
            <a:pPr marL="76200" indent="0">
              <a:lnSpc>
                <a:spcPct val="100000"/>
              </a:lnSpc>
              <a:buNone/>
            </a:pPr>
            <a:endParaRPr lang="en-US" sz="2400" dirty="0"/>
          </a:p>
          <a:p>
            <a:pPr marL="76200" indent="0">
              <a:lnSpc>
                <a:spcPct val="100000"/>
              </a:lnSpc>
              <a:buNone/>
            </a:pPr>
            <a:endParaRPr lang="en-US" sz="2400" dirty="0"/>
          </a:p>
          <a:p>
            <a:pPr marL="76200" indent="0">
              <a:lnSpc>
                <a:spcPct val="100000"/>
              </a:lnSpc>
              <a:buNone/>
            </a:pPr>
            <a:r>
              <a:rPr lang="en-US" sz="2400" dirty="0"/>
              <a:t>General structure:</a:t>
            </a:r>
            <a:endParaRPr lang="en-US" dirty="0"/>
          </a:p>
          <a:p>
            <a:pPr marL="419100">
              <a:lnSpc>
                <a:spcPct val="100000"/>
              </a:lnSpc>
            </a:pPr>
            <a:r>
              <a:rPr lang="en-US" sz="1800" dirty="0"/>
              <a:t>Dissemination/Communication</a:t>
            </a:r>
          </a:p>
          <a:p>
            <a:pPr marL="990600" lvl="1" indent="-457200">
              <a:lnSpc>
                <a:spcPct val="100000"/>
              </a:lnSpc>
              <a:buFont typeface="+mj-lt"/>
              <a:buAutoNum type="arabicPeriod"/>
            </a:pPr>
            <a:r>
              <a:rPr lang="en-US" sz="1400" dirty="0"/>
              <a:t>Dissemination and communication strategy (e.g. phases)</a:t>
            </a:r>
          </a:p>
          <a:p>
            <a:pPr marL="990600" lvl="1" indent="-457200">
              <a:lnSpc>
                <a:spcPct val="100000"/>
              </a:lnSpc>
              <a:buFont typeface="+mj-lt"/>
              <a:buAutoNum type="arabicPeriod"/>
            </a:pPr>
            <a:r>
              <a:rPr lang="en-US" sz="1400" dirty="0"/>
              <a:t>Dissemination and communication plan (e.g. blog posts, press releases, newsletters, KPIs)</a:t>
            </a:r>
          </a:p>
          <a:p>
            <a:pPr marL="990600" lvl="1" indent="-457200">
              <a:lnSpc>
                <a:spcPct val="100000"/>
              </a:lnSpc>
              <a:buFont typeface="+mj-lt"/>
              <a:buAutoNum type="arabicPeriod"/>
            </a:pPr>
            <a:r>
              <a:rPr lang="en-US" sz="1400" dirty="0"/>
              <a:t>Dissemination and communication activities (online presence, collaboration w/ projects)</a:t>
            </a:r>
          </a:p>
          <a:p>
            <a:pPr marL="990600" lvl="1" indent="-457200">
              <a:lnSpc>
                <a:spcPct val="100000"/>
              </a:lnSpc>
              <a:buFont typeface="+mj-lt"/>
              <a:buAutoNum type="arabicPeriod"/>
            </a:pPr>
            <a:r>
              <a:rPr lang="en-GB" sz="1400" dirty="0"/>
              <a:t>Dissemination and communication plan for next period (per partner)</a:t>
            </a:r>
            <a:endParaRPr lang="en-US" sz="1400" dirty="0"/>
          </a:p>
          <a:p>
            <a:pPr marL="533400" indent="-457200">
              <a:lnSpc>
                <a:spcPct val="100000"/>
              </a:lnSpc>
            </a:pPr>
            <a:r>
              <a:rPr lang="en-US" sz="1800" dirty="0"/>
              <a:t>Exploitation</a:t>
            </a:r>
          </a:p>
          <a:p>
            <a:pPr marL="990600" lvl="1" indent="-457200">
              <a:lnSpc>
                <a:spcPct val="100000"/>
              </a:lnSpc>
              <a:buFont typeface="+mj-lt"/>
              <a:buAutoNum type="arabicPeriod"/>
            </a:pPr>
            <a:r>
              <a:rPr lang="en-US" sz="1400" dirty="0"/>
              <a:t>Initial Exploitation Plan</a:t>
            </a:r>
          </a:p>
          <a:p>
            <a:pPr marL="990600" lvl="1" indent="-457200">
              <a:lnSpc>
                <a:spcPct val="100000"/>
              </a:lnSpc>
              <a:buFont typeface="+mj-lt"/>
              <a:buAutoNum type="arabicPeriod"/>
            </a:pPr>
            <a:r>
              <a:rPr lang="en-US" sz="1400" dirty="0"/>
              <a:t>Exploitation design methodology and plan</a:t>
            </a:r>
          </a:p>
          <a:p>
            <a:pPr marL="990600" lvl="1" indent="-457200">
              <a:lnSpc>
                <a:spcPct val="100000"/>
              </a:lnSpc>
              <a:buFont typeface="+mj-lt"/>
              <a:buAutoNum type="arabicPeriod"/>
            </a:pPr>
            <a:r>
              <a:rPr lang="en-US" sz="1400" dirty="0"/>
              <a:t>Innovation management</a:t>
            </a:r>
            <a:endParaRPr lang="en-US" sz="2000" dirty="0"/>
          </a:p>
        </p:txBody>
      </p:sp>
      <p:sp>
        <p:nvSpPr>
          <p:cNvPr id="2" name="Ορθογώνιο: Στρογγύλεμα γωνιών 1">
            <a:extLst>
              <a:ext uri="{FF2B5EF4-FFF2-40B4-BE49-F238E27FC236}">
                <a16:creationId xmlns:a16="http://schemas.microsoft.com/office/drawing/2014/main" id="{E26E3D37-0F76-03FD-9FCB-F213E5D105A3}"/>
              </a:ext>
            </a:extLst>
          </p:cNvPr>
          <p:cNvSpPr/>
          <p:nvPr/>
        </p:nvSpPr>
        <p:spPr>
          <a:xfrm>
            <a:off x="1896934" y="1715128"/>
            <a:ext cx="8401172" cy="8433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solidFill>
                  <a:schemeClr val="bg1"/>
                </a:solidFill>
                <a:latin typeface="Calibri"/>
                <a:ea typeface="+mn-lt"/>
                <a:cs typeface="+mn-lt"/>
              </a:rPr>
              <a:t>Communication, Dissemination and Exploitation Plan (M06- April 2025) – AEGIS</a:t>
            </a:r>
            <a:endParaRPr lang="el-GR">
              <a:solidFill>
                <a:schemeClr val="bg1"/>
              </a:solidFill>
              <a:latin typeface="Arial"/>
              <a:cs typeface="Arial"/>
            </a:endParaRPr>
          </a:p>
        </p:txBody>
      </p:sp>
      <p:sp>
        <p:nvSpPr>
          <p:cNvPr id="3" name="Google Shape;133;g2cbd5be33d5_0_44">
            <a:extLst>
              <a:ext uri="{FF2B5EF4-FFF2-40B4-BE49-F238E27FC236}">
                <a16:creationId xmlns:a16="http://schemas.microsoft.com/office/drawing/2014/main" id="{F306A3AB-6F22-9312-FECA-AEE279375D80}"/>
              </a:ext>
            </a:extLst>
          </p:cNvPr>
          <p:cNvSpPr txBox="1">
            <a:spLocks/>
          </p:cNvSpPr>
          <p:nvPr/>
        </p:nvSpPr>
        <p:spPr>
          <a:xfrm>
            <a:off x="6639558" y="1825625"/>
            <a:ext cx="5552439" cy="48434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76200" indent="0">
              <a:lnSpc>
                <a:spcPct val="100000"/>
              </a:lnSpc>
              <a:buFont typeface="Arial"/>
              <a:buNone/>
            </a:pPr>
            <a:endParaRPr lang="en-US" sz="2400" dirty="0"/>
          </a:p>
          <a:p>
            <a:pPr marL="76200" indent="0">
              <a:lnSpc>
                <a:spcPct val="100000"/>
              </a:lnSpc>
              <a:buFont typeface="Arial"/>
              <a:buNone/>
            </a:pPr>
            <a:endParaRPr lang="en-US" sz="2400" dirty="0"/>
          </a:p>
          <a:p>
            <a:pPr marL="76200" indent="0">
              <a:lnSpc>
                <a:spcPct val="100000"/>
              </a:lnSpc>
              <a:buFont typeface="Arial"/>
              <a:buNone/>
            </a:pPr>
            <a:endParaRPr lang="en-US" sz="2400" dirty="0"/>
          </a:p>
          <a:p>
            <a:pPr marL="533400" indent="-457200">
              <a:lnSpc>
                <a:spcPct val="100000"/>
              </a:lnSpc>
            </a:pPr>
            <a:r>
              <a:rPr lang="en-US" sz="1800" dirty="0"/>
              <a:t>Standardization</a:t>
            </a:r>
          </a:p>
          <a:p>
            <a:pPr marL="990600" lvl="1" indent="-457200">
              <a:lnSpc>
                <a:spcPct val="100000"/>
              </a:lnSpc>
              <a:buFont typeface="+mj-lt"/>
              <a:buAutoNum type="arabicPeriod"/>
            </a:pPr>
            <a:r>
              <a:rPr lang="en-US" sz="1400" dirty="0" err="1"/>
              <a:t>CoEvolution</a:t>
            </a:r>
            <a:r>
              <a:rPr lang="en-US" sz="1400" dirty="0"/>
              <a:t> standardization strategy</a:t>
            </a:r>
          </a:p>
          <a:p>
            <a:pPr marL="990600" lvl="1" indent="-457200">
              <a:lnSpc>
                <a:spcPct val="100000"/>
              </a:lnSpc>
              <a:buFont typeface="+mj-lt"/>
              <a:buAutoNum type="arabicPeriod"/>
            </a:pPr>
            <a:r>
              <a:rPr lang="en-US" sz="1400" dirty="0" err="1"/>
              <a:t>CoEvolution</a:t>
            </a:r>
            <a:r>
              <a:rPr lang="en-US" sz="1400" dirty="0"/>
              <a:t> standardization activities</a:t>
            </a:r>
          </a:p>
          <a:p>
            <a:pPr marL="533400" indent="-457200">
              <a:lnSpc>
                <a:spcPct val="100000"/>
              </a:lnSpc>
            </a:pPr>
            <a:r>
              <a:rPr lang="en-GB" sz="1800" dirty="0"/>
              <a:t>Liaison with other EU-funded projects and initiatives</a:t>
            </a:r>
          </a:p>
          <a:p>
            <a:pPr marL="990600" lvl="1" indent="-457200">
              <a:lnSpc>
                <a:spcPct val="100000"/>
              </a:lnSpc>
              <a:buFont typeface="+mj-lt"/>
              <a:buAutoNum type="arabicPeriod"/>
            </a:pPr>
            <a:r>
              <a:rPr lang="en-GB" sz="1400" dirty="0"/>
              <a:t>Engagement methodology and plan</a:t>
            </a:r>
          </a:p>
          <a:p>
            <a:pPr marL="990600" lvl="1" indent="-457200">
              <a:lnSpc>
                <a:spcPct val="100000"/>
              </a:lnSpc>
              <a:buFont typeface="+mj-lt"/>
              <a:buAutoNum type="arabicPeriod"/>
            </a:pPr>
            <a:r>
              <a:rPr lang="en-GB" sz="1400" dirty="0"/>
              <a:t>Initial activities</a:t>
            </a:r>
          </a:p>
          <a:p>
            <a:pPr marL="533400" indent="-457200">
              <a:lnSpc>
                <a:spcPct val="100000"/>
              </a:lnSpc>
            </a:pPr>
            <a:r>
              <a:rPr lang="en-US" sz="1800" dirty="0"/>
              <a:t>Conclusions and future work</a:t>
            </a:r>
          </a:p>
        </p:txBody>
      </p:sp>
    </p:spTree>
    <p:extLst>
      <p:ext uri="{BB962C8B-B14F-4D97-AF65-F5344CB8AC3E}">
        <p14:creationId xmlns:p14="http://schemas.microsoft.com/office/powerpoint/2010/main" val="4058582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Google Shape;127;g2cbd5be33d5_0_4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8" name="Google Shape;128;g2cbd5be33d5_0_44"/>
          <p:cNvSpPr/>
          <p:nvPr/>
        </p:nvSpPr>
        <p:spPr>
          <a:xfrm flipH="1">
            <a:off x="-3" y="-1"/>
            <a:ext cx="12192000" cy="1590600"/>
          </a:xfrm>
          <a:prstGeom prst="rect">
            <a:avLst/>
          </a:prstGeom>
          <a:gradFill>
            <a:gsLst>
              <a:gs pos="0">
                <a:srgbClr val="000000"/>
              </a:gs>
              <a:gs pos="100000">
                <a:srgbClr val="2F5496"/>
              </a:gs>
            </a:gsLst>
            <a:lin ang="840013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2cbd5be33d5_0_44"/>
          <p:cNvSpPr/>
          <p:nvPr/>
        </p:nvSpPr>
        <p:spPr>
          <a:xfrm rot="10800000" flipH="1">
            <a:off x="-3" y="142"/>
            <a:ext cx="8115300" cy="1590600"/>
          </a:xfrm>
          <a:prstGeom prst="rect">
            <a:avLst/>
          </a:prstGeom>
          <a:gradFill>
            <a:gsLst>
              <a:gs pos="0">
                <a:srgbClr val="4472C4">
                  <a:alpha val="0"/>
                </a:srgbClr>
              </a:gs>
              <a:gs pos="20000">
                <a:srgbClr val="4472C4">
                  <a:alpha val="0"/>
                </a:srgbClr>
              </a:gs>
              <a:gs pos="100000">
                <a:srgbClr val="1F3864">
                  <a:alpha val="53725"/>
                </a:srgbClr>
              </a:gs>
            </a:gsLst>
            <a:lin ang="1380014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0" name="Google Shape;130;g2cbd5be33d5_0_44"/>
          <p:cNvSpPr/>
          <p:nvPr/>
        </p:nvSpPr>
        <p:spPr>
          <a:xfrm flipH="1">
            <a:off x="8115297" y="-1"/>
            <a:ext cx="4076700" cy="1590600"/>
          </a:xfrm>
          <a:prstGeom prst="rect">
            <a:avLst/>
          </a:prstGeom>
          <a:gradFill>
            <a:gsLst>
              <a:gs pos="0">
                <a:srgbClr val="4472C4">
                  <a:alpha val="64705"/>
                </a:srgbClr>
              </a:gs>
              <a:gs pos="100000">
                <a:srgbClr val="000000">
                  <a:alpha val="28627"/>
                </a:srgbClr>
              </a:gs>
            </a:gsLst>
            <a:lin ang="1319991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g2cbd5be33d5_0_44"/>
          <p:cNvSpPr/>
          <p:nvPr/>
        </p:nvSpPr>
        <p:spPr>
          <a:xfrm>
            <a:off x="459350" y="-1"/>
            <a:ext cx="11732700" cy="1597500"/>
          </a:xfrm>
          <a:prstGeom prst="rect">
            <a:avLst/>
          </a:prstGeom>
          <a:gradFill>
            <a:gsLst>
              <a:gs pos="0">
                <a:srgbClr val="000000">
                  <a:alpha val="0"/>
                </a:srgbClr>
              </a:gs>
              <a:gs pos="50000">
                <a:srgbClr val="000000">
                  <a:alpha val="0"/>
                </a:srgbClr>
              </a:gs>
              <a:gs pos="99000">
                <a:srgbClr val="1F3864">
                  <a:alpha val="50588"/>
                </a:srgbClr>
              </a:gs>
              <a:gs pos="100000">
                <a:srgbClr val="1F3864">
                  <a:alpha val="50588"/>
                </a:srgbClr>
              </a:gs>
            </a:gsLst>
            <a:lin ang="16799925"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2" name="Google Shape;132;g2cbd5be33d5_0_44"/>
          <p:cNvSpPr txBox="1">
            <a:spLocks noGrp="1"/>
          </p:cNvSpPr>
          <p:nvPr>
            <p:ph type="title"/>
          </p:nvPr>
        </p:nvSpPr>
        <p:spPr>
          <a:xfrm>
            <a:off x="1371599" y="294538"/>
            <a:ext cx="9896100" cy="1033800"/>
          </a:xfrm>
          <a:prstGeom prst="rect">
            <a:avLst/>
          </a:prstGeom>
          <a:noFill/>
          <a:ln>
            <a:noFill/>
          </a:ln>
        </p:spPr>
        <p:txBody>
          <a:bodyPr spcFirstLastPara="1" wrap="square" lIns="91425" tIns="45700" rIns="91425" bIns="45700" anchor="ctr" anchorCtr="0">
            <a:normAutofit/>
          </a:bodyPr>
          <a:lstStyle/>
          <a:p>
            <a:r>
              <a:rPr lang="en-US" sz="4000" dirty="0">
                <a:solidFill>
                  <a:srgbClr val="FFFFFF"/>
                </a:solidFill>
              </a:rPr>
              <a:t>D2.1 Plan for impact delivery </a:t>
            </a:r>
            <a:endParaRPr lang="el-GR" dirty="0"/>
          </a:p>
        </p:txBody>
      </p:sp>
      <p:sp>
        <p:nvSpPr>
          <p:cNvPr id="133" name="Google Shape;133;g2cbd5be33d5_0_44"/>
          <p:cNvSpPr txBox="1">
            <a:spLocks noGrp="1"/>
          </p:cNvSpPr>
          <p:nvPr>
            <p:ph type="body" idx="1"/>
          </p:nvPr>
        </p:nvSpPr>
        <p:spPr>
          <a:xfrm>
            <a:off x="994275" y="1825625"/>
            <a:ext cx="10134000" cy="4843465"/>
          </a:xfrm>
          <a:prstGeom prst="rect">
            <a:avLst/>
          </a:prstGeom>
          <a:noFill/>
          <a:ln>
            <a:noFill/>
          </a:ln>
        </p:spPr>
        <p:txBody>
          <a:bodyPr spcFirstLastPara="1" wrap="square" lIns="91425" tIns="45700" rIns="91425" bIns="45700" anchor="t" anchorCtr="0">
            <a:noAutofit/>
          </a:bodyPr>
          <a:lstStyle/>
          <a:p>
            <a:pPr marL="76200" indent="0">
              <a:lnSpc>
                <a:spcPct val="125454"/>
              </a:lnSpc>
              <a:buNone/>
            </a:pPr>
            <a:r>
              <a:rPr lang="en-US" sz="2400" dirty="0"/>
              <a:t>In general, it will include a comprehensive account of dissemination/ communication activities and standardization effort of the project. </a:t>
            </a:r>
            <a:r>
              <a:rPr lang="en-GB" sz="2400" dirty="0"/>
              <a:t>It will serve as a roadmap, outlining the specific activities and initiatives that will be implemented to maximise the project's reach and impact.</a:t>
            </a:r>
            <a:endParaRPr lang="el-GR" dirty="0"/>
          </a:p>
          <a:p>
            <a:pPr marL="533400" indent="-457200">
              <a:lnSpc>
                <a:spcPct val="125454"/>
              </a:lnSpc>
              <a:buAutoNum type="arabicPeriod"/>
            </a:pPr>
            <a:endParaRPr lang="en-US" sz="2400" dirty="0"/>
          </a:p>
        </p:txBody>
      </p:sp>
    </p:spTree>
    <p:extLst>
      <p:ext uri="{BB962C8B-B14F-4D97-AF65-F5344CB8AC3E}">
        <p14:creationId xmlns:p14="http://schemas.microsoft.com/office/powerpoint/2010/main" val="2375512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7"/>
        <p:cNvGrpSpPr/>
        <p:nvPr/>
      </p:nvGrpSpPr>
      <p:grpSpPr>
        <a:xfrm>
          <a:off x="0" y="0"/>
          <a:ext cx="0" cy="0"/>
          <a:chOff x="0" y="0"/>
          <a:chExt cx="0" cy="0"/>
        </a:xfrm>
      </p:grpSpPr>
      <p:sp>
        <p:nvSpPr>
          <p:cNvPr id="138" name="Google Shape;138;p13"/>
          <p:cNvSpPr/>
          <p:nvPr/>
        </p:nvSpPr>
        <p:spPr>
          <a:xfrm>
            <a:off x="0" y="-1"/>
            <a:ext cx="12191695" cy="685202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 name="Google Shape;139;p13"/>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0" name="Google Shape;140;p13"/>
          <p:cNvSpPr txBox="1">
            <a:spLocks noGrp="1"/>
          </p:cNvSpPr>
          <p:nvPr>
            <p:ph type="title"/>
          </p:nvPr>
        </p:nvSpPr>
        <p:spPr>
          <a:xfrm>
            <a:off x="6501028" y="2343782"/>
            <a:ext cx="4805996" cy="129711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000"/>
              <a:buFont typeface="Calibri"/>
              <a:buNone/>
            </a:pPr>
            <a:r>
              <a:rPr lang="en-US" sz="4000" b="1">
                <a:solidFill>
                  <a:schemeClr val="dk2"/>
                </a:solidFill>
                <a:latin typeface="Calibri"/>
                <a:ea typeface="Calibri"/>
                <a:cs typeface="Calibri"/>
                <a:sym typeface="Calibri"/>
              </a:rPr>
              <a:t>Thank you!</a:t>
            </a:r>
            <a:endParaRPr/>
          </a:p>
        </p:txBody>
      </p:sp>
      <p:pic>
        <p:nvPicPr>
          <p:cNvPr id="141" name="Google Shape;141;p13" descr="Χειραψία"/>
          <p:cNvPicPr preferRelativeResize="0"/>
          <p:nvPr/>
        </p:nvPicPr>
        <p:blipFill rotWithShape="1">
          <a:blip r:embed="rId3">
            <a:alphaModFix/>
          </a:blip>
          <a:srcRect/>
          <a:stretch/>
        </p:blipFill>
        <p:spPr>
          <a:xfrm>
            <a:off x="340470" y="1815320"/>
            <a:ext cx="4141760" cy="4141760"/>
          </a:xfrm>
          <a:custGeom>
            <a:avLst/>
            <a:gdLst/>
            <a:ahLst/>
            <a:cxnLst/>
            <a:rect l="l" t="t" r="r" b="b"/>
            <a:pathLst>
              <a:path w="4141760" h="4377846" extrusionOk="0">
                <a:moveTo>
                  <a:pt x="0" y="0"/>
                </a:moveTo>
                <a:lnTo>
                  <a:pt x="4141760" y="0"/>
                </a:lnTo>
                <a:lnTo>
                  <a:pt x="4141760" y="4377846"/>
                </a:lnTo>
                <a:lnTo>
                  <a:pt x="0" y="4377846"/>
                </a:lnTo>
                <a:close/>
              </a:path>
            </a:pathLst>
          </a:custGeom>
          <a:noFill/>
          <a:ln>
            <a:noFill/>
          </a:ln>
        </p:spPr>
      </p:pic>
      <p:grpSp>
        <p:nvGrpSpPr>
          <p:cNvPr id="142" name="Google Shape;142;p13"/>
          <p:cNvGrpSpPr/>
          <p:nvPr/>
        </p:nvGrpSpPr>
        <p:grpSpPr>
          <a:xfrm>
            <a:off x="-4253" y="-5977"/>
            <a:ext cx="6238675" cy="6863979"/>
            <a:chOff x="305" y="-5977"/>
            <a:chExt cx="6238675" cy="6863979"/>
          </a:xfrm>
        </p:grpSpPr>
        <p:sp>
          <p:nvSpPr>
            <p:cNvPr id="143" name="Google Shape;143;p13"/>
            <p:cNvSpPr/>
            <p:nvPr/>
          </p:nvSpPr>
          <p:spPr>
            <a:xfrm flipH="1">
              <a:off x="305" y="34854"/>
              <a:ext cx="6028697" cy="6817170"/>
            </a:xfrm>
            <a:custGeom>
              <a:avLst/>
              <a:gdLst/>
              <a:ahLst/>
              <a:cxnLst/>
              <a:rect l="l" t="t" r="r" b="b"/>
              <a:pathLst>
                <a:path w="6028697" h="6817170" extrusionOk="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 name="Google Shape;144;p13"/>
            <p:cNvSpPr/>
            <p:nvPr/>
          </p:nvSpPr>
          <p:spPr>
            <a:xfrm flipH="1">
              <a:off x="305" y="1"/>
              <a:ext cx="6165116" cy="6858001"/>
            </a:xfrm>
            <a:custGeom>
              <a:avLst/>
              <a:gdLst/>
              <a:ahLst/>
              <a:cxnLst/>
              <a:rect l="l" t="t" r="r" b="b"/>
              <a:pathLst>
                <a:path w="6264586" h="6858001" extrusionOk="0">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5" name="Google Shape;145;p13"/>
            <p:cNvSpPr/>
            <p:nvPr/>
          </p:nvSpPr>
          <p:spPr>
            <a:xfrm flipH="1">
              <a:off x="305" y="-5977"/>
              <a:ext cx="6238675" cy="6858001"/>
            </a:xfrm>
            <a:custGeom>
              <a:avLst/>
              <a:gdLst/>
              <a:ahLst/>
              <a:cxnLst/>
              <a:rect l="l" t="t" r="r" b="b"/>
              <a:pathLst>
                <a:path w="6264586" h="6858001" extrusionOk="0">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8627"/>
                  </a:srgbClr>
                </a:gs>
                <a:gs pos="2000">
                  <a:srgbClr val="FFFFFF">
                    <a:alpha val="8627"/>
                  </a:srgbClr>
                </a:gs>
                <a:gs pos="16000">
                  <a:srgbClr val="70AD47">
                    <a:alpha val="8627"/>
                  </a:srgbClr>
                </a:gs>
                <a:gs pos="85000">
                  <a:srgbClr val="4472C4">
                    <a:alpha val="8627"/>
                  </a:srgbClr>
                </a:gs>
                <a:gs pos="100000">
                  <a:srgbClr val="FFFFFF">
                    <a:alpha val="8627"/>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46" name="Google Shape;146;p13"/>
          <p:cNvSpPr txBox="1"/>
          <p:nvPr/>
        </p:nvSpPr>
        <p:spPr>
          <a:xfrm>
            <a:off x="6091652" y="5984679"/>
            <a:ext cx="6028800" cy="738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757070"/>
                </a:solidFill>
                <a:latin typeface="Calibri"/>
                <a:ea typeface="Calibri"/>
                <a:cs typeface="Calibri"/>
                <a:sym typeface="Calibri"/>
              </a:rPr>
              <a:t>The work described in this presentation has been conducted within the project CoEvolution. The project has received funding from the Horizon Europe Framework Programme (HORIZON), under Grant Agreement no 101168560.. This document does not represent the opinion of the European Union, and the European Union is not responsible for any use that might be made of this content.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Θέμα του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4F42BB571C174A8CFFD983452FCC05" ma:contentTypeVersion="4" ma:contentTypeDescription="Create a new document." ma:contentTypeScope="" ma:versionID="b9437e2b2f16c2d86886b4884998a6db">
  <xsd:schema xmlns:xsd="http://www.w3.org/2001/XMLSchema" xmlns:xs="http://www.w3.org/2001/XMLSchema" xmlns:p="http://schemas.microsoft.com/office/2006/metadata/properties" xmlns:ns2="d608b43f-bfac-4116-ae2f-2654f04dc4f2" targetNamespace="http://schemas.microsoft.com/office/2006/metadata/properties" ma:root="true" ma:fieldsID="4eb9902d892d15d66caa2c5ebf3aaeb4" ns2:_="">
    <xsd:import namespace="d608b43f-bfac-4116-ae2f-2654f04dc4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8b43f-bfac-4116-ae2f-2654f04dc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ED7C10-166F-488D-B385-9A28D31257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08b43f-bfac-4116-ae2f-2654f04dc4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4466D0-F9AB-42BE-9CBC-46006FC7CD2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C68F016-E4BD-4880-BF77-565C173125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TotalTime>
  <Words>603</Words>
  <Application>Microsoft Office PowerPoint</Application>
  <PresentationFormat>Widescreen</PresentationFormat>
  <Paragraphs>101</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Θέμα του Office</vt:lpstr>
      <vt:lpstr>Project work planning and coordination for first deliverables</vt:lpstr>
      <vt:lpstr>Deliverables</vt:lpstr>
      <vt:lpstr>D1.1 Project Manual </vt:lpstr>
      <vt:lpstr>D1.1 Project Manual </vt:lpstr>
      <vt:lpstr>D1.2 Data Management Plan </vt:lpstr>
      <vt:lpstr>D1.2 Data Management Plan </vt:lpstr>
      <vt:lpstr>D2.1 Plan for impact delivery </vt:lpstr>
      <vt:lpstr>D2.1 Plan for impact delivery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ASTERIOS STROUMPOULIS</dc:creator>
  <cp:lastModifiedBy>Marinos Tsantekidis</cp:lastModifiedBy>
  <cp:revision>184</cp:revision>
  <dcterms:created xsi:type="dcterms:W3CDTF">2024-02-27T09:04:02Z</dcterms:created>
  <dcterms:modified xsi:type="dcterms:W3CDTF">2024-11-06T13:04:28Z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0x010100314F42BB571C174A8CFFD983452FCC05</vt:lpwstr>
  </property>
</Properties>
</file>