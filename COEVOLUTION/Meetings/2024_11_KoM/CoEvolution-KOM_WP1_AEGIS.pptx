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7"/>
  </p:notesMasterIdLst>
  <p:sldIdLst>
    <p:sldId id="264" r:id="rId5"/>
    <p:sldId id="265" r:id="rId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jKXhy6NAx/ZkLDRxiWXc4STOP4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customXml" Target="../customXml/item3.xml"/><Relationship Id="rId7"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customXml" Target="../customXml/item2.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32" Type="http://schemas.openxmlformats.org/officeDocument/2006/relationships/theme" Target="theme/theme1.xml"/><Relationship Id="rId5" Type="http://schemas.openxmlformats.org/officeDocument/2006/relationships/slide" Target="slides/slide1.xml"/><Relationship Id="rId31" Type="http://schemas.openxmlformats.org/officeDocument/2006/relationships/viewProps" Target="viewProps.xml"/><Relationship Id="rId4" Type="http://schemas.openxmlformats.org/officeDocument/2006/relationships/slideMaster" Target="slideMasters/slide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056b849a5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056b849a5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5515358-54BF-168D-3019-6E2CFA2F8AEF}"/>
            </a:ext>
          </a:extLst>
        </p:cNvPr>
        <p:cNvGrpSpPr/>
        <p:nvPr/>
      </p:nvGrpSpPr>
      <p:grpSpPr>
        <a:xfrm>
          <a:off x="0" y="0"/>
          <a:ext cx="0" cy="0"/>
          <a:chOff x="0" y="0"/>
          <a:chExt cx="0" cy="0"/>
        </a:xfrm>
      </p:grpSpPr>
      <p:sp>
        <p:nvSpPr>
          <p:cNvPr id="192" name="Google Shape;192;g3056b849a55_0_27:notes">
            <a:extLst>
              <a:ext uri="{FF2B5EF4-FFF2-40B4-BE49-F238E27FC236}">
                <a16:creationId xmlns:a16="http://schemas.microsoft.com/office/drawing/2014/main" id="{D2AEA52E-AC0B-CEE0-3858-17E16F1972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056b849a55_0_27:notes">
            <a:extLst>
              <a:ext uri="{FF2B5EF4-FFF2-40B4-BE49-F238E27FC236}">
                <a16:creationId xmlns:a16="http://schemas.microsoft.com/office/drawing/2014/main" id="{B258BBCB-98B5-FD9E-E17C-2197227046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1185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Κενό"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Περιεχόμενο με λεζάντα"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4"/>
        <p:cNvGrpSpPr/>
        <p:nvPr/>
      </p:nvGrpSpPr>
      <p:grpSpPr>
        <a:xfrm>
          <a:off x="0" y="0"/>
          <a:ext cx="0" cy="0"/>
          <a:chOff x="0" y="0"/>
          <a:chExt cx="0" cy="0"/>
        </a:xfrm>
      </p:grpSpPr>
      <p:sp>
        <p:nvSpPr>
          <p:cNvPr id="195" name="Google Shape;195;g3056b849a55_0_2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96" name="Google Shape;196;g3056b849a55_0_27"/>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g3056b849a55_0_27"/>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g3056b849a55_0_27"/>
          <p:cNvSpPr/>
          <p:nvPr/>
        </p:nvSpPr>
        <p:spPr>
          <a:xfrm flipH="1">
            <a:off x="8115297" y="-1"/>
            <a:ext cx="4076700" cy="1590600"/>
          </a:xfrm>
          <a:prstGeom prst="rect">
            <a:avLst/>
          </a:prstGeom>
          <a:gradFill>
            <a:gsLst>
              <a:gs pos="0">
                <a:srgbClr val="4472C4">
                  <a:alpha val="65882"/>
                </a:srgbClr>
              </a:gs>
              <a:gs pos="100000">
                <a:srgbClr val="000000">
                  <a:alpha val="29803"/>
                </a:srgbClr>
              </a:gs>
            </a:gsLst>
            <a:lin ang="1319991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g3056b849a55_0_27"/>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799925"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g3056b849a55_0_27"/>
          <p:cNvSpPr txBox="1">
            <a:spLocks noGrp="1"/>
          </p:cNvSpPr>
          <p:nvPr>
            <p:ph type="title"/>
          </p:nvPr>
        </p:nvSpPr>
        <p:spPr>
          <a:xfrm>
            <a:off x="1371599" y="294538"/>
            <a:ext cx="9896100" cy="1296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b="1" dirty="0">
                <a:solidFill>
                  <a:srgbClr val="FFFFFF"/>
                </a:solidFill>
              </a:rPr>
              <a:t>Partner AEGIS</a:t>
            </a:r>
            <a:endParaRPr sz="3100" dirty="0">
              <a:solidFill>
                <a:srgbClr val="FFFFFF"/>
              </a:solidFill>
            </a:endParaRPr>
          </a:p>
        </p:txBody>
      </p:sp>
      <p:sp>
        <p:nvSpPr>
          <p:cNvPr id="201" name="Google Shape;201;g3056b849a55_0_27"/>
          <p:cNvSpPr txBox="1">
            <a:spLocks noGrp="1"/>
          </p:cNvSpPr>
          <p:nvPr>
            <p:ph type="body" idx="1"/>
          </p:nvPr>
        </p:nvSpPr>
        <p:spPr>
          <a:xfrm>
            <a:off x="429747" y="1884996"/>
            <a:ext cx="11347206" cy="4755753"/>
          </a:xfrm>
          <a:prstGeom prst="rect">
            <a:avLst/>
          </a:prstGeom>
          <a:noFill/>
          <a:ln>
            <a:noFill/>
          </a:ln>
        </p:spPr>
        <p:txBody>
          <a:bodyPr spcFirstLastPara="1" wrap="square" lIns="91425" tIns="45700" rIns="91425" bIns="45700" anchor="ctr" anchorCtr="0">
            <a:noAutofit/>
          </a:bodyPr>
          <a:lstStyle/>
          <a:p>
            <a:pPr marL="0" indent="0">
              <a:lnSpc>
                <a:spcPct val="120000"/>
              </a:lnSpc>
              <a:spcBef>
                <a:spcPts val="0"/>
              </a:spcBef>
              <a:buSzPts val="2000"/>
              <a:buNone/>
            </a:pPr>
            <a:r>
              <a:rPr lang="en-GB" sz="1400" b="1" dirty="0"/>
              <a:t>Task 1.4 - Innovation tracking and data management</a:t>
            </a:r>
          </a:p>
          <a:p>
            <a:pPr marL="0" indent="0">
              <a:lnSpc>
                <a:spcPct val="120000"/>
              </a:lnSpc>
              <a:spcBef>
                <a:spcPts val="0"/>
              </a:spcBef>
              <a:buSzPts val="2000"/>
              <a:buNone/>
            </a:pPr>
            <a:endParaRPr lang="en-GB" sz="1400" b="1" dirty="0"/>
          </a:p>
          <a:p>
            <a:pPr marL="342900">
              <a:lnSpc>
                <a:spcPct val="120000"/>
              </a:lnSpc>
              <a:spcBef>
                <a:spcPts val="0"/>
              </a:spcBef>
              <a:buSzPts val="2000"/>
            </a:pPr>
            <a:r>
              <a:rPr lang="en-GB" sz="1400" dirty="0"/>
              <a:t>Identification of innovation generated by the project (innovation database)</a:t>
            </a:r>
          </a:p>
          <a:p>
            <a:pPr marL="342900">
              <a:lnSpc>
                <a:spcPct val="120000"/>
              </a:lnSpc>
              <a:spcBef>
                <a:spcPts val="0"/>
              </a:spcBef>
              <a:buSzPts val="2000"/>
            </a:pPr>
            <a:r>
              <a:rPr lang="en-GB" sz="1400" dirty="0"/>
              <a:t>Consolidation of background provided by Project Partners (mapping)</a:t>
            </a:r>
          </a:p>
          <a:p>
            <a:pPr marL="342900">
              <a:lnSpc>
                <a:spcPct val="120000"/>
              </a:lnSpc>
              <a:spcBef>
                <a:spcPts val="0"/>
              </a:spcBef>
              <a:buSzPts val="2000"/>
            </a:pPr>
            <a:r>
              <a:rPr lang="en-GB" sz="1400" dirty="0"/>
              <a:t>Update of data and assumptions presented in the proposal and the GA</a:t>
            </a:r>
          </a:p>
          <a:p>
            <a:pPr marL="342900">
              <a:lnSpc>
                <a:spcPct val="120000"/>
              </a:lnSpc>
              <a:spcBef>
                <a:spcPts val="0"/>
              </a:spcBef>
              <a:buSzPts val="2000"/>
            </a:pPr>
            <a:r>
              <a:rPr lang="en-GB" sz="1400" dirty="0"/>
              <a:t>IPR management of the project results</a:t>
            </a:r>
          </a:p>
          <a:p>
            <a:pPr marL="342900">
              <a:lnSpc>
                <a:spcPct val="120000"/>
              </a:lnSpc>
              <a:spcBef>
                <a:spcPts val="0"/>
              </a:spcBef>
              <a:buSzPts val="2000"/>
            </a:pPr>
            <a:r>
              <a:rPr lang="en-GB" sz="1400" dirty="0"/>
              <a:t>Identification of opportunities for realising innovations -&gt; exploitation</a:t>
            </a:r>
          </a:p>
          <a:p>
            <a:pPr marL="342900">
              <a:lnSpc>
                <a:spcPct val="120000"/>
              </a:lnSpc>
              <a:spcBef>
                <a:spcPts val="0"/>
              </a:spcBef>
              <a:buSzPts val="2000"/>
            </a:pPr>
            <a:r>
              <a:rPr lang="en-GB" sz="1400" dirty="0"/>
              <a:t>Establishment of open science and data management planning activities</a:t>
            </a:r>
          </a:p>
          <a:p>
            <a:pPr marL="342900">
              <a:lnSpc>
                <a:spcPct val="120000"/>
              </a:lnSpc>
              <a:spcBef>
                <a:spcPts val="0"/>
              </a:spcBef>
              <a:buSzPts val="2000"/>
            </a:pPr>
            <a:r>
              <a:rPr lang="en-GB" sz="1400" dirty="0"/>
              <a:t>Identification of the relevant information that can be shared among the scientific communities for research purposes</a:t>
            </a:r>
          </a:p>
          <a:p>
            <a:pPr marL="342900">
              <a:lnSpc>
                <a:spcPct val="120000"/>
              </a:lnSpc>
              <a:spcBef>
                <a:spcPts val="0"/>
              </a:spcBef>
              <a:buSzPts val="2000"/>
            </a:pPr>
            <a:r>
              <a:rPr lang="en-GB" sz="1400" dirty="0"/>
              <a:t>Identification of the procedures for preserving and releasing project’s open assets even beyond the end of the project</a:t>
            </a:r>
          </a:p>
          <a:p>
            <a:pPr marL="342900">
              <a:lnSpc>
                <a:spcPct val="120000"/>
              </a:lnSpc>
              <a:spcBef>
                <a:spcPts val="0"/>
              </a:spcBef>
              <a:buSzPts val="2000"/>
            </a:pPr>
            <a:r>
              <a:rPr lang="en-GB" sz="1400" dirty="0"/>
              <a:t>Regular meetings</a:t>
            </a:r>
          </a:p>
          <a:p>
            <a:pPr marL="342900">
              <a:lnSpc>
                <a:spcPct val="120000"/>
              </a:lnSpc>
              <a:spcBef>
                <a:spcPts val="0"/>
              </a:spcBef>
              <a:buSzPts val="2000"/>
            </a:pPr>
            <a:r>
              <a:rPr lang="en-GB" sz="1400" dirty="0"/>
              <a:t>Identification of the Innovation Committee members</a:t>
            </a:r>
          </a:p>
          <a:p>
            <a:pPr marL="342900">
              <a:lnSpc>
                <a:spcPct val="120000"/>
              </a:lnSpc>
              <a:spcBef>
                <a:spcPts val="0"/>
              </a:spcBef>
              <a:buSzPts val="2000"/>
            </a:pPr>
            <a:r>
              <a:rPr lang="en-GB" sz="1400" dirty="0"/>
              <a:t>Decide how to handle Open Science commitments</a:t>
            </a:r>
          </a:p>
          <a:p>
            <a:pPr marL="342900">
              <a:lnSpc>
                <a:spcPct val="120000"/>
              </a:lnSpc>
              <a:spcBef>
                <a:spcPts val="0"/>
              </a:spcBef>
              <a:buSzPts val="2000"/>
            </a:pPr>
            <a:r>
              <a:rPr lang="en-GB" sz="1400" dirty="0"/>
              <a:t>Prepare IMP and DMP</a:t>
            </a:r>
          </a:p>
          <a:p>
            <a:pPr marL="0" indent="0">
              <a:lnSpc>
                <a:spcPct val="120000"/>
              </a:lnSpc>
              <a:spcBef>
                <a:spcPts val="0"/>
              </a:spcBef>
              <a:buSzPts val="2000"/>
              <a:buNone/>
            </a:pPr>
            <a:endParaRPr lang="en-GB" sz="1400" b="1" dirty="0"/>
          </a:p>
          <a:p>
            <a:pPr marL="0" indent="0">
              <a:lnSpc>
                <a:spcPct val="120000"/>
              </a:lnSpc>
              <a:spcBef>
                <a:spcPts val="0"/>
              </a:spcBef>
              <a:buSzPts val="2000"/>
              <a:buNone/>
            </a:pPr>
            <a:r>
              <a:rPr lang="en-GB" sz="1400" b="1" dirty="0"/>
              <a:t>Deliverables:</a:t>
            </a:r>
          </a:p>
          <a:p>
            <a:pPr marL="342900">
              <a:lnSpc>
                <a:spcPct val="120000"/>
              </a:lnSpc>
              <a:spcBef>
                <a:spcPts val="0"/>
              </a:spcBef>
              <a:buSzPts val="2000"/>
            </a:pPr>
            <a:r>
              <a:rPr lang="en-GB" sz="1400" dirty="0"/>
              <a:t>D1.2 Data Management Plan (M6)</a:t>
            </a:r>
          </a:p>
          <a:p>
            <a:pPr marL="342900">
              <a:lnSpc>
                <a:spcPct val="120000"/>
              </a:lnSpc>
              <a:spcBef>
                <a:spcPts val="0"/>
              </a:spcBef>
              <a:buSzPts val="2000"/>
            </a:pPr>
            <a:r>
              <a:rPr lang="en-GB" sz="1400" dirty="0"/>
              <a:t>D1.3 Innovation management and ethics oversight report (M36)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4">
          <a:extLst>
            <a:ext uri="{FF2B5EF4-FFF2-40B4-BE49-F238E27FC236}">
              <a16:creationId xmlns:a16="http://schemas.microsoft.com/office/drawing/2014/main" id="{7FD922B1-CFBF-3C8B-EABB-56D7DEB15408}"/>
            </a:ext>
          </a:extLst>
        </p:cNvPr>
        <p:cNvGrpSpPr/>
        <p:nvPr/>
      </p:nvGrpSpPr>
      <p:grpSpPr>
        <a:xfrm>
          <a:off x="0" y="0"/>
          <a:ext cx="0" cy="0"/>
          <a:chOff x="0" y="0"/>
          <a:chExt cx="0" cy="0"/>
        </a:xfrm>
      </p:grpSpPr>
      <p:sp>
        <p:nvSpPr>
          <p:cNvPr id="195" name="Google Shape;195;g3056b849a55_0_27">
            <a:extLst>
              <a:ext uri="{FF2B5EF4-FFF2-40B4-BE49-F238E27FC236}">
                <a16:creationId xmlns:a16="http://schemas.microsoft.com/office/drawing/2014/main" id="{89674217-F1D1-985A-2FD5-CCB8D989D00A}"/>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96" name="Google Shape;196;g3056b849a55_0_27">
            <a:extLst>
              <a:ext uri="{FF2B5EF4-FFF2-40B4-BE49-F238E27FC236}">
                <a16:creationId xmlns:a16="http://schemas.microsoft.com/office/drawing/2014/main" id="{516DB903-F3B9-34E1-C9A8-A2FC0582204A}"/>
              </a:ext>
            </a:extLst>
          </p:cNvPr>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g3056b849a55_0_27">
            <a:extLst>
              <a:ext uri="{FF2B5EF4-FFF2-40B4-BE49-F238E27FC236}">
                <a16:creationId xmlns:a16="http://schemas.microsoft.com/office/drawing/2014/main" id="{ED201AEB-2289-BCF2-E941-12C988F8FFF1}"/>
              </a:ext>
            </a:extLst>
          </p:cNvPr>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g3056b849a55_0_27">
            <a:extLst>
              <a:ext uri="{FF2B5EF4-FFF2-40B4-BE49-F238E27FC236}">
                <a16:creationId xmlns:a16="http://schemas.microsoft.com/office/drawing/2014/main" id="{F461821E-593C-50B4-9B17-BEEF1A1D469F}"/>
              </a:ext>
            </a:extLst>
          </p:cNvPr>
          <p:cNvSpPr/>
          <p:nvPr/>
        </p:nvSpPr>
        <p:spPr>
          <a:xfrm flipH="1">
            <a:off x="8115297" y="-1"/>
            <a:ext cx="4076700" cy="1590600"/>
          </a:xfrm>
          <a:prstGeom prst="rect">
            <a:avLst/>
          </a:prstGeom>
          <a:gradFill>
            <a:gsLst>
              <a:gs pos="0">
                <a:srgbClr val="4472C4">
                  <a:alpha val="65882"/>
                </a:srgbClr>
              </a:gs>
              <a:gs pos="100000">
                <a:srgbClr val="000000">
                  <a:alpha val="29803"/>
                </a:srgbClr>
              </a:gs>
            </a:gsLst>
            <a:lin ang="1319991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g3056b849a55_0_27">
            <a:extLst>
              <a:ext uri="{FF2B5EF4-FFF2-40B4-BE49-F238E27FC236}">
                <a16:creationId xmlns:a16="http://schemas.microsoft.com/office/drawing/2014/main" id="{DC9C5170-804D-9F8E-6361-F42FEE230C29}"/>
              </a:ext>
            </a:extLst>
          </p:cNvPr>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799925"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g3056b849a55_0_27">
            <a:extLst>
              <a:ext uri="{FF2B5EF4-FFF2-40B4-BE49-F238E27FC236}">
                <a16:creationId xmlns:a16="http://schemas.microsoft.com/office/drawing/2014/main" id="{62248D72-2015-4FA2-4C18-5B8EC5B98950}"/>
              </a:ext>
            </a:extLst>
          </p:cNvPr>
          <p:cNvSpPr txBox="1">
            <a:spLocks noGrp="1"/>
          </p:cNvSpPr>
          <p:nvPr>
            <p:ph type="title"/>
          </p:nvPr>
        </p:nvSpPr>
        <p:spPr>
          <a:xfrm>
            <a:off x="1371599" y="294538"/>
            <a:ext cx="9896100" cy="1296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b="1" dirty="0">
                <a:solidFill>
                  <a:srgbClr val="FFFFFF"/>
                </a:solidFill>
              </a:rPr>
              <a:t>Partner AEGIS</a:t>
            </a:r>
            <a:endParaRPr sz="3100" dirty="0">
              <a:solidFill>
                <a:srgbClr val="FFFFFF"/>
              </a:solidFill>
            </a:endParaRPr>
          </a:p>
        </p:txBody>
      </p:sp>
      <p:sp>
        <p:nvSpPr>
          <p:cNvPr id="201" name="Google Shape;201;g3056b849a55_0_27">
            <a:extLst>
              <a:ext uri="{FF2B5EF4-FFF2-40B4-BE49-F238E27FC236}">
                <a16:creationId xmlns:a16="http://schemas.microsoft.com/office/drawing/2014/main" id="{762721F7-0B7B-DD0A-0675-0B68EB232B84}"/>
              </a:ext>
            </a:extLst>
          </p:cNvPr>
          <p:cNvSpPr txBox="1">
            <a:spLocks noGrp="1"/>
          </p:cNvSpPr>
          <p:nvPr>
            <p:ph type="body" idx="1"/>
          </p:nvPr>
        </p:nvSpPr>
        <p:spPr>
          <a:xfrm>
            <a:off x="429747" y="1884996"/>
            <a:ext cx="11347206" cy="4755753"/>
          </a:xfrm>
          <a:prstGeom prst="rect">
            <a:avLst/>
          </a:prstGeom>
          <a:noFill/>
          <a:ln>
            <a:noFill/>
          </a:ln>
        </p:spPr>
        <p:txBody>
          <a:bodyPr spcFirstLastPara="1" wrap="square" lIns="91425" tIns="45700" rIns="91425" bIns="45700" anchor="ctr" anchorCtr="0">
            <a:noAutofit/>
          </a:bodyPr>
          <a:lstStyle/>
          <a:p>
            <a:pPr marL="0" indent="0">
              <a:lnSpc>
                <a:spcPct val="120000"/>
              </a:lnSpc>
              <a:spcBef>
                <a:spcPts val="0"/>
              </a:spcBef>
              <a:buSzPts val="2000"/>
              <a:buNone/>
            </a:pPr>
            <a:r>
              <a:rPr lang="en-GB" sz="1400" b="1" dirty="0"/>
              <a:t>Task 1.5 - Ethical principles and European regulations, fundamental rights, and social sciences</a:t>
            </a:r>
          </a:p>
          <a:p>
            <a:pPr marL="0" indent="0">
              <a:lnSpc>
                <a:spcPct val="120000"/>
              </a:lnSpc>
              <a:spcBef>
                <a:spcPts val="0"/>
              </a:spcBef>
              <a:buSzPts val="2000"/>
              <a:buNone/>
            </a:pPr>
            <a:endParaRPr lang="en-GB" sz="1400" b="1" dirty="0"/>
          </a:p>
          <a:p>
            <a:pPr marL="342900">
              <a:lnSpc>
                <a:spcPct val="120000"/>
              </a:lnSpc>
              <a:spcBef>
                <a:spcPts val="0"/>
              </a:spcBef>
              <a:buSzPts val="2000"/>
            </a:pPr>
            <a:r>
              <a:rPr lang="en-GB" sz="1400" dirty="0"/>
              <a:t>Identify and analyse the applicable normative framework regarding ethics and privacy (Charter of Fundamental Rights of the EU, GDPR, Cyber resilience Act, AI Act, Protection of Privacy and Transborder Flows of Personal Data, Protection of personal data used for scientific research and statistics, Principle of equal treatment for men and women)</a:t>
            </a:r>
          </a:p>
          <a:p>
            <a:pPr marL="342900">
              <a:lnSpc>
                <a:spcPct val="120000"/>
              </a:lnSpc>
              <a:spcBef>
                <a:spcPts val="0"/>
              </a:spcBef>
              <a:buSzPts val="2000"/>
            </a:pPr>
            <a:r>
              <a:rPr lang="en-GB" sz="1400" dirty="0"/>
              <a:t>Ensure compliance with the relevant ethics and privacy requirements (especially regarding any personal data processing activities, compliance with the relevant GDPR principles)</a:t>
            </a:r>
          </a:p>
          <a:p>
            <a:pPr marL="342900">
              <a:lnSpc>
                <a:spcPct val="120000"/>
              </a:lnSpc>
              <a:spcBef>
                <a:spcPts val="0"/>
              </a:spcBef>
              <a:buSzPts val="2000"/>
            </a:pPr>
            <a:r>
              <a:rPr lang="en-GB" sz="1400" dirty="0"/>
              <a:t>Support the adoption of efficient procedures for evidence-based monitoring of compliance (e.g., GDPR audits, reporting and documentation, circulation of relevant questionnaires, scheduling of regular joint meetings, conduction of a DPIAs)</a:t>
            </a:r>
          </a:p>
          <a:p>
            <a:pPr marL="342900">
              <a:lnSpc>
                <a:spcPct val="120000"/>
              </a:lnSpc>
              <a:spcBef>
                <a:spcPts val="0"/>
              </a:spcBef>
              <a:buSzPts val="2000"/>
            </a:pPr>
            <a:r>
              <a:rPr lang="en-GB" sz="1400" dirty="0"/>
              <a:t>Establish an Ethical Board (constituted by internal and external experts) in order to quickly solve any issues without affecting the project outcomes</a:t>
            </a:r>
          </a:p>
          <a:p>
            <a:pPr marL="342900">
              <a:lnSpc>
                <a:spcPct val="120000"/>
              </a:lnSpc>
              <a:spcBef>
                <a:spcPts val="0"/>
              </a:spcBef>
              <a:buSzPts val="2000"/>
            </a:pPr>
            <a:endParaRPr lang="en-GB" sz="1400" dirty="0"/>
          </a:p>
          <a:p>
            <a:pPr marL="0" indent="0">
              <a:lnSpc>
                <a:spcPct val="120000"/>
              </a:lnSpc>
              <a:spcBef>
                <a:spcPts val="0"/>
              </a:spcBef>
              <a:buSzPts val="2000"/>
              <a:buNone/>
            </a:pPr>
            <a:endParaRPr lang="en-GB" sz="1400" b="1" dirty="0"/>
          </a:p>
          <a:p>
            <a:pPr marL="0" indent="0">
              <a:lnSpc>
                <a:spcPct val="120000"/>
              </a:lnSpc>
              <a:spcBef>
                <a:spcPts val="0"/>
              </a:spcBef>
              <a:buSzPts val="2000"/>
              <a:buNone/>
            </a:pPr>
            <a:r>
              <a:rPr lang="en-GB" sz="1400" b="1" dirty="0"/>
              <a:t>Deliverables:</a:t>
            </a:r>
          </a:p>
          <a:p>
            <a:pPr marL="342900">
              <a:lnSpc>
                <a:spcPct val="120000"/>
              </a:lnSpc>
              <a:spcBef>
                <a:spcPts val="0"/>
              </a:spcBef>
              <a:buSzPts val="2000"/>
            </a:pPr>
            <a:r>
              <a:rPr lang="en-GB" sz="1400"/>
              <a:t>D1.4 Analysis of the legal and ethical issues (M12)</a:t>
            </a:r>
            <a:endParaRPr lang="en-GB" sz="1400" dirty="0"/>
          </a:p>
        </p:txBody>
      </p:sp>
    </p:spTree>
    <p:extLst>
      <p:ext uri="{BB962C8B-B14F-4D97-AF65-F5344CB8AC3E}">
        <p14:creationId xmlns:p14="http://schemas.microsoft.com/office/powerpoint/2010/main" val="2869052284"/>
      </p:ext>
    </p:extLst>
  </p:cSld>
  <p:clrMapOvr>
    <a:masterClrMapping/>
  </p:clrMapOvr>
</p:sld>
</file>

<file path=ppt/theme/theme1.xml><?xml version="1.0" encoding="utf-8"?>
<a:theme xmlns:a="http://schemas.openxmlformats.org/drawingml/2006/main" name="Θέμα του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Έγγραφο" ma:contentTypeID="0x010100314F42BB571C174A8CFFD983452FCC05" ma:contentTypeVersion="4" ma:contentTypeDescription="Δημιουργία νέου εγγράφου" ma:contentTypeScope="" ma:versionID="38ccab2674ba594827893dd29680d72f">
  <xsd:schema xmlns:xsd="http://www.w3.org/2001/XMLSchema" xmlns:xs="http://www.w3.org/2001/XMLSchema" xmlns:p="http://schemas.microsoft.com/office/2006/metadata/properties" xmlns:ns2="d608b43f-bfac-4116-ae2f-2654f04dc4f2" targetNamespace="http://schemas.microsoft.com/office/2006/metadata/properties" ma:root="true" ma:fieldsID="bc8f886bb763dd012b7f003acc48b90a" ns2:_="">
    <xsd:import namespace="d608b43f-bfac-4116-ae2f-2654f04dc4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Τύπος περιεχομένου"/>
        <xsd:element ref="dc:title" minOccurs="0" maxOccurs="1" ma:index="4" ma:displayName="Τίτλο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B448B6-B24D-4F7D-BC5A-1EAB74C2D7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08b43f-bfac-4116-ae2f-2654f04dc4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437429-02DB-4B8D-94C7-9DB1708A090D}">
  <ds:schemaRefs>
    <ds:schemaRef ds:uri="http://schemas.microsoft.com/sharepoint/v3/contenttype/forms"/>
  </ds:schemaRefs>
</ds:datastoreItem>
</file>

<file path=customXml/itemProps3.xml><?xml version="1.0" encoding="utf-8"?>
<ds:datastoreItem xmlns:ds="http://schemas.openxmlformats.org/officeDocument/2006/customXml" ds:itemID="{7589E5B2-4515-4B98-B115-1FBDE58632D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39</TotalTime>
  <Words>315</Words>
  <Application>Microsoft Office PowerPoint</Application>
  <PresentationFormat>Widescreen</PresentationFormat>
  <Paragraphs>30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Θέμα του Office</vt:lpstr>
      <vt:lpstr>Partner AEGIS</vt:lpstr>
      <vt:lpstr>Partner AEGIS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lastModifiedBy>Marinos Tsantekidis</cp:lastModifiedBy>
  <cp:revision>26</cp:revision>
  <dcterms:created xsi:type="dcterms:W3CDTF">2024-02-27T09:04:02Z</dcterms:created>
  <dcterms:modified xsi:type="dcterms:W3CDTF">2024-11-04T12:30:18Z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ies>
</file>