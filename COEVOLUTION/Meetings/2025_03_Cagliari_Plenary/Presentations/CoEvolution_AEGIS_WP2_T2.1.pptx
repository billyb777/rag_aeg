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52" r:id="rId5"/>
    <p:sldMasterId id="2147483654" r:id="rId6"/>
  </p:sldMasterIdLst>
  <p:notesMasterIdLst>
    <p:notesMasterId r:id="rId27"/>
  </p:notesMasterIdLst>
  <p:sldIdLst>
    <p:sldId id="256" r:id="rId7"/>
    <p:sldId id="258" r:id="rId8"/>
    <p:sldId id="259" r:id="rId9"/>
    <p:sldId id="262" r:id="rId10"/>
    <p:sldId id="263" r:id="rId11"/>
    <p:sldId id="265" r:id="rId12"/>
    <p:sldId id="264" r:id="rId13"/>
    <p:sldId id="266" r:id="rId14"/>
    <p:sldId id="277" r:id="rId15"/>
    <p:sldId id="275" r:id="rId16"/>
    <p:sldId id="276" r:id="rId17"/>
    <p:sldId id="278" r:id="rId18"/>
    <p:sldId id="281" r:id="rId19"/>
    <p:sldId id="279" r:id="rId20"/>
    <p:sldId id="280" r:id="rId21"/>
    <p:sldId id="285" r:id="rId22"/>
    <p:sldId id="282" r:id="rId23"/>
    <p:sldId id="283" r:id="rId24"/>
    <p:sldId id="269" r:id="rId25"/>
    <p:sldId id="261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ghzUo9/Mq5C9LLPzUwJ0qEC6lN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45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DAC73-3452-8370-6FE7-5AF06B69C658}" v="8" dt="2024-11-27T13:43:00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customschemas.google.com/relationships/presentationmetadata" Target="meta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Αντωνιος Μακρης" userId="S::antoniosmakris@ntua.gr::eea0bc52-0833-4d66-a611-1693fee57a2c" providerId="AD" clId="Web-{C22DAC73-3452-8370-6FE7-5AF06B69C658}"/>
    <pc:docChg chg="addSld delSld modSld">
      <pc:chgData name="Αντωνιος Μακρης" userId="S::antoniosmakris@ntua.gr::eea0bc52-0833-4d66-a611-1693fee57a2c" providerId="AD" clId="Web-{C22DAC73-3452-8370-6FE7-5AF06B69C658}" dt="2024-11-27T13:43:00.355" v="7"/>
      <pc:docMkLst>
        <pc:docMk/>
      </pc:docMkLst>
      <pc:sldChg chg="addSp delSp modSp new del mod modClrScheme chgLayout">
        <pc:chgData name="Αντωνιος Μακρης" userId="S::antoniosmakris@ntua.gr::eea0bc52-0833-4d66-a611-1693fee57a2c" providerId="AD" clId="Web-{C22DAC73-3452-8370-6FE7-5AF06B69C658}" dt="2024-11-27T13:43:00.355" v="7"/>
        <pc:sldMkLst>
          <pc:docMk/>
          <pc:sldMk cId="4083399242" sldId="262"/>
        </pc:sldMkLst>
        <pc:spChg chg="mod ord">
          <ac:chgData name="Αντωνιος Μακρης" userId="S::antoniosmakris@ntua.gr::eea0bc52-0833-4d66-a611-1693fee57a2c" providerId="AD" clId="Web-{C22DAC73-3452-8370-6FE7-5AF06B69C658}" dt="2024-11-27T13:42:47.370" v="6"/>
          <ac:spMkLst>
            <pc:docMk/>
            <pc:sldMk cId="4083399242" sldId="262"/>
            <ac:spMk id="2" creationId="{35B027C8-5162-9E3C-4429-28F7876CFCEE}"/>
          </ac:spMkLst>
        </pc:spChg>
        <pc:spChg chg="del mod ord">
          <ac:chgData name="Αντωνιος Μακρης" userId="S::antoniosmakris@ntua.gr::eea0bc52-0833-4d66-a611-1693fee57a2c" providerId="AD" clId="Web-{C22DAC73-3452-8370-6FE7-5AF06B69C658}" dt="2024-11-27T13:42:47.370" v="6"/>
          <ac:spMkLst>
            <pc:docMk/>
            <pc:sldMk cId="4083399242" sldId="262"/>
            <ac:spMk id="3" creationId="{81ABE09B-C8EC-5903-B23F-93FBCBBF53B4}"/>
          </ac:spMkLst>
        </pc:spChg>
        <pc:spChg chg="del mod ord">
          <ac:chgData name="Αντωνιος Μακρης" userId="S::antoniosmakris@ntua.gr::eea0bc52-0833-4d66-a611-1693fee57a2c" providerId="AD" clId="Web-{C22DAC73-3452-8370-6FE7-5AF06B69C658}" dt="2024-11-27T13:42:15.650" v="2"/>
          <ac:spMkLst>
            <pc:docMk/>
            <pc:sldMk cId="4083399242" sldId="262"/>
            <ac:spMk id="4" creationId="{DB4F25AC-F7D3-B7F8-A785-7312A0B28859}"/>
          </ac:spMkLst>
        </pc:spChg>
        <pc:spChg chg="add del mod ord">
          <ac:chgData name="Αντωνιος Μακρης" userId="S::antoniosmakris@ntua.gr::eea0bc52-0833-4d66-a611-1693fee57a2c" providerId="AD" clId="Web-{C22DAC73-3452-8370-6FE7-5AF06B69C658}" dt="2024-11-27T13:42:20.384" v="3"/>
          <ac:spMkLst>
            <pc:docMk/>
            <pc:sldMk cId="4083399242" sldId="262"/>
            <ac:spMk id="5" creationId="{0D2C08A7-D652-63F2-65CB-703A122360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66457691f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166457691f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chemeClr val="tx1"/>
                </a:solidFill>
              </a:rPr>
              <a:t>KPI 35 </a:t>
            </a:r>
            <a:r>
              <a:rPr lang="en-US" sz="1200" dirty="0">
                <a:solidFill>
                  <a:schemeClr val="tx1"/>
                </a:solidFill>
              </a:rPr>
              <a:t>- Roll-up banner versions or presentation of the roll up banner in &gt;4 events??</a:t>
            </a:r>
            <a:endParaRPr lang="en-DE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4570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chemeClr val="tx1"/>
                </a:solidFill>
              </a:rPr>
              <a:t>KPI 28 - </a:t>
            </a:r>
            <a:r>
              <a:rPr lang="en-US" sz="1200" dirty="0">
                <a:solidFill>
                  <a:schemeClr val="tx1"/>
                </a:solidFill>
              </a:rPr>
              <a:t>Circulate the Form and add QR code to all Dissemination materials</a:t>
            </a:r>
            <a:endParaRPr lang="en-DE" sz="1200" dirty="0">
              <a:solidFill>
                <a:schemeClr val="tx1"/>
              </a:solidFill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188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chemeClr val="tx1"/>
                </a:solidFill>
              </a:rPr>
              <a:t>KPI 20 – </a:t>
            </a:r>
            <a:r>
              <a:rPr lang="en-US" sz="1200" dirty="0">
                <a:solidFill>
                  <a:schemeClr val="tx1"/>
                </a:solidFill>
              </a:rPr>
              <a:t>Roll up banner presented in Industrial Exhibition?</a:t>
            </a:r>
            <a:endParaRPr lang="en-DE" sz="1200" dirty="0">
              <a:solidFill>
                <a:schemeClr val="tx1"/>
              </a:solidFill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85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Προσαρμοσμένη διάταξη">
  <p:cSld name="Προσαρμοσμένη διάταξη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838199" y="32045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2886868" y="4865060"/>
            <a:ext cx="6418263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2"/>
          </p:nvPr>
        </p:nvSpPr>
        <p:spPr>
          <a:xfrm>
            <a:off x="266700" y="1983447"/>
            <a:ext cx="22860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Προσαρμοσμένη διάταξη">
  <p:cSld name="Προσαρμοσμένη διάταξη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6391934" y="2027208"/>
            <a:ext cx="4970731" cy="28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ύο περιεχόμενα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38306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 descr="Χειραψία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6091652" y="5984679"/>
            <a:ext cx="6028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050"/>
              <a:buFont typeface="Calibri"/>
              <a:buNone/>
            </a:pPr>
            <a:r>
              <a:rPr lang="en-US" sz="950" i="0" u="none" strike="noStrike" cap="none" dirty="0">
                <a:solidFill>
                  <a:srgbClr val="757070"/>
                </a:solidFill>
              </a:rPr>
              <a:t>The work described in this presentation has been conducted within the project </a:t>
            </a:r>
            <a:r>
              <a:rPr lang="en-US" sz="950" dirty="0">
                <a:solidFill>
                  <a:srgbClr val="757070"/>
                </a:solidFill>
              </a:rPr>
              <a:t>CoEvolution</a:t>
            </a:r>
            <a:r>
              <a:rPr lang="en-US" sz="950" i="0" u="none" strike="noStrike" cap="none" dirty="0">
                <a:solidFill>
                  <a:srgbClr val="757070"/>
                </a:solidFill>
              </a:rPr>
              <a:t>. This project has received funding </a:t>
            </a:r>
            <a:r>
              <a:rPr lang="en-US" sz="950" dirty="0">
                <a:solidFill>
                  <a:srgbClr val="757070"/>
                </a:solidFill>
              </a:rPr>
              <a:t>from</a:t>
            </a:r>
            <a:r>
              <a:rPr lang="en-US" sz="950" i="0" u="none" strike="noStrike" cap="none" dirty="0">
                <a:solidFill>
                  <a:srgbClr val="757070"/>
                </a:solidFill>
              </a:rPr>
              <a:t> the European Union’s Horizon Europe Framework </a:t>
            </a:r>
            <a:r>
              <a:rPr lang="en-US" sz="950" i="0" u="none" strike="noStrike" cap="none" dirty="0" err="1">
                <a:solidFill>
                  <a:srgbClr val="757070"/>
                </a:solidFill>
              </a:rPr>
              <a:t>Programme</a:t>
            </a:r>
            <a:r>
              <a:rPr lang="en-US" sz="950" i="0" u="none" strike="noStrike" cap="none" dirty="0">
                <a:solidFill>
                  <a:srgbClr val="757070"/>
                </a:solidFill>
              </a:rPr>
              <a:t> (Horizon) under Grant Agreement No </a:t>
            </a:r>
            <a:r>
              <a:rPr lang="en-US" sz="950" dirty="0">
                <a:solidFill>
                  <a:srgbClr val="757070"/>
                </a:solidFill>
              </a:rPr>
              <a:t>101168560</a:t>
            </a:r>
            <a:r>
              <a:rPr lang="en-US" sz="950" i="0" u="none" strike="noStrike" cap="none" dirty="0">
                <a:solidFill>
                  <a:srgbClr val="757070"/>
                </a:solidFill>
              </a:rPr>
              <a:t>. This document does not represent the opinion of the European Union, and the European Union is not responsible for any use that might be made of this content.</a:t>
            </a:r>
            <a:endParaRPr sz="1300" dirty="0"/>
          </a:p>
        </p:txBody>
      </p:sp>
      <p:sp>
        <p:nvSpPr>
          <p:cNvPr id="75" name="Google Shape;75;p16"/>
          <p:cNvSpPr txBox="1"/>
          <p:nvPr/>
        </p:nvSpPr>
        <p:spPr>
          <a:xfrm>
            <a:off x="6501028" y="234378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44546A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ιαφάνεια τίτλου" type="title">
  <p:cSld name="TITL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Graz Plenary Meeting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582" y="57356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9982200" y="6254175"/>
            <a:ext cx="20383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The project has received funding form the European Union’s Horizon Europe Framework Programme (Horizon) under grant agreement No 101135775</a:t>
            </a:r>
            <a:endParaRPr sz="800" b="0" i="0" u="none" strike="noStrike" cap="non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περιεχόμενο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φαλίδα ενότητας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Σύγκριση" type="twoTxTwoObj">
  <p:cSld name="TWO_OBJECTS_WITH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Μόνο τίτλος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Εικόνα με λεζάντα" type="picTx">
  <p:cSld name="PICTURE_WITH_CAPTIO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ατακόρυφο κείμενο" type="vertTx">
  <p:cSld name="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ατακόρυφος τίτλος και Κείμενο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4982" y="57398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/>
          <p:nvPr/>
        </p:nvSpPr>
        <p:spPr>
          <a:xfrm>
            <a:off x="9982200" y="6254175"/>
            <a:ext cx="2038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Calibri"/>
              <a:buNone/>
            </a:pPr>
            <a:r>
              <a:rPr lang="en-US" sz="800" i="0" u="none" strike="noStrike" cap="none">
                <a:solidFill>
                  <a:srgbClr val="757070"/>
                </a:solidFill>
              </a:rPr>
              <a:t>The project has received funding </a:t>
            </a:r>
            <a:r>
              <a:rPr lang="en-US" sz="800">
                <a:solidFill>
                  <a:srgbClr val="757070"/>
                </a:solidFill>
              </a:rPr>
              <a:t>from</a:t>
            </a:r>
            <a:r>
              <a:rPr lang="en-US" sz="800" i="0" u="none" strike="noStrike" cap="none">
                <a:solidFill>
                  <a:srgbClr val="757070"/>
                </a:solidFill>
              </a:rPr>
              <a:t> the European Union’s Horizon Europe Framework Programme (Horizon) under grant agreement No </a:t>
            </a:r>
            <a:r>
              <a:rPr lang="en-US" sz="800">
                <a:solidFill>
                  <a:srgbClr val="757070"/>
                </a:solidFill>
              </a:rPr>
              <a:t>101168560</a:t>
            </a:r>
            <a:endParaRPr sz="800" i="0" u="none" strike="noStrike" cap="none">
              <a:solidFill>
                <a:srgbClr val="757070"/>
              </a:solidFill>
            </a:endParaRPr>
          </a:p>
        </p:txBody>
      </p:sp>
      <p:pic>
        <p:nvPicPr>
          <p:cNvPr id="12" name="Google Shape;1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038" y="100275"/>
            <a:ext cx="3017923" cy="18184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3830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6391934" y="2027208"/>
            <a:ext cx="4970731" cy="28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 b="1" i="0" u="none" strike="noStrike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1" descr="Lis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4" name="Google Shape;4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46900" y="33425"/>
            <a:ext cx="1911675" cy="2791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DE"/>
              <a:t>25-26/06/2025</a:t>
            </a:r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Graz Plenary Meeting</a:t>
            </a: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246900" y="33425"/>
            <a:ext cx="1911675" cy="2791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4" r:id="rId8"/>
    <p:sldLayoutId id="2147483665" r:id="rId9"/>
    <p:sldLayoutId id="2147483666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7.png"/><Relationship Id="rId3" Type="http://schemas.openxmlformats.org/officeDocument/2006/relationships/hyperlink" Target="https://x.com/coevolution_eu" TargetMode="External"/><Relationship Id="rId7" Type="http://schemas.openxmlformats.org/officeDocument/2006/relationships/image" Target="../media/image13.png"/><Relationship Id="rId12" Type="http://schemas.openxmlformats.org/officeDocument/2006/relationships/hyperlink" Target="https://www.facebook.com/profile.php?id=61572810781073" TargetMode="External"/><Relationship Id="rId17" Type="http://schemas.openxmlformats.org/officeDocument/2006/relationships/image" Target="../media/image20.png"/><Relationship Id="rId2" Type="http://schemas.openxmlformats.org/officeDocument/2006/relationships/image" Target="../media/image10.png"/><Relationship Id="rId16" Type="http://schemas.openxmlformats.org/officeDocument/2006/relationships/hyperlink" Target="https://www.youtube.com/@CoEvolutionEUH202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linkedin.com/company/106186299" TargetMode="External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hyperlink" Target="https://bsky.app/profile/coevolution-eu.bsky.social" TargetMode="External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23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evolution-project.eu/contribution-to-coevolution-social-media-form/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evolution-project.eu/media/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hyperlink" Target="https://ntuagr.sharepoint.com/teams/CoEvolution-EU/Shared%20Documents/Forms/AllItems.aspx?id=%2Fteams%2FCoEvolution%2DEU%2FShared%20Documents%2FGeneral%2FWP2%2FT2%2E1%2FDissemination%20Material&amp;viewid=9f1a5f91%2De972%2D43a2%2Da34a%2D21b07311036f&amp;newTargetListUrl=%2Fteams%2FCoEvolution%2DEU%2FShared%20Documents&amp;viewpath=%2Fteams%2FCoEvolution%2DEU%2FShared%20Documents%2FForms%2FAllItems%2Easp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tuagr.sharepoint.com/:x:/r/teams/CoEvolution-EU/_layouts/15/Doc.aspx?sourcedoc=%7B91BAA02E-D4F4-41B4-B381-E9EE29C0F32E%7D&amp;file=CoEvolution%20D%26C%20Tracker.xlsx&amp;action=default&amp;mobileredirect=true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coevolution-project.eu/stay-connected-with-the-coevolution-project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title"/>
          </p:nvPr>
        </p:nvSpPr>
        <p:spPr>
          <a:xfrm>
            <a:off x="838199" y="320450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b="1" dirty="0"/>
              <a:t>T2.1 - Outreach planning, Communication and Dissemination</a:t>
            </a:r>
            <a:endParaRPr sz="3800" b="1" dirty="0"/>
          </a:p>
        </p:txBody>
      </p:sp>
      <p:sp>
        <p:nvSpPr>
          <p:cNvPr id="150" name="Google Shape;150;p1"/>
          <p:cNvSpPr txBox="1">
            <a:spLocks noGrp="1"/>
          </p:cNvSpPr>
          <p:nvPr>
            <p:ph type="body" idx="2"/>
          </p:nvPr>
        </p:nvSpPr>
        <p:spPr>
          <a:xfrm>
            <a:off x="5041163" y="4530204"/>
            <a:ext cx="2383219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4A2"/>
              </a:buClr>
              <a:buSzPts val="2800"/>
              <a:buNone/>
            </a:pPr>
            <a:r>
              <a:rPr lang="en-US" sz="2600" b="1" dirty="0"/>
              <a:t>Jihane Najar</a:t>
            </a:r>
            <a:endParaRPr sz="2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219ED-EEB4-8271-A939-A7E16BCDC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204" y="5269972"/>
            <a:ext cx="1185589" cy="519683"/>
          </a:xfrm>
          <a:prstGeom prst="rect">
            <a:avLst/>
          </a:prstGeom>
        </p:spPr>
      </p:pic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D5E5BC7-0660-68EC-CFA1-94AA97268320}"/>
              </a:ext>
            </a:extLst>
          </p:cNvPr>
          <p:cNvSpPr txBox="1">
            <a:spLocks noGrp="1"/>
          </p:cNvSpPr>
          <p:nvPr/>
        </p:nvSpPr>
        <p:spPr>
          <a:xfrm>
            <a:off x="259750" y="2062018"/>
            <a:ext cx="4520434" cy="863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2600" dirty="0"/>
              <a:t>Project Meeting </a:t>
            </a:r>
            <a:endParaRPr lang="en-US" dirty="0"/>
          </a:p>
          <a:p>
            <a:pPr marL="0" indent="0">
              <a:spcBef>
                <a:spcPts val="0"/>
              </a:spcBef>
            </a:pPr>
            <a:r>
              <a:rPr lang="en-US" sz="2000" i="1" dirty="0"/>
              <a:t>Graz, Austria</a:t>
            </a:r>
          </a:p>
          <a:p>
            <a:pPr marL="0" indent="0">
              <a:spcBef>
                <a:spcPts val="0"/>
              </a:spcBef>
            </a:pPr>
            <a:r>
              <a:rPr lang="en-US" sz="2000" i="1" dirty="0"/>
              <a:t>25-26 June 2025</a:t>
            </a:r>
          </a:p>
          <a:p>
            <a:pPr marL="0" indent="0">
              <a:spcBef>
                <a:spcPts val="0"/>
              </a:spcBef>
            </a:pPr>
            <a:endParaRPr lang="en-US" sz="20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66457691f_0_71"/>
          <p:cNvSpPr txBox="1">
            <a:spLocks noGrp="1"/>
          </p:cNvSpPr>
          <p:nvPr>
            <p:ph type="title"/>
          </p:nvPr>
        </p:nvSpPr>
        <p:spPr>
          <a:xfrm>
            <a:off x="6391934" y="2027208"/>
            <a:ext cx="4970700" cy="28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 dirty="0"/>
              <a:t>Outreach planning, Communication and Dissemination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dirty="0"/>
              <a:t>T2.1 - Objectives</a:t>
            </a:r>
            <a:endParaRPr dirty="0"/>
          </a:p>
        </p:txBody>
      </p:sp>
      <p:sp>
        <p:nvSpPr>
          <p:cNvPr id="171" name="Google Shape;171;p4"/>
          <p:cNvSpPr txBox="1">
            <a:spLocks noGrp="1"/>
          </p:cNvSpPr>
          <p:nvPr>
            <p:ph type="body" idx="1"/>
          </p:nvPr>
        </p:nvSpPr>
        <p:spPr>
          <a:xfrm>
            <a:off x="792294" y="2141537"/>
            <a:ext cx="106074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indent="-457200">
              <a:spcBef>
                <a:spcPts val="0"/>
              </a:spcBef>
              <a:buSzPts val="2800"/>
            </a:pPr>
            <a:r>
              <a:rPr lang="en-US" sz="2400" b="1" dirty="0"/>
              <a:t>Establish a structured framework</a:t>
            </a:r>
            <a:r>
              <a:rPr lang="en-US" sz="2400" dirty="0"/>
              <a:t> to document communication and dissemination efforts.</a:t>
            </a:r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sz="2400" b="1" dirty="0"/>
              <a:t>Develop a flexible and adaptive strategy</a:t>
            </a:r>
            <a:r>
              <a:rPr lang="en-US" sz="2400" dirty="0"/>
              <a:t> to adjust outreach efforts in real-time.</a:t>
            </a:r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sz="2400" b="1" dirty="0"/>
              <a:t>Ensure consistent communication</a:t>
            </a:r>
            <a:r>
              <a:rPr lang="en-US" sz="2400" dirty="0"/>
              <a:t> across various channels to keep stakeholders informed.</a:t>
            </a:r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sz="2400" b="1" dirty="0"/>
              <a:t>Enhance project visibility and outreach</a:t>
            </a:r>
            <a:r>
              <a:rPr lang="en-US" sz="2400" dirty="0"/>
              <a:t> through various tools and platforms to effectively engage the target audience.</a:t>
            </a:r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sz="2400" b="1" dirty="0"/>
              <a:t>Assess the impact</a:t>
            </a:r>
            <a:r>
              <a:rPr lang="en-US" sz="2400" dirty="0"/>
              <a:t> of these activities against the project's KPIs.</a:t>
            </a:r>
            <a:endParaRPr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2519EE-5E4F-9A82-1CEB-2E96D476B7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1F3C5-E644-DBB3-26FC-28E514D455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Graz Plenary Meeting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CD5E0-0CAE-E291-A0B9-E27EDA8605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D2E4C9-D53F-A3F7-31AF-AA313DBF3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968" y="1779516"/>
            <a:ext cx="8035257" cy="47670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1CAA90-22BE-7D19-F926-1C79D7004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8065" cy="1325563"/>
          </a:xfrm>
        </p:spPr>
        <p:txBody>
          <a:bodyPr/>
          <a:lstStyle/>
          <a:p>
            <a:r>
              <a:rPr lang="en-US" dirty="0"/>
              <a:t>Dissemination &amp; Communication Roadmap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9FE63-5277-B760-48CC-FAA1C30A35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6AE98-F13F-3B26-EE10-2EB73FC99F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011D1-B216-4DA0-1D0C-2D9F10C956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CF4B6A-BF91-E00B-11C8-179B8099383D}"/>
              </a:ext>
            </a:extLst>
          </p:cNvPr>
          <p:cNvSpPr/>
          <p:nvPr/>
        </p:nvSpPr>
        <p:spPr>
          <a:xfrm>
            <a:off x="4910023" y="1824466"/>
            <a:ext cx="2643526" cy="4615337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916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2440-4C19-BB52-8E59-B8B6EB0F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M6-M8</a:t>
            </a:r>
            <a:endParaRPr lang="de-DE" dirty="0"/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26382281-0302-7FED-DC07-FB8896FAC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518146"/>
              </p:ext>
            </p:extLst>
          </p:nvPr>
        </p:nvGraphicFramePr>
        <p:xfrm>
          <a:off x="1397672" y="1855363"/>
          <a:ext cx="9109947" cy="4202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7127">
                  <a:extLst>
                    <a:ext uri="{9D8B030D-6E8A-4147-A177-3AD203B41FA5}">
                      <a16:colId xmlns:a16="http://schemas.microsoft.com/office/drawing/2014/main" val="3845819533"/>
                    </a:ext>
                  </a:extLst>
                </a:gridCol>
                <a:gridCol w="1542966">
                  <a:extLst>
                    <a:ext uri="{9D8B030D-6E8A-4147-A177-3AD203B41FA5}">
                      <a16:colId xmlns:a16="http://schemas.microsoft.com/office/drawing/2014/main" val="1314058246"/>
                    </a:ext>
                  </a:extLst>
                </a:gridCol>
                <a:gridCol w="1469854">
                  <a:extLst>
                    <a:ext uri="{9D8B030D-6E8A-4147-A177-3AD203B41FA5}">
                      <a16:colId xmlns:a16="http://schemas.microsoft.com/office/drawing/2014/main" val="3586742040"/>
                    </a:ext>
                  </a:extLst>
                </a:gridCol>
              </a:tblGrid>
              <a:tr h="46169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Actions 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Month 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26362"/>
                  </a:ext>
                </a:extLst>
              </a:tr>
              <a:tr h="2961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b="1" baseline="30000" dirty="0">
                          <a:latin typeface="+mn-lt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 Press Release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M6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488517"/>
                  </a:ext>
                </a:extLst>
              </a:tr>
              <a:tr h="308618"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</a:t>
                      </a:r>
                      <a:r>
                        <a:rPr lang="en-US" sz="1400" b="1" i="0" u="none" strike="noStrike" cap="none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st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Introductory Video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latin typeface="+mn-lt"/>
                          <a:cs typeface="Times New Roman" panose="02020603050405020304" pitchFamily="18" charset="0"/>
                        </a:rPr>
                        <a:t>M6</a:t>
                      </a:r>
                      <a:endParaRPr lang="en-US" b="1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419507"/>
                  </a:ext>
                </a:extLst>
              </a:tr>
              <a:tr h="3576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D2.1</a:t>
                      </a:r>
                      <a:endParaRPr lang="en-US" sz="14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M6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6799"/>
                  </a:ext>
                </a:extLst>
              </a:tr>
              <a:tr h="461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Roll up Banner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M7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31579"/>
                  </a:ext>
                </a:extLst>
              </a:tr>
              <a:tr h="461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Flyer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M7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444208"/>
                  </a:ext>
                </a:extLst>
              </a:tr>
              <a:tr h="461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12 Blogs on the website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M7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2541"/>
                  </a:ext>
                </a:extLst>
              </a:tr>
              <a:tr h="461698"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1</a:t>
                      </a:r>
                      <a:r>
                        <a:rPr lang="en-US" sz="1400" b="1" i="0" u="none" strike="noStrike" cap="none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st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CoEvolution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Newsletter released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M8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919380"/>
                  </a:ext>
                </a:extLst>
              </a:tr>
              <a:tr h="461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Active on Social Media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484969"/>
                  </a:ext>
                </a:extLst>
              </a:tr>
              <a:tr h="461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Poster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M8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latin typeface="+mn-lt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57890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58EB7-3057-2332-8334-7BA45E367A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40725-302C-6B41-6436-BC85B43BD4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92529-BC8A-0832-CC31-681303ABFD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05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2D56-A5D7-FF49-0E51-8AD5CD25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Media Channels</a:t>
            </a:r>
            <a:endParaRPr lang="de-DE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CA244D7-B5D0-D96F-CB83-F5E0D1138AED}"/>
              </a:ext>
            </a:extLst>
          </p:cNvPr>
          <p:cNvGrpSpPr/>
          <p:nvPr/>
        </p:nvGrpSpPr>
        <p:grpSpPr>
          <a:xfrm>
            <a:off x="107009" y="1690688"/>
            <a:ext cx="2350677" cy="3609831"/>
            <a:chOff x="107009" y="1690688"/>
            <a:chExt cx="2350677" cy="360983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257A568-EAE0-F681-A6A2-21C71A60DFCA}"/>
                </a:ext>
              </a:extLst>
            </p:cNvPr>
            <p:cNvSpPr/>
            <p:nvPr/>
          </p:nvSpPr>
          <p:spPr>
            <a:xfrm>
              <a:off x="107009" y="1690688"/>
              <a:ext cx="2350677" cy="360983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43705F7-F297-9720-BB69-32C3AB459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673" y="1799709"/>
              <a:ext cx="478760" cy="478760"/>
            </a:xfrm>
            <a:prstGeom prst="rect">
              <a:avLst/>
            </a:prstGeom>
          </p:spPr>
        </p:pic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8BD0AA5-9647-551A-A68B-880259306403}"/>
                </a:ext>
              </a:extLst>
            </p:cNvPr>
            <p:cNvSpPr/>
            <p:nvPr/>
          </p:nvSpPr>
          <p:spPr>
            <a:xfrm>
              <a:off x="774731" y="2296601"/>
              <a:ext cx="1015232" cy="29155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Followers: 50</a:t>
              </a:r>
              <a:endParaRPr lang="de-DE" sz="900" dirty="0">
                <a:solidFill>
                  <a:schemeClr val="bg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90B5456-2E57-E169-3B74-3089806C3E38}"/>
                </a:ext>
              </a:extLst>
            </p:cNvPr>
            <p:cNvSpPr txBox="1"/>
            <p:nvPr/>
          </p:nvSpPr>
          <p:spPr>
            <a:xfrm>
              <a:off x="635860" y="1917971"/>
              <a:ext cx="169369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>
                  <a:hlinkClick r:id="rId3"/>
                </a:rPr>
                <a:t>https://x.com/coevolution_eu</a:t>
              </a:r>
              <a:r>
                <a:rPr lang="de-DE" sz="900" dirty="0"/>
                <a:t>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FCBB89C-717E-2064-81FB-477B5233A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489" y="2624537"/>
              <a:ext cx="2079997" cy="2428388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BB83115-29B4-0B35-22A0-DFE01F219B6C}"/>
              </a:ext>
            </a:extLst>
          </p:cNvPr>
          <p:cNvGrpSpPr/>
          <p:nvPr/>
        </p:nvGrpSpPr>
        <p:grpSpPr>
          <a:xfrm>
            <a:off x="2511501" y="1690843"/>
            <a:ext cx="2350677" cy="3609676"/>
            <a:chOff x="2511501" y="1690843"/>
            <a:chExt cx="2350677" cy="360967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6CB4C73-78DA-A29A-DDE7-659850F7F161}"/>
                </a:ext>
              </a:extLst>
            </p:cNvPr>
            <p:cNvSpPr/>
            <p:nvPr/>
          </p:nvSpPr>
          <p:spPr>
            <a:xfrm>
              <a:off x="2511501" y="1690843"/>
              <a:ext cx="2350677" cy="3609676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CE23ACDC-53A9-122C-ABBD-EDED1B85B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6061" y="1831197"/>
              <a:ext cx="447272" cy="447272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72A6588-7481-02E1-2770-028DD6E2F356}"/>
                </a:ext>
              </a:extLst>
            </p:cNvPr>
            <p:cNvSpPr/>
            <p:nvPr/>
          </p:nvSpPr>
          <p:spPr>
            <a:xfrm>
              <a:off x="3286988" y="2289909"/>
              <a:ext cx="1066154" cy="265092"/>
            </a:xfrm>
            <a:prstGeom prst="roundRect">
              <a:avLst/>
            </a:prstGeom>
            <a:solidFill>
              <a:schemeClr val="bg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Followers: 123</a:t>
              </a:r>
              <a:endParaRPr lang="de-DE" sz="9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3FEB016-B693-0DE6-E626-447080632788}"/>
                </a:ext>
              </a:extLst>
            </p:cNvPr>
            <p:cNvSpPr txBox="1"/>
            <p:nvPr/>
          </p:nvSpPr>
          <p:spPr>
            <a:xfrm>
              <a:off x="3097308" y="1882055"/>
              <a:ext cx="16936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>
                  <a:hlinkClick r:id="rId6"/>
                </a:rPr>
                <a:t>https://www.linkedin.com/company/106186299</a:t>
              </a:r>
              <a:r>
                <a:rPr lang="de-DE" sz="900" dirty="0"/>
                <a:t> 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D810612-C42D-28B8-BAC0-251E891BF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28273" y="2629032"/>
              <a:ext cx="2100758" cy="2419397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23D11B-B455-083D-8945-C7499C58466C}"/>
              </a:ext>
            </a:extLst>
          </p:cNvPr>
          <p:cNvGrpSpPr/>
          <p:nvPr/>
        </p:nvGrpSpPr>
        <p:grpSpPr>
          <a:xfrm>
            <a:off x="7320485" y="1690689"/>
            <a:ext cx="2410815" cy="3658896"/>
            <a:chOff x="7320485" y="1690689"/>
            <a:chExt cx="2410815" cy="365889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046EE5B-AAE9-B84B-377D-F60FDBB3C86B}"/>
                </a:ext>
              </a:extLst>
            </p:cNvPr>
            <p:cNvSpPr/>
            <p:nvPr/>
          </p:nvSpPr>
          <p:spPr>
            <a:xfrm>
              <a:off x="7320485" y="1690689"/>
              <a:ext cx="2350677" cy="365889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65374ED-A485-EE89-B178-0F351A023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31482" y="1863334"/>
              <a:ext cx="438128" cy="43812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7E909CC-8C68-0E25-D893-1C00AEBC3D81}"/>
                </a:ext>
              </a:extLst>
            </p:cNvPr>
            <p:cNvSpPr txBox="1"/>
            <p:nvPr/>
          </p:nvSpPr>
          <p:spPr>
            <a:xfrm>
              <a:off x="7888716" y="1895886"/>
              <a:ext cx="18425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>
                  <a:hlinkClick r:id="rId9"/>
                </a:rPr>
                <a:t>https://bsky.app/profile/coevolution-eu.bsky.social</a:t>
              </a:r>
              <a:r>
                <a:rPr lang="de-DE" sz="900" dirty="0"/>
                <a:t> 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E60010DC-D068-1D71-2EFF-EEB7A78CC5E1}"/>
                </a:ext>
              </a:extLst>
            </p:cNvPr>
            <p:cNvSpPr/>
            <p:nvPr/>
          </p:nvSpPr>
          <p:spPr>
            <a:xfrm>
              <a:off x="8138874" y="2289909"/>
              <a:ext cx="1023252" cy="253780"/>
            </a:xfrm>
            <a:prstGeom prst="roundRect">
              <a:avLst/>
            </a:prstGeom>
            <a:solidFill>
              <a:schemeClr val="bg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Followers: 13</a:t>
              </a:r>
              <a:endParaRPr lang="de-DE" sz="900" dirty="0">
                <a:solidFill>
                  <a:schemeClr val="bg1"/>
                </a:solidFill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CC4244E-2A38-BF86-A4BA-56B0709FE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653525" y="2579933"/>
              <a:ext cx="1778059" cy="2591635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F23F23-7B8E-2CDB-AEA6-FA5550DEDC37}"/>
              </a:ext>
            </a:extLst>
          </p:cNvPr>
          <p:cNvGrpSpPr/>
          <p:nvPr/>
        </p:nvGrpSpPr>
        <p:grpSpPr>
          <a:xfrm>
            <a:off x="4915993" y="1690688"/>
            <a:ext cx="2350677" cy="3658897"/>
            <a:chOff x="4915993" y="1690688"/>
            <a:chExt cx="2350677" cy="365889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AE3B251-E201-70B5-05AB-FD6C1C1147B2}"/>
                </a:ext>
              </a:extLst>
            </p:cNvPr>
            <p:cNvSpPr/>
            <p:nvPr/>
          </p:nvSpPr>
          <p:spPr>
            <a:xfrm>
              <a:off x="4915993" y="1690688"/>
              <a:ext cx="2350677" cy="365889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57375F5-2BB0-2DE9-DF82-36E269249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84560" y="1836703"/>
              <a:ext cx="491391" cy="49139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CEE39FD-1E30-AD41-5349-3DC96FFB10D4}"/>
                </a:ext>
              </a:extLst>
            </p:cNvPr>
            <p:cNvSpPr txBox="1"/>
            <p:nvPr/>
          </p:nvSpPr>
          <p:spPr>
            <a:xfrm>
              <a:off x="5420382" y="1897732"/>
              <a:ext cx="18366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>
                  <a:hlinkClick r:id="rId12"/>
                </a:rPr>
                <a:t>https://www.facebook.com/profile.php?id=61572810781073</a:t>
              </a:r>
              <a:r>
                <a:rPr lang="de-DE" sz="900" dirty="0"/>
                <a:t> 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4FE4822-0096-8E5E-E7A8-C67F7C7DA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915993" y="2643268"/>
              <a:ext cx="2295600" cy="2359289"/>
            </a:xfrm>
            <a:prstGeom prst="rect">
              <a:avLst/>
            </a:prstGeom>
          </p:spPr>
        </p:pic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7E7194D-94EB-8737-AE0A-57D4A2D319FA}"/>
                </a:ext>
              </a:extLst>
            </p:cNvPr>
            <p:cNvSpPr/>
            <p:nvPr/>
          </p:nvSpPr>
          <p:spPr>
            <a:xfrm>
              <a:off x="5620668" y="2328093"/>
              <a:ext cx="941327" cy="270795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Followers: 91</a:t>
              </a:r>
              <a:endParaRPr lang="de-DE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71BE19-F410-1713-2729-ACB185C6840D}"/>
              </a:ext>
            </a:extLst>
          </p:cNvPr>
          <p:cNvGrpSpPr/>
          <p:nvPr/>
        </p:nvGrpSpPr>
        <p:grpSpPr>
          <a:xfrm>
            <a:off x="9724977" y="1690688"/>
            <a:ext cx="2350677" cy="3658895"/>
            <a:chOff x="9724977" y="1690688"/>
            <a:chExt cx="2350677" cy="365889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F06655A-C321-B59D-E0EF-C7AAC76CE3F6}"/>
                </a:ext>
              </a:extLst>
            </p:cNvPr>
            <p:cNvSpPr/>
            <p:nvPr/>
          </p:nvSpPr>
          <p:spPr>
            <a:xfrm>
              <a:off x="9724977" y="1690688"/>
              <a:ext cx="2350677" cy="365889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652D64-190A-CE1D-32C9-600F948AC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851861" y="1844447"/>
              <a:ext cx="414141" cy="420771"/>
            </a:xfrm>
            <a:prstGeom prst="rect">
              <a:avLst/>
            </a:prstGeom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C9710D7-D457-2FB1-478C-E877D5795D72}"/>
                </a:ext>
              </a:extLst>
            </p:cNvPr>
            <p:cNvSpPr/>
            <p:nvPr/>
          </p:nvSpPr>
          <p:spPr>
            <a:xfrm>
              <a:off x="10422690" y="2303161"/>
              <a:ext cx="1090113" cy="25184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Subscribers: 17</a:t>
              </a:r>
              <a:endParaRPr lang="de-DE" sz="900" dirty="0">
                <a:solidFill>
                  <a:schemeClr val="bg1"/>
                </a:solidFill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5143940-4643-3A67-A65D-36F327255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1193" y="2690462"/>
              <a:ext cx="2265453" cy="1955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031B887-80FE-FB4F-80EE-D386B9D3AF14}"/>
                </a:ext>
              </a:extLst>
            </p:cNvPr>
            <p:cNvSpPr txBox="1"/>
            <p:nvPr/>
          </p:nvSpPr>
          <p:spPr>
            <a:xfrm>
              <a:off x="10266003" y="1863334"/>
              <a:ext cx="16957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b="0" i="0" u="sng" dirty="0">
                  <a:solidFill>
                    <a:srgbClr val="0563C1"/>
                  </a:solidFill>
                  <a:effectLst/>
                  <a:latin typeface="+mj-lt"/>
                  <a:ea typeface="Calibri" panose="020F0502020204030204" pitchFamily="34" charset="0"/>
                  <a:hlinkClick r:id="rId16"/>
                </a:rPr>
                <a:t>https://www.youtube.com/@CoEvolutionEUH2020</a:t>
              </a:r>
              <a:endParaRPr lang="de-DE" sz="900" dirty="0">
                <a:latin typeface="+mj-lt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62E7F-5F1D-D746-350D-258CF7631F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5663A-D9C2-B715-479C-02E091F5C1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634C6-28DE-F012-779C-1D19A151E3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83FC08-70EA-84EB-AA50-B77B64FFBD7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70180" y="5522131"/>
            <a:ext cx="3399430" cy="123795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AD615BB-91C8-D29F-D740-F886E623D1DE}"/>
              </a:ext>
            </a:extLst>
          </p:cNvPr>
          <p:cNvSpPr/>
          <p:nvPr/>
        </p:nvSpPr>
        <p:spPr>
          <a:xfrm>
            <a:off x="9791193" y="474853"/>
            <a:ext cx="2056004" cy="8832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Followers: 294/2000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Posts: 188</a:t>
            </a:r>
            <a:endParaRPr lang="en-DE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52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326216F-9C80-818D-6885-600DDA062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85" y="1693929"/>
            <a:ext cx="3406404" cy="34701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C1799F-AB15-7298-798E-1ED4C496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Media Posts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075E92-17E6-BB29-E006-8F4209078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463" y="3905648"/>
            <a:ext cx="3119840" cy="251684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016E8-0B75-9808-2A1B-93020D0314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CFEA1-95E5-A593-D0F9-19FE97C7F5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62487-51C8-E029-CA16-A7F3421353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F0E8D-BFDA-27B1-3A06-0B0783FB7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690688"/>
            <a:ext cx="3480960" cy="47041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A61943-05D8-69CC-AFFB-F095DDAC1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762" y="1742127"/>
            <a:ext cx="278216" cy="278216"/>
          </a:xfrm>
          <a:prstGeom prst="rect">
            <a:avLst/>
          </a:prstGeom>
        </p:spPr>
      </p:pic>
      <p:pic>
        <p:nvPicPr>
          <p:cNvPr id="17" name="Picture 16" descr="Logo, icon&#10;&#10;Description automatically generated">
            <a:extLst>
              <a:ext uri="{FF2B5EF4-FFF2-40B4-BE49-F238E27FC236}">
                <a16:creationId xmlns:a16="http://schemas.microsoft.com/office/drawing/2014/main" id="{508CB396-F08E-AB51-D6A6-C5C581104BF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086" y="1793999"/>
            <a:ext cx="289324" cy="2893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98BCFB-66FD-BC38-7CCA-0993EEB73D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63" y="3606667"/>
            <a:ext cx="297818" cy="2978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107CAD-10CD-BCC7-DBF6-68A17DE797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883" y="2089952"/>
            <a:ext cx="2564267" cy="39056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354DE78-DE37-14D1-62B9-BE2B0262BC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3356" y="2020343"/>
            <a:ext cx="313030" cy="31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1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53285D-3ADF-1A77-E206-D9A7374F0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101" y="1887758"/>
            <a:ext cx="5221222" cy="34825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FCC6BE-F417-B178-71CE-0B51D42B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Media Plan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F26E3-5724-EF24-B08C-AED03C3F7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219" y="1600841"/>
            <a:ext cx="10005342" cy="4949616"/>
          </a:xfrm>
        </p:spPr>
        <p:txBody>
          <a:bodyPr>
            <a:normAutofit/>
          </a:bodyPr>
          <a:lstStyle/>
          <a:p>
            <a:r>
              <a:rPr lang="en-US" sz="1800" b="1" dirty="0"/>
              <a:t>Posting plan: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2 posts per week to ensure consistent engagement and visibility.</a:t>
            </a:r>
            <a:endParaRPr lang="en-US" sz="1800" dirty="0"/>
          </a:p>
          <a:p>
            <a:r>
              <a:rPr lang="en-US" sz="1800" b="1" dirty="0"/>
              <a:t>Progress So Far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</a:t>
            </a:r>
            <a:r>
              <a:rPr lang="en-US" sz="1600" b="1" baseline="30000" dirty="0"/>
              <a:t>st</a:t>
            </a:r>
            <a:r>
              <a:rPr lang="en-US" sz="1600" b="1" dirty="0"/>
              <a:t> campaign</a:t>
            </a:r>
            <a:r>
              <a:rPr lang="en-US" sz="1600" dirty="0"/>
              <a:t>: Introduction of all project partners (AVL, BEVD)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Introducing the project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Report Participation to events</a:t>
            </a:r>
          </a:p>
          <a:p>
            <a:r>
              <a:rPr lang="en-US" sz="1800" b="1" dirty="0"/>
              <a:t>What’s Next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Continuing to post about the </a:t>
            </a:r>
            <a:r>
              <a:rPr lang="en-US" sz="1600" b="1" dirty="0"/>
              <a:t>CoEvolution project</a:t>
            </a:r>
            <a:r>
              <a:rPr lang="en-US" sz="1600" dirty="0"/>
              <a:t>, focusing on: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Informing the public about our objectives.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Highlighting upcoming activities and achievements.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Sharing relevant updates to keep stakeholders engaged.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800" b="1" dirty="0"/>
              <a:t>Your support is needed!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Partners are kindly requested to provide content for social media posts (once per month).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Use this form to submit your contributions: </a:t>
            </a:r>
            <a:r>
              <a:rPr lang="en-US" sz="1600" dirty="0">
                <a:hlinkClick r:id="rId3"/>
              </a:rPr>
              <a:t>https://coevolution-project.eu/contribution-to-coevolution-social-media-form/</a:t>
            </a:r>
            <a:r>
              <a:rPr lang="en-US" sz="1600" dirty="0"/>
              <a:t> </a:t>
            </a:r>
            <a:endParaRPr lang="de-DE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E1FD5-591E-CD3B-D3CC-C1FC4AF50B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9953A-C0C7-C8DB-0090-CC056B48FF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013F8-050D-DA86-A32A-5BE4215F95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8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616D5-CB04-7B15-0739-D470B87BC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CoEvolution Dissemination Materials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F5DCB-743C-A6FB-95D1-FEA7066884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0744D-AC07-FB84-EA4F-D32A115096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32ABC-1286-C1D5-1251-EADCFFEC44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82F8C-8B5F-A388-2528-2D4CC54AA1FA}"/>
              </a:ext>
            </a:extLst>
          </p:cNvPr>
          <p:cNvSpPr txBox="1"/>
          <p:nvPr/>
        </p:nvSpPr>
        <p:spPr>
          <a:xfrm>
            <a:off x="95153" y="3684411"/>
            <a:ext cx="2821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linkClick r:id="rId3"/>
              </a:rPr>
              <a:t>CoEvolution Website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linkClick r:id="rId4"/>
              </a:rPr>
              <a:t>Sharepoint</a:t>
            </a:r>
            <a:endParaRPr lang="en-DE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31CFB0-B1C9-D13F-236A-58B936371C5B}"/>
              </a:ext>
            </a:extLst>
          </p:cNvPr>
          <p:cNvGrpSpPr/>
          <p:nvPr/>
        </p:nvGrpSpPr>
        <p:grpSpPr>
          <a:xfrm>
            <a:off x="3702918" y="1690688"/>
            <a:ext cx="8431300" cy="4038172"/>
            <a:chOff x="2580502" y="1863469"/>
            <a:chExt cx="9454042" cy="449288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3917C-DF2C-FB1D-2C0C-C8D06B3298C4}"/>
                </a:ext>
              </a:extLst>
            </p:cNvPr>
            <p:cNvSpPr/>
            <p:nvPr/>
          </p:nvSpPr>
          <p:spPr>
            <a:xfrm>
              <a:off x="2580502" y="1863469"/>
              <a:ext cx="9454042" cy="44928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8686EC3-3324-833A-03F0-B4A5D73B6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745" y="2436320"/>
              <a:ext cx="3934529" cy="309639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83F9EC7-232B-BCEE-1193-D93BDC888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02218" y="1958245"/>
              <a:ext cx="1782416" cy="434881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B5E0758-70BB-A396-797C-8EEC9560F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74221" y="1996406"/>
              <a:ext cx="3028015" cy="4283812"/>
            </a:xfrm>
            <a:prstGeom prst="rect">
              <a:avLst/>
            </a:prstGeom>
          </p:spPr>
        </p:pic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B45C2E-D014-5418-FC3F-5C7195114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264124"/>
              </p:ext>
            </p:extLst>
          </p:nvPr>
        </p:nvGraphicFramePr>
        <p:xfrm>
          <a:off x="57782" y="5555400"/>
          <a:ext cx="5510595" cy="876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3235">
                  <a:extLst>
                    <a:ext uri="{9D8B030D-6E8A-4147-A177-3AD203B41FA5}">
                      <a16:colId xmlns:a16="http://schemas.microsoft.com/office/drawing/2014/main" val="783400854"/>
                    </a:ext>
                  </a:extLst>
                </a:gridCol>
                <a:gridCol w="3376812">
                  <a:extLst>
                    <a:ext uri="{9D8B030D-6E8A-4147-A177-3AD203B41FA5}">
                      <a16:colId xmlns:a16="http://schemas.microsoft.com/office/drawing/2014/main" val="2550698484"/>
                    </a:ext>
                  </a:extLst>
                </a:gridCol>
                <a:gridCol w="779276">
                  <a:extLst>
                    <a:ext uri="{9D8B030D-6E8A-4147-A177-3AD203B41FA5}">
                      <a16:colId xmlns:a16="http://schemas.microsoft.com/office/drawing/2014/main" val="311084191"/>
                    </a:ext>
                  </a:extLst>
                </a:gridCol>
                <a:gridCol w="771272">
                  <a:extLst>
                    <a:ext uri="{9D8B030D-6E8A-4147-A177-3AD203B41FA5}">
                      <a16:colId xmlns:a16="http://schemas.microsoft.com/office/drawing/2014/main" val="1981667117"/>
                    </a:ext>
                  </a:extLst>
                </a:gridCol>
              </a:tblGrid>
              <a:tr h="21920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Promotional material KPIs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de-DE" sz="1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682576"/>
                  </a:ext>
                </a:extLst>
              </a:tr>
              <a:tr h="438403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34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No. of hard copies (i.e., brochures, flyers, posters, etc.) distributed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&gt;2.000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614515"/>
                  </a:ext>
                </a:extLst>
              </a:tr>
              <a:tr h="219201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KPI 35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</a:rPr>
                        <a:t>Roll-up Banners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</a:rPr>
                        <a:t>&gt;4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93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55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EC3E-A006-24F4-325F-638FBA19F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729" y="355753"/>
            <a:ext cx="10825460" cy="1325563"/>
          </a:xfrm>
        </p:spPr>
        <p:txBody>
          <a:bodyPr/>
          <a:lstStyle/>
          <a:p>
            <a:r>
              <a:rPr lang="en-US" dirty="0" err="1"/>
              <a:t>CoEvolution</a:t>
            </a:r>
            <a:r>
              <a:rPr lang="en-US" dirty="0"/>
              <a:t> D&amp;C Tracker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891F83-5761-B660-BD1D-1E55B58F0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801" y="1681316"/>
            <a:ext cx="11699860" cy="51766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/>
              <a:t>Purpose</a:t>
            </a:r>
          </a:p>
          <a:p>
            <a:pPr lvl="1"/>
            <a:r>
              <a:rPr lang="en-US" sz="1700" dirty="0"/>
              <a:t>Ensure </a:t>
            </a:r>
            <a:r>
              <a:rPr lang="en-US" sz="1700" b="1" dirty="0"/>
              <a:t>efficient reporting and documentation</a:t>
            </a:r>
            <a:r>
              <a:rPr lang="en-US" sz="1700" dirty="0"/>
              <a:t> of dissemination and communication activities.</a:t>
            </a:r>
          </a:p>
          <a:p>
            <a:pPr lvl="1"/>
            <a:r>
              <a:rPr lang="en-US" sz="1700" dirty="0"/>
              <a:t>Centralize all project-related contributions in one location.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900" b="1" dirty="0"/>
              <a:t>Partner Responsibilities</a:t>
            </a:r>
          </a:p>
          <a:p>
            <a:pPr lvl="1"/>
            <a:r>
              <a:rPr lang="en-US" sz="1700" dirty="0"/>
              <a:t>All partners are expected to </a:t>
            </a:r>
            <a:r>
              <a:rPr lang="en-US" sz="1700" b="1" dirty="0"/>
              <a:t>update the tracker regularly</a:t>
            </a:r>
            <a:r>
              <a:rPr lang="en-US" sz="1700" dirty="0"/>
              <a:t>.</a:t>
            </a:r>
          </a:p>
          <a:p>
            <a:pPr lvl="1"/>
            <a:r>
              <a:rPr lang="en-US" sz="1700" dirty="0"/>
              <a:t>Access the tracker file </a:t>
            </a:r>
            <a:r>
              <a:rPr lang="en-US" sz="1700" dirty="0">
                <a:hlinkClick r:id="rId2"/>
              </a:rPr>
              <a:t>here</a:t>
            </a:r>
            <a:r>
              <a:rPr lang="en-US" sz="1700" dirty="0"/>
              <a:t>.</a:t>
            </a:r>
          </a:p>
          <a:p>
            <a:pPr lvl="1"/>
            <a:endParaRPr lang="en-US" sz="1600" dirty="0"/>
          </a:p>
          <a:p>
            <a:pPr marL="114300" indent="0">
              <a:buNone/>
            </a:pPr>
            <a:r>
              <a:rPr lang="en-US" sz="1900" b="1" dirty="0"/>
              <a:t>Tracker Structure</a:t>
            </a:r>
          </a:p>
          <a:p>
            <a:pPr lvl="1"/>
            <a:r>
              <a:rPr lang="en-US" sz="1700" b="1" dirty="0"/>
              <a:t>Publications: </a:t>
            </a:r>
            <a:r>
              <a:rPr lang="en-US" sz="1700" dirty="0"/>
              <a:t>Record any publications acknowledging the CoEvolution project (Ensure all columns are completed).</a:t>
            </a:r>
          </a:p>
          <a:p>
            <a:pPr lvl="1"/>
            <a:r>
              <a:rPr lang="en-US" sz="1700" b="1" dirty="0"/>
              <a:t>Attended Events: </a:t>
            </a:r>
            <a:r>
              <a:rPr lang="en-US" sz="1700" dirty="0"/>
              <a:t>Report events where CoEvolution was presented including (Ensure all columns are completed and uploading photos is mandatory).</a:t>
            </a:r>
          </a:p>
          <a:p>
            <a:pPr lvl="1"/>
            <a:r>
              <a:rPr lang="de-DE" sz="1700" b="1" dirty="0"/>
              <a:t>Future events: </a:t>
            </a:r>
            <a:r>
              <a:rPr lang="en-US" sz="1700" dirty="0"/>
              <a:t>Lists upcoming events that may be of interest to the CoEvolution project and partners</a:t>
            </a:r>
            <a:endParaRPr lang="de-DE" sz="1700" dirty="0"/>
          </a:p>
          <a:p>
            <a:pPr lvl="1"/>
            <a:r>
              <a:rPr lang="en-US" sz="1700" b="1" dirty="0"/>
              <a:t>Dissemination Materials: </a:t>
            </a:r>
            <a:r>
              <a:rPr lang="en-US" sz="1700" dirty="0"/>
              <a:t>List materials created by your organization that mention CoEvolution.</a:t>
            </a:r>
          </a:p>
          <a:p>
            <a:pPr lvl="1"/>
            <a:r>
              <a:rPr lang="en-US" sz="1700" b="1" dirty="0"/>
              <a:t>Collaborations</a:t>
            </a:r>
            <a:r>
              <a:rPr lang="en-US" sz="1700" dirty="0"/>
              <a:t>: Document interactions with other projects or initiatives (</a:t>
            </a:r>
            <a:r>
              <a:rPr lang="en-US" sz="1700" b="1" dirty="0"/>
              <a:t>managed by ISI</a:t>
            </a:r>
            <a:r>
              <a:rPr lang="en-US" sz="1700" dirty="0"/>
              <a:t>).</a:t>
            </a:r>
          </a:p>
          <a:p>
            <a:pPr lvl="1"/>
            <a:r>
              <a:rPr lang="en-US" sz="1700" b="1" dirty="0"/>
              <a:t>Social Media Posts</a:t>
            </a:r>
            <a:r>
              <a:rPr lang="en-US" sz="1700" dirty="0"/>
              <a:t>: Record social media posts related to the project, including links.</a:t>
            </a:r>
          </a:p>
          <a:p>
            <a:pPr lvl="1"/>
            <a:r>
              <a:rPr lang="en-US" sz="1700" b="1" dirty="0"/>
              <a:t>Blog Articles</a:t>
            </a:r>
            <a:r>
              <a:rPr lang="en-US" sz="1700" dirty="0"/>
              <a:t>: Include details about published or planned blog articles for the website.</a:t>
            </a:r>
          </a:p>
          <a:p>
            <a:pPr lvl="1"/>
            <a:r>
              <a:rPr lang="en-US" sz="1700" b="1" dirty="0"/>
              <a:t>OS Repositories</a:t>
            </a:r>
            <a:r>
              <a:rPr lang="en-US" sz="1700" dirty="0"/>
              <a:t>: add all Open Source Repositories</a:t>
            </a:r>
          </a:p>
          <a:p>
            <a:pPr lvl="1"/>
            <a:endParaRPr lang="en-US" sz="1600" dirty="0"/>
          </a:p>
          <a:p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010522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C792B5F-685C-35D0-1FDF-1616AF95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483961"/>
            <a:ext cx="4114800" cy="39431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1102BD-C8E5-D145-7C6E-C331225A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– Events &amp; News Blogs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6DB49-4D25-F9AA-C5AE-8AF838DCDB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ED568-168B-25EF-7A14-F9A88634EA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4C128-8B1B-2A33-5586-20327A5E0C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3A1919-5DE7-7DB4-79C2-EFEE4E8C9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300" y="2600969"/>
            <a:ext cx="7989963" cy="343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75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7A59E-8104-95B3-AB46-7D95FE19B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18B1-A75C-5DE1-91E6-2A0E5E16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05" y="248116"/>
            <a:ext cx="11995540" cy="1325563"/>
          </a:xfrm>
        </p:spPr>
        <p:txBody>
          <a:bodyPr>
            <a:normAutofit/>
          </a:bodyPr>
          <a:lstStyle/>
          <a:p>
            <a:r>
              <a:rPr lang="fr-FR" dirty="0" err="1"/>
              <a:t>Website</a:t>
            </a:r>
            <a:r>
              <a:rPr lang="fr-FR" dirty="0"/>
              <a:t> Engagement &amp; </a:t>
            </a:r>
            <a:r>
              <a:rPr lang="fr-FR" dirty="0" err="1"/>
              <a:t>Technical</a:t>
            </a:r>
            <a:r>
              <a:rPr lang="fr-FR" dirty="0"/>
              <a:t> Content Plan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33406-B232-A5CB-2FA8-9818E6DC67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84B79-377E-DE8A-3362-2ACE99C2C5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3B40-7B92-00A0-D19D-1D4C2FE1DF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7" name="Google Shape;171;p4">
            <a:extLst>
              <a:ext uri="{FF2B5EF4-FFF2-40B4-BE49-F238E27FC236}">
                <a16:creationId xmlns:a16="http://schemas.microsoft.com/office/drawing/2014/main" id="{57F022A8-35F1-028F-7C09-A5068D18E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2275249"/>
            <a:ext cx="7029255" cy="37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en-US" sz="1800" b="1" dirty="0"/>
              <a:t>Objective</a:t>
            </a:r>
            <a:r>
              <a:rPr lang="en-US" sz="1800" dirty="0"/>
              <a:t>: Reach the following KPIs by M36</a:t>
            </a:r>
          </a:p>
          <a:p>
            <a:r>
              <a:rPr lang="en-US" sz="1800" b="1" dirty="0"/>
              <a:t>KPI 3</a:t>
            </a:r>
            <a:r>
              <a:rPr lang="en-US" sz="1800" dirty="0"/>
              <a:t>: ≥ 10 Published Technical Articles</a:t>
            </a:r>
          </a:p>
          <a:p>
            <a:r>
              <a:rPr lang="en-US" sz="1800" b="1" dirty="0"/>
              <a:t>KPI 24</a:t>
            </a:r>
            <a:r>
              <a:rPr lang="en-US" sz="1800" dirty="0"/>
              <a:t>: &gt; 10,000 Website Visitors</a:t>
            </a:r>
          </a:p>
          <a:p>
            <a:pPr marL="17780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sz="1800" b="1" dirty="0"/>
          </a:p>
          <a:p>
            <a:pPr marL="17780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1800" b="1" dirty="0"/>
              <a:t>Blog Articles Series - Plan</a:t>
            </a:r>
          </a:p>
          <a:p>
            <a:pPr marL="977900" lvl="1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1800" dirty="0"/>
              <a:t>1 Article per month (Follow the GA order)</a:t>
            </a:r>
            <a:endParaRPr lang="en-US" sz="1800" b="1" dirty="0"/>
          </a:p>
          <a:p>
            <a:pPr marL="977900" lvl="1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00" b="1" dirty="0"/>
              <a:t>Technical Articles</a:t>
            </a:r>
            <a:endParaRPr lang="de-DE" sz="1800" dirty="0"/>
          </a:p>
          <a:p>
            <a:pPr marL="114300" indent="0">
              <a:buNone/>
            </a:pPr>
            <a:r>
              <a:rPr lang="en-US" sz="1800" b="1" dirty="0"/>
              <a:t>Guidelines:</a:t>
            </a:r>
            <a:endParaRPr lang="en-US" sz="1800" dirty="0"/>
          </a:p>
          <a:p>
            <a:r>
              <a:rPr lang="en-US" sz="1800" dirty="0"/>
              <a:t>Each article should be </a:t>
            </a:r>
            <a:r>
              <a:rPr lang="en-US" sz="1800" b="1" dirty="0"/>
              <a:t>1–2 pages maximum</a:t>
            </a:r>
            <a:endParaRPr lang="en-US" sz="1800" dirty="0"/>
          </a:p>
          <a:p>
            <a:r>
              <a:rPr lang="en-US" sz="1800" b="1" dirty="0"/>
              <a:t>Topic</a:t>
            </a:r>
            <a:r>
              <a:rPr lang="en-US" sz="1800" dirty="0"/>
              <a:t> is up to each partner and should reflect their area of expertise</a:t>
            </a:r>
          </a:p>
          <a:p>
            <a:r>
              <a:rPr lang="en-US" sz="1800" b="1" dirty="0"/>
              <a:t>Technical partners and academic institutions</a:t>
            </a:r>
            <a:r>
              <a:rPr lang="en-US" sz="1800" dirty="0"/>
              <a:t> must include </a:t>
            </a:r>
            <a:r>
              <a:rPr lang="en-US" sz="1800" b="1" dirty="0"/>
              <a:t>technical content</a:t>
            </a:r>
            <a:endParaRPr lang="en-US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99FCE0-9842-F470-A68B-D320C5B81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204104"/>
              </p:ext>
            </p:extLst>
          </p:nvPr>
        </p:nvGraphicFramePr>
        <p:xfrm>
          <a:off x="7440189" y="2351129"/>
          <a:ext cx="3622722" cy="4295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1361">
                  <a:extLst>
                    <a:ext uri="{9D8B030D-6E8A-4147-A177-3AD203B41FA5}">
                      <a16:colId xmlns:a16="http://schemas.microsoft.com/office/drawing/2014/main" val="581214717"/>
                    </a:ext>
                  </a:extLst>
                </a:gridCol>
                <a:gridCol w="1811361">
                  <a:extLst>
                    <a:ext uri="{9D8B030D-6E8A-4147-A177-3AD203B41FA5}">
                      <a16:colId xmlns:a16="http://schemas.microsoft.com/office/drawing/2014/main" val="1128470292"/>
                    </a:ext>
                  </a:extLst>
                </a:gridCol>
              </a:tblGrid>
              <a:tr h="3155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ICCS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July 2025</a:t>
                      </a:r>
                    </a:p>
                  </a:txBody>
                  <a:tcPr marL="5443" marR="5443" marT="5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537812"/>
                  </a:ext>
                </a:extLst>
              </a:tr>
              <a:tr h="2928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UNICA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August 2025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05681"/>
                  </a:ext>
                </a:extLst>
              </a:tr>
              <a:tr h="2711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ISI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September 2025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109814"/>
                  </a:ext>
                </a:extLst>
              </a:tr>
              <a:tr h="2657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SIE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October 2025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428397"/>
                  </a:ext>
                </a:extLst>
              </a:tr>
              <a:tr h="2928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AEGIS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November 2025 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758917"/>
                  </a:ext>
                </a:extLst>
              </a:tr>
              <a:tr h="2657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TID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December 2025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33712"/>
                  </a:ext>
                </a:extLst>
              </a:tr>
              <a:tr h="3090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UNIPI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January 2026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407993"/>
                  </a:ext>
                </a:extLst>
              </a:tr>
              <a:tr h="2982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SLC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February 2026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967896"/>
                  </a:ext>
                </a:extLst>
              </a:tr>
              <a:tr h="276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AVL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March 2026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903178"/>
                  </a:ext>
                </a:extLst>
              </a:tr>
              <a:tr h="3241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AVI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April 2026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697147"/>
                  </a:ext>
                </a:extLst>
              </a:tr>
              <a:tr h="2888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DIE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May 2026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57457"/>
                  </a:ext>
                </a:extLst>
              </a:tr>
              <a:tr h="3401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CBRL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June 2026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188666"/>
                  </a:ext>
                </a:extLst>
              </a:tr>
              <a:tr h="271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STS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July 2026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214614"/>
                  </a:ext>
                </a:extLst>
              </a:tr>
              <a:tr h="2028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BEVD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August 2026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081740"/>
                  </a:ext>
                </a:extLst>
              </a:tr>
              <a:tr h="279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Upatras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September 2026</a:t>
                      </a: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54614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961918C-0DBD-0D28-02BD-04754A19F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189" y="978275"/>
            <a:ext cx="3326968" cy="166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62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FE0DA5B-D8D6-18BE-85D4-15EBC0E70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975" y="301106"/>
            <a:ext cx="3660462" cy="21989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047535-B734-C949-24EE-E03F85F2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&amp; SM KPIs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B4BC2-E7CC-8198-C4A0-E108676A4B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2BCF-5306-AA8B-4731-6476890928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E0874-978B-66F5-1E04-23A06365D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EB24B8-37B7-FEE3-47E2-DF4D81F4F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884955"/>
              </p:ext>
            </p:extLst>
          </p:nvPr>
        </p:nvGraphicFramePr>
        <p:xfrm>
          <a:off x="182890" y="2639538"/>
          <a:ext cx="6911294" cy="29481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4520">
                  <a:extLst>
                    <a:ext uri="{9D8B030D-6E8A-4147-A177-3AD203B41FA5}">
                      <a16:colId xmlns:a16="http://schemas.microsoft.com/office/drawing/2014/main" val="978416873"/>
                    </a:ext>
                  </a:extLst>
                </a:gridCol>
                <a:gridCol w="3947955">
                  <a:extLst>
                    <a:ext uri="{9D8B030D-6E8A-4147-A177-3AD203B41FA5}">
                      <a16:colId xmlns:a16="http://schemas.microsoft.com/office/drawing/2014/main" val="727229536"/>
                    </a:ext>
                  </a:extLst>
                </a:gridCol>
                <a:gridCol w="1148417">
                  <a:extLst>
                    <a:ext uri="{9D8B030D-6E8A-4147-A177-3AD203B41FA5}">
                      <a16:colId xmlns:a16="http://schemas.microsoft.com/office/drawing/2014/main" val="5345042"/>
                    </a:ext>
                  </a:extLst>
                </a:gridCol>
                <a:gridCol w="940402">
                  <a:extLst>
                    <a:ext uri="{9D8B030D-6E8A-4147-A177-3AD203B41FA5}">
                      <a16:colId xmlns:a16="http://schemas.microsoft.com/office/drawing/2014/main" val="4169504529"/>
                    </a:ext>
                  </a:extLst>
                </a:gridCol>
              </a:tblGrid>
              <a:tr h="22678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Project Website KPIs</a:t>
                      </a:r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14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M7 Status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361199"/>
                  </a:ext>
                </a:extLst>
              </a:tr>
              <a:tr h="226783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KPI 23</a:t>
                      </a:r>
                      <a:endParaRPr lang="de-DE" sz="12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Online </a:t>
                      </a:r>
                      <a:r>
                        <a:rPr lang="de-DE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by</a:t>
                      </a:r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M01</a:t>
                      </a:r>
                      <a:endParaRPr lang="en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M1</a:t>
                      </a:r>
                      <a:endParaRPr lang="de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de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620309"/>
                  </a:ext>
                </a:extLst>
              </a:tr>
              <a:tr h="226783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KPI 24</a:t>
                      </a:r>
                      <a:endParaRPr lang="de-DE" sz="12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Visitors at M36</a:t>
                      </a:r>
                      <a:endParaRPr lang="en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&gt;10.000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926</a:t>
                      </a:r>
                      <a:endParaRPr lang="de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61212"/>
                  </a:ext>
                </a:extLst>
              </a:tr>
              <a:tr h="22678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Social</a:t>
                      </a:r>
                      <a:r>
                        <a:rPr lang="de-DE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Media KPIs</a:t>
                      </a:r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97229"/>
                  </a:ext>
                </a:extLst>
              </a:tr>
              <a:tr h="226783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KPI 25</a:t>
                      </a:r>
                      <a:endParaRPr lang="de-DE" sz="12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Social media followers (by M36)</a:t>
                      </a:r>
                      <a:endParaRPr lang="en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&gt;2.000</a:t>
                      </a:r>
                      <a:endParaRPr lang="de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275</a:t>
                      </a:r>
                      <a:endParaRPr lang="de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81187"/>
                  </a:ext>
                </a:extLst>
              </a:tr>
              <a:tr h="226783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KPI 26</a:t>
                      </a:r>
                      <a:endParaRPr lang="de-DE" sz="12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No. of impressions (monthly average)</a:t>
                      </a:r>
                      <a:endParaRPr lang="en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&gt;500</a:t>
                      </a:r>
                      <a:endParaRPr lang="de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3234</a:t>
                      </a:r>
                      <a:endParaRPr lang="de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712982"/>
                  </a:ext>
                </a:extLst>
              </a:tr>
              <a:tr h="22678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e-Newsletters and Email Campaigns KPIs</a:t>
                      </a:r>
                      <a:endParaRPr lang="en-US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813340"/>
                  </a:ext>
                </a:extLst>
              </a:tr>
              <a:tr h="226783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KPI 27</a:t>
                      </a:r>
                      <a:endParaRPr lang="de-DE" sz="12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e-Newsletters </a:t>
                      </a:r>
                      <a:r>
                        <a:rPr lang="de-DE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contributed</a:t>
                      </a:r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de-DE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released</a:t>
                      </a:r>
                      <a:endParaRPr lang="en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  <a:endParaRPr lang="de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626210"/>
                  </a:ext>
                </a:extLst>
              </a:tr>
              <a:tr h="226783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Arial"/>
                        </a:rPr>
                        <a:t>KPI 28</a:t>
                      </a:r>
                      <a:endParaRPr lang="de-DE" sz="1200" b="1" i="0" u="none" strike="noStrike" cap="none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Total Mailing List Contact Points</a:t>
                      </a:r>
                      <a:endParaRPr lang="en-DE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&gt;1.000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207629"/>
                  </a:ext>
                </a:extLst>
              </a:tr>
              <a:tr h="22678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Multimedia KPIs</a:t>
                      </a:r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137505"/>
                  </a:ext>
                </a:extLst>
              </a:tr>
              <a:tr h="226783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36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Number of promotional videos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&gt;3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912790"/>
                  </a:ext>
                </a:extLst>
              </a:tr>
              <a:tr h="226783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37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Number of interviews produced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&gt;6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757223"/>
                  </a:ext>
                </a:extLst>
              </a:tr>
              <a:tr h="226783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38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views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&gt;3.000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33422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4CD4B51-2F3F-B7FC-54C3-D1A677088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278" y="4321997"/>
            <a:ext cx="3337839" cy="2005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D7D18D-AED9-26B4-D9D6-90865A2E5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209" y="2834059"/>
            <a:ext cx="279394" cy="279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A121F8-119F-1896-4FB8-3D7991C7E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815" y="3744125"/>
            <a:ext cx="279394" cy="2793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EB4580-CDB1-1D93-D244-85AF01DA0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781" y="2241217"/>
            <a:ext cx="3408850" cy="208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03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8CDA-2DB5-2456-1725-F66AD7F3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CoEvolution Community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91635-C2CD-C32E-19A0-4FB8DBCDF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3324" y="1816364"/>
            <a:ext cx="6081556" cy="4351338"/>
          </a:xfrm>
        </p:spPr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https://coevolution-project.eu/stay-connected-with-the-coevolution-project/</a:t>
            </a:r>
            <a:r>
              <a:rPr lang="en-US" sz="2000" dirty="0"/>
              <a:t> </a:t>
            </a:r>
          </a:p>
          <a:p>
            <a:r>
              <a:rPr lang="en-US" sz="2000" b="1" dirty="0"/>
              <a:t>KPI 28: </a:t>
            </a:r>
            <a:r>
              <a:rPr lang="de-DE" sz="2000" u="none" strike="noStrike" dirty="0">
                <a:effectLst/>
              </a:rPr>
              <a:t>&gt;1.000</a:t>
            </a:r>
            <a:r>
              <a:rPr lang="de-DE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de-DE" sz="2000" u="none" strike="noStrike" dirty="0">
                <a:effectLst/>
              </a:rPr>
              <a:t>Total Mailing List Contact Points</a:t>
            </a:r>
            <a:endParaRPr lang="de-DE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DE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A2366-DA28-D834-A8FB-949ABF4B1A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7D71F-A450-0639-090F-822F38AC75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04EBA-9C28-0987-F6DD-618B2CC494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4CAE99-0FCF-FDEA-420F-63B971DB7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83" y="1690688"/>
            <a:ext cx="4926702" cy="5094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64C7A3-5AD6-53C2-20FF-40E11901F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134" y="3429000"/>
            <a:ext cx="3770275" cy="282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48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3B47-643C-72C7-7D67-D24D02D7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in Events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D351E-71BF-8B38-55C5-E8BD37E899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CD4D1-B5BF-01D9-ED25-42B4C9A241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67004-0105-4D6F-9728-84917F5C7E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30F204-C045-9034-B7CE-D8A8FB470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837997"/>
              </p:ext>
            </p:extLst>
          </p:nvPr>
        </p:nvGraphicFramePr>
        <p:xfrm>
          <a:off x="463701" y="2146386"/>
          <a:ext cx="10756118" cy="95673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39097">
                  <a:extLst>
                    <a:ext uri="{9D8B030D-6E8A-4147-A177-3AD203B41FA5}">
                      <a16:colId xmlns:a16="http://schemas.microsoft.com/office/drawing/2014/main" val="471085164"/>
                    </a:ext>
                  </a:extLst>
                </a:gridCol>
                <a:gridCol w="1144084">
                  <a:extLst>
                    <a:ext uri="{9D8B030D-6E8A-4147-A177-3AD203B41FA5}">
                      <a16:colId xmlns:a16="http://schemas.microsoft.com/office/drawing/2014/main" val="3225358191"/>
                    </a:ext>
                  </a:extLst>
                </a:gridCol>
                <a:gridCol w="6569161">
                  <a:extLst>
                    <a:ext uri="{9D8B030D-6E8A-4147-A177-3AD203B41FA5}">
                      <a16:colId xmlns:a16="http://schemas.microsoft.com/office/drawing/2014/main" val="1029506681"/>
                    </a:ext>
                  </a:extLst>
                </a:gridCol>
                <a:gridCol w="1703776">
                  <a:extLst>
                    <a:ext uri="{9D8B030D-6E8A-4147-A177-3AD203B41FA5}">
                      <a16:colId xmlns:a16="http://schemas.microsoft.com/office/drawing/2014/main" val="981958233"/>
                    </a:ext>
                  </a:extLst>
                </a:gridCol>
              </a:tblGrid>
              <a:tr h="271860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50000"/>
                        </a:lnSpc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Industrial Panels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anchor="ctr"/>
                </a:tc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5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Participation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938" marR="1938" marT="1938" marB="16279" anchor="ctr"/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5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Future-Ready: On-Demand Solutions with AI, Data, and Robotics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938" marR="1938" marT="1938" marB="16279" anchor="ctr"/>
                </a:tc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50000"/>
                        </a:lnSpc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KPI 19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938" marR="1938" marT="1938" marB="16279" anchor="ctr"/>
                </a:tc>
                <a:extLst>
                  <a:ext uri="{0D108BD9-81ED-4DB2-BD59-A6C34878D82A}">
                    <a16:rowId xmlns:a16="http://schemas.microsoft.com/office/drawing/2014/main" val="851749764"/>
                  </a:ext>
                </a:extLst>
              </a:tr>
              <a:tr h="364297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50000"/>
                        </a:lnSpc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Webinars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anchor="ctr"/>
                </a:tc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5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Participation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938" marR="1938" marT="1938" marB="16279" anchor="ctr"/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5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Fostering EU Collaboration: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CoEvolution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Joins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CyberSecDome’s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Cluster Synergies Webinar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938" marR="1938" marT="1938" marB="16279" anchor="ctr"/>
                </a:tc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50000"/>
                        </a:lnSpc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?</a:t>
                      </a:r>
                    </a:p>
                  </a:txBody>
                  <a:tcPr marL="1938" marR="1938" marT="1938" marB="16279" anchor="ctr"/>
                </a:tc>
                <a:extLst>
                  <a:ext uri="{0D108BD9-81ED-4DB2-BD59-A6C34878D82A}">
                    <a16:rowId xmlns:a16="http://schemas.microsoft.com/office/drawing/2014/main" val="2806652101"/>
                  </a:ext>
                </a:extLst>
              </a:tr>
              <a:tr h="318075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50000"/>
                        </a:lnSpc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Workshop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anchor="ctr"/>
                </a:tc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5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Co-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Organisation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938" marR="1938" marT="1938" marB="16279" anchor="ctr"/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5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CyberHOT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2025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938" marR="1938" marT="1938" marB="16279" anchor="ctr"/>
                </a:tc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50000"/>
                        </a:lnSpc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KPI 15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938" marR="1938" marT="1938" marB="16279" anchor="ctr"/>
                </a:tc>
                <a:extLst>
                  <a:ext uri="{0D108BD9-81ED-4DB2-BD59-A6C34878D82A}">
                    <a16:rowId xmlns:a16="http://schemas.microsoft.com/office/drawing/2014/main" val="243709825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0C5BA8-3F6F-9B82-C3F2-F723F96E3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67231"/>
              </p:ext>
            </p:extLst>
          </p:nvPr>
        </p:nvGraphicFramePr>
        <p:xfrm>
          <a:off x="685257" y="3168532"/>
          <a:ext cx="6125975" cy="2381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272">
                  <a:extLst>
                    <a:ext uri="{9D8B030D-6E8A-4147-A177-3AD203B41FA5}">
                      <a16:colId xmlns:a16="http://schemas.microsoft.com/office/drawing/2014/main" val="2069283731"/>
                    </a:ext>
                  </a:extLst>
                </a:gridCol>
                <a:gridCol w="3726199">
                  <a:extLst>
                    <a:ext uri="{9D8B030D-6E8A-4147-A177-3AD203B41FA5}">
                      <a16:colId xmlns:a16="http://schemas.microsoft.com/office/drawing/2014/main" val="4016808811"/>
                    </a:ext>
                  </a:extLst>
                </a:gridCol>
                <a:gridCol w="881486">
                  <a:extLst>
                    <a:ext uri="{9D8B030D-6E8A-4147-A177-3AD203B41FA5}">
                      <a16:colId xmlns:a16="http://schemas.microsoft.com/office/drawing/2014/main" val="2529750876"/>
                    </a:ext>
                  </a:extLst>
                </a:gridCol>
                <a:gridCol w="715018">
                  <a:extLst>
                    <a:ext uri="{9D8B030D-6E8A-4147-A177-3AD203B41FA5}">
                      <a16:colId xmlns:a16="http://schemas.microsoft.com/office/drawing/2014/main" val="3120878998"/>
                    </a:ext>
                  </a:extLst>
                </a:gridCol>
              </a:tblGrid>
              <a:tr h="26462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Workshops, webinars, and trainings KPIs (organized)</a:t>
                      </a:r>
                      <a:endParaRPr lang="en-US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5344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11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Use Case Workshops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2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717538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12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Technical Workshops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2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787865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13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Average number of attendees per workshop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&gt;50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947599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14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Online Training Tutorials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3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28039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15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Summer schools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308718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16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Webinars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170059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17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Industrial panels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720614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18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Enrolled users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&gt;500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47827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0BDB777-88EF-6029-83B4-56718CCD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3605" y="4473682"/>
            <a:ext cx="1285022" cy="1285022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F11C49-A815-A31B-D9BB-0088965B9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977551"/>
              </p:ext>
            </p:extLst>
          </p:nvPr>
        </p:nvGraphicFramePr>
        <p:xfrm>
          <a:off x="7247849" y="4359358"/>
          <a:ext cx="4626530" cy="1010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6657">
                  <a:extLst>
                    <a:ext uri="{9D8B030D-6E8A-4147-A177-3AD203B41FA5}">
                      <a16:colId xmlns:a16="http://schemas.microsoft.com/office/drawing/2014/main" val="1793900290"/>
                    </a:ext>
                  </a:extLst>
                </a:gridCol>
                <a:gridCol w="2728447">
                  <a:extLst>
                    <a:ext uri="{9D8B030D-6E8A-4147-A177-3AD203B41FA5}">
                      <a16:colId xmlns:a16="http://schemas.microsoft.com/office/drawing/2014/main" val="437495377"/>
                    </a:ext>
                  </a:extLst>
                </a:gridCol>
                <a:gridCol w="751422">
                  <a:extLst>
                    <a:ext uri="{9D8B030D-6E8A-4147-A177-3AD203B41FA5}">
                      <a16:colId xmlns:a16="http://schemas.microsoft.com/office/drawing/2014/main" val="752289185"/>
                    </a:ext>
                  </a:extLst>
                </a:gridCol>
                <a:gridCol w="540004">
                  <a:extLst>
                    <a:ext uri="{9D8B030D-6E8A-4147-A177-3AD203B41FA5}">
                      <a16:colId xmlns:a16="http://schemas.microsoft.com/office/drawing/2014/main" val="2792440869"/>
                    </a:ext>
                  </a:extLst>
                </a:gridCol>
              </a:tblGrid>
              <a:tr h="32207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Industrial exhibitions, Trade Fairs KPIs</a:t>
                      </a:r>
                      <a:endParaRPr lang="en-US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15038"/>
                  </a:ext>
                </a:extLst>
              </a:tr>
              <a:tr h="25061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KPI 19</a:t>
                      </a:r>
                      <a:endParaRPr lang="de-DE" sz="1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Industrial exhibitions targeted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≥10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064608"/>
                  </a:ext>
                </a:extLst>
              </a:tr>
              <a:tr h="2188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FFFF00"/>
                          </a:highlight>
                        </a:rPr>
                        <a:t>KPI 20</a:t>
                      </a:r>
                      <a:endParaRPr lang="de-DE" sz="1200" b="1" dirty="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Roll-up banners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515948"/>
                  </a:ext>
                </a:extLst>
              </a:tr>
              <a:tr h="2188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KPI 21</a:t>
                      </a:r>
                      <a:endParaRPr lang="de-DE" sz="1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Brochures to stakeholders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&gt;1.000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51272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88E71CC-7D84-4DCF-82A9-D66512E51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094028"/>
              </p:ext>
            </p:extLst>
          </p:nvPr>
        </p:nvGraphicFramePr>
        <p:xfrm>
          <a:off x="7247849" y="5499703"/>
          <a:ext cx="4509703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1903">
                  <a:extLst>
                    <a:ext uri="{9D8B030D-6E8A-4147-A177-3AD203B41FA5}">
                      <a16:colId xmlns:a16="http://schemas.microsoft.com/office/drawing/2014/main" val="3055040168"/>
                    </a:ext>
                  </a:extLst>
                </a:gridCol>
                <a:gridCol w="2526518">
                  <a:extLst>
                    <a:ext uri="{9D8B030D-6E8A-4147-A177-3AD203B41FA5}">
                      <a16:colId xmlns:a16="http://schemas.microsoft.com/office/drawing/2014/main" val="4210510867"/>
                    </a:ext>
                  </a:extLst>
                </a:gridCol>
                <a:gridCol w="760097">
                  <a:extLst>
                    <a:ext uri="{9D8B030D-6E8A-4147-A177-3AD203B41FA5}">
                      <a16:colId xmlns:a16="http://schemas.microsoft.com/office/drawing/2014/main" val="3218320027"/>
                    </a:ext>
                  </a:extLst>
                </a:gridCol>
                <a:gridCol w="631185">
                  <a:extLst>
                    <a:ext uri="{9D8B030D-6E8A-4147-A177-3AD203B41FA5}">
                      <a16:colId xmlns:a16="http://schemas.microsoft.com/office/drawing/2014/main" val="3927004496"/>
                    </a:ext>
                  </a:extLst>
                </a:gridCol>
              </a:tblGrid>
              <a:tr h="13236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Public Talks KPIs</a:t>
                      </a:r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de-DE" sz="1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023536"/>
                  </a:ext>
                </a:extLst>
              </a:tr>
              <a:tr h="132360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39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Public events at universities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≥6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623581"/>
                  </a:ext>
                </a:extLst>
              </a:tr>
              <a:tr h="132360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40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Students per event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&gt;100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888242"/>
                  </a:ext>
                </a:extLst>
              </a:tr>
              <a:tr h="132360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41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Open days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≥6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72655"/>
                  </a:ext>
                </a:extLst>
              </a:tr>
              <a:tr h="132360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42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Visitors/open day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&gt;50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07752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BC4A633-B1E1-DBC3-DE4A-A9FA1F016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32692"/>
              </p:ext>
            </p:extLst>
          </p:nvPr>
        </p:nvGraphicFramePr>
        <p:xfrm>
          <a:off x="7247849" y="3247180"/>
          <a:ext cx="4539770" cy="1015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80">
                  <a:extLst>
                    <a:ext uri="{9D8B030D-6E8A-4147-A177-3AD203B41FA5}">
                      <a16:colId xmlns:a16="http://schemas.microsoft.com/office/drawing/2014/main" val="1783570074"/>
                    </a:ext>
                  </a:extLst>
                </a:gridCol>
                <a:gridCol w="2208793">
                  <a:extLst>
                    <a:ext uri="{9D8B030D-6E8A-4147-A177-3AD203B41FA5}">
                      <a16:colId xmlns:a16="http://schemas.microsoft.com/office/drawing/2014/main" val="2153826587"/>
                    </a:ext>
                  </a:extLst>
                </a:gridCol>
                <a:gridCol w="977309">
                  <a:extLst>
                    <a:ext uri="{9D8B030D-6E8A-4147-A177-3AD203B41FA5}">
                      <a16:colId xmlns:a16="http://schemas.microsoft.com/office/drawing/2014/main" val="3687725097"/>
                    </a:ext>
                  </a:extLst>
                </a:gridCol>
                <a:gridCol w="758388">
                  <a:extLst>
                    <a:ext uri="{9D8B030D-6E8A-4147-A177-3AD203B41FA5}">
                      <a16:colId xmlns:a16="http://schemas.microsoft.com/office/drawing/2014/main" val="1284697588"/>
                    </a:ext>
                  </a:extLst>
                </a:gridCol>
              </a:tblGrid>
              <a:tr h="22132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Showcases KPIs</a:t>
                      </a:r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264015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8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Showcasing events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≥4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775812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9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Different Countries Involved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≥4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72143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10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Participants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&gt;400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07276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124FF88-03AD-A8A0-F2A2-60CAF84499F4}"/>
              </a:ext>
            </a:extLst>
          </p:cNvPr>
          <p:cNvSpPr txBox="1"/>
          <p:nvPr/>
        </p:nvSpPr>
        <p:spPr>
          <a:xfrm>
            <a:off x="196097" y="1714563"/>
            <a:ext cx="8692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CoEvolution</a:t>
            </a:r>
            <a:r>
              <a:rPr lang="en-US" b="1" dirty="0"/>
              <a:t> project was presented at three key events. These are listed below:</a:t>
            </a:r>
            <a:endParaRPr lang="en-DE" b="1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3C6EBF6-1ABA-27C8-226A-AAE55B98C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810587"/>
              </p:ext>
            </p:extLst>
          </p:nvPr>
        </p:nvGraphicFramePr>
        <p:xfrm>
          <a:off x="685257" y="5679508"/>
          <a:ext cx="5410744" cy="7345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521">
                  <a:extLst>
                    <a:ext uri="{9D8B030D-6E8A-4147-A177-3AD203B41FA5}">
                      <a16:colId xmlns:a16="http://schemas.microsoft.com/office/drawing/2014/main" val="3264650097"/>
                    </a:ext>
                  </a:extLst>
                </a:gridCol>
                <a:gridCol w="2943336">
                  <a:extLst>
                    <a:ext uri="{9D8B030D-6E8A-4147-A177-3AD203B41FA5}">
                      <a16:colId xmlns:a16="http://schemas.microsoft.com/office/drawing/2014/main" val="3139259062"/>
                    </a:ext>
                  </a:extLst>
                </a:gridCol>
                <a:gridCol w="1092414">
                  <a:extLst>
                    <a:ext uri="{9D8B030D-6E8A-4147-A177-3AD203B41FA5}">
                      <a16:colId xmlns:a16="http://schemas.microsoft.com/office/drawing/2014/main" val="2831990426"/>
                    </a:ext>
                  </a:extLst>
                </a:gridCol>
                <a:gridCol w="530473">
                  <a:extLst>
                    <a:ext uri="{9D8B030D-6E8A-4147-A177-3AD203B41FA5}">
                      <a16:colId xmlns:a16="http://schemas.microsoft.com/office/drawing/2014/main" val="543487164"/>
                    </a:ext>
                  </a:extLst>
                </a:gridCol>
              </a:tblGrid>
              <a:tr h="1859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Online Publishing KPIs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de-DE" sz="1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241382"/>
                  </a:ext>
                </a:extLst>
              </a:tr>
              <a:tr h="132360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29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</a:rPr>
                        <a:t>Press releases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</a:rPr>
                        <a:t>≥10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847306"/>
                  </a:ext>
                </a:extLst>
              </a:tr>
              <a:tr h="132360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30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Events </a:t>
                      </a:r>
                      <a:r>
                        <a:rPr lang="en-US" sz="1200" u="none" strike="noStrike" dirty="0" err="1">
                          <a:effectLst/>
                        </a:rPr>
                        <a:t>organised</a:t>
                      </a:r>
                      <a:r>
                        <a:rPr lang="en-US" sz="1200" u="none" strike="noStrike" dirty="0">
                          <a:effectLst/>
                        </a:rPr>
                        <a:t> by local authorities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≥3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835511"/>
                  </a:ext>
                </a:extLst>
              </a:tr>
              <a:tr h="132360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</a:rPr>
                        <a:t>KPI 31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</a:rPr>
                        <a:t>People per event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</a:rPr>
                        <a:t>&gt;50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638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86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88E3-0DD7-C9ED-E706-CBEEC215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31013" cy="1325563"/>
          </a:xfrm>
        </p:spPr>
        <p:txBody>
          <a:bodyPr/>
          <a:lstStyle/>
          <a:p>
            <a:r>
              <a:rPr lang="en-US" dirty="0"/>
              <a:t>Overview of Events to Be </a:t>
            </a:r>
            <a:r>
              <a:rPr lang="en-US" dirty="0" err="1"/>
              <a:t>Organised</a:t>
            </a:r>
            <a:r>
              <a:rPr lang="en-US" dirty="0"/>
              <a:t> by M18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61BDC-754F-FB3F-FDC8-21CF5E92D8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0DD67-B987-027B-7F4D-89F2BFED61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F60F7-B1E4-1C35-A122-706576AE3D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387C6D-31B4-2C08-9B8D-7F7DB0B26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718337"/>
              </p:ext>
            </p:extLst>
          </p:nvPr>
        </p:nvGraphicFramePr>
        <p:xfrm>
          <a:off x="838200" y="2344784"/>
          <a:ext cx="9954876" cy="297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2327">
                  <a:extLst>
                    <a:ext uri="{9D8B030D-6E8A-4147-A177-3AD203B41FA5}">
                      <a16:colId xmlns:a16="http://schemas.microsoft.com/office/drawing/2014/main" val="1774932216"/>
                    </a:ext>
                  </a:extLst>
                </a:gridCol>
                <a:gridCol w="1369433">
                  <a:extLst>
                    <a:ext uri="{9D8B030D-6E8A-4147-A177-3AD203B41FA5}">
                      <a16:colId xmlns:a16="http://schemas.microsoft.com/office/drawing/2014/main" val="4190049527"/>
                    </a:ext>
                  </a:extLst>
                </a:gridCol>
                <a:gridCol w="1573116">
                  <a:extLst>
                    <a:ext uri="{9D8B030D-6E8A-4147-A177-3AD203B41FA5}">
                      <a16:colId xmlns:a16="http://schemas.microsoft.com/office/drawing/2014/main" val="906260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Event</a:t>
                      </a:r>
                      <a:endParaRPr lang="en-DE" sz="1200" b="1" i="0" u="none" strike="noStrike" cap="non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Deadline</a:t>
                      </a:r>
                      <a:endParaRPr lang="en-DE" sz="1200" b="1" i="0" u="none" strike="noStrike" cap="non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Responsible Partner</a:t>
                      </a:r>
                      <a:endParaRPr lang="en-DE" sz="1200" b="1" i="0" u="none" strike="noStrike" cap="non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46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Workshop on technologies for autonomous driving in the context of 2025 IEEE International Smart Cities Conference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M7-M12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ISI, AVI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456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FRAME: 5</a:t>
                      </a:r>
                      <a:r>
                        <a:rPr lang="en-US" sz="1400" baseline="30000" dirty="0"/>
                        <a:t>th</a:t>
                      </a:r>
                      <a:r>
                        <a:rPr lang="en-US" sz="1400" dirty="0"/>
                        <a:t> Workshop on Flexible Resource and Application Management on the Edge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ICCS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03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r>
                        <a:rPr lang="en-US" sz="1400" baseline="30000" dirty="0"/>
                        <a:t>st</a:t>
                      </a:r>
                      <a:r>
                        <a:rPr lang="en-US" sz="1400" dirty="0"/>
                        <a:t> Technical Workshop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M10-M12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672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r>
                        <a:rPr lang="en-US" sz="1400" baseline="30000" dirty="0"/>
                        <a:t>st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InfoDay</a:t>
                      </a:r>
                      <a:r>
                        <a:rPr lang="en-US" sz="1400" dirty="0"/>
                        <a:t> (Webinar)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AEGIS?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338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r>
                        <a:rPr lang="en-US" sz="1400" baseline="30000" dirty="0"/>
                        <a:t>st</a:t>
                      </a:r>
                      <a:r>
                        <a:rPr lang="en-US" sz="1400" dirty="0"/>
                        <a:t> Online Training Tutorial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M14-M18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516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r>
                        <a:rPr lang="en-US" sz="1400" baseline="30000" dirty="0"/>
                        <a:t>st</a:t>
                      </a:r>
                      <a:r>
                        <a:rPr lang="en-US" sz="1400" dirty="0"/>
                        <a:t> Industrial Panel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M14-M18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61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890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48062-238A-735F-CCA1-1AB91892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B2B54-E07F-20A4-9ACE-7E9B5B85F7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079C9-7E6D-3A75-3243-3DD4697333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5ECBC-2C51-6AFC-4D95-2204AEB951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566730-0218-1FF3-8DF6-A24E6BB22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196811"/>
              </p:ext>
            </p:extLst>
          </p:nvPr>
        </p:nvGraphicFramePr>
        <p:xfrm>
          <a:off x="1532851" y="2951460"/>
          <a:ext cx="8031956" cy="2522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076">
                  <a:extLst>
                    <a:ext uri="{9D8B030D-6E8A-4147-A177-3AD203B41FA5}">
                      <a16:colId xmlns:a16="http://schemas.microsoft.com/office/drawing/2014/main" val="2181307309"/>
                    </a:ext>
                  </a:extLst>
                </a:gridCol>
                <a:gridCol w="3971097">
                  <a:extLst>
                    <a:ext uri="{9D8B030D-6E8A-4147-A177-3AD203B41FA5}">
                      <a16:colId xmlns:a16="http://schemas.microsoft.com/office/drawing/2014/main" val="375178382"/>
                    </a:ext>
                  </a:extLst>
                </a:gridCol>
                <a:gridCol w="2394299">
                  <a:extLst>
                    <a:ext uri="{9D8B030D-6E8A-4147-A177-3AD203B41FA5}">
                      <a16:colId xmlns:a16="http://schemas.microsoft.com/office/drawing/2014/main" val="3828495364"/>
                    </a:ext>
                  </a:extLst>
                </a:gridCol>
                <a:gridCol w="468742">
                  <a:extLst>
                    <a:ext uri="{9D8B030D-6E8A-4147-A177-3AD203B41FA5}">
                      <a16:colId xmlns:a16="http://schemas.microsoft.com/office/drawing/2014/main" val="961649476"/>
                    </a:ext>
                  </a:extLst>
                </a:gridCol>
                <a:gridCol w="468742">
                  <a:extLst>
                    <a:ext uri="{9D8B030D-6E8A-4147-A177-3AD203B41FA5}">
                      <a16:colId xmlns:a16="http://schemas.microsoft.com/office/drawing/2014/main" val="1311595985"/>
                    </a:ext>
                  </a:extLst>
                </a:gridCol>
              </a:tblGrid>
              <a:tr h="31436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Scientific Publications KPIs</a:t>
                      </a:r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 Status</a:t>
                      </a:r>
                      <a:endParaRPr lang="de-DE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119853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1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Scientific papers in peer-reviewed Journals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≥10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369324"/>
                  </a:ext>
                </a:extLst>
              </a:tr>
              <a:tr h="274496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2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 err="1">
                          <a:effectLst/>
                          <a:latin typeface="+mn-lt"/>
                        </a:rPr>
                        <a:t>Presentations</a:t>
                      </a:r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 in Scientific </a:t>
                      </a:r>
                      <a:r>
                        <a:rPr lang="de-DE" sz="1200" u="none" strike="noStrike" dirty="0" err="1">
                          <a:effectLst/>
                          <a:latin typeface="+mn-lt"/>
                        </a:rPr>
                        <a:t>Conferences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≥20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de-DE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14792"/>
                  </a:ext>
                </a:extLst>
              </a:tr>
              <a:tr h="24428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Technical Publications &amp; White Papers KPIs</a:t>
                      </a:r>
                      <a:endParaRPr lang="en-US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en-US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809466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3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>
                          <a:effectLst/>
                          <a:latin typeface="+mn-lt"/>
                        </a:rPr>
                        <a:t>Published Technical articles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≥10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70359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>
                          <a:effectLst/>
                          <a:latin typeface="+mn-lt"/>
                        </a:rPr>
                        <a:t>KPI 4</a:t>
                      </a:r>
                      <a:endParaRPr lang="de-DE" sz="1200" b="1" i="1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White </a:t>
                      </a:r>
                      <a:r>
                        <a:rPr lang="de-DE" sz="1200" u="none" strike="noStrike" dirty="0" err="1">
                          <a:effectLst/>
                          <a:latin typeface="+mn-lt"/>
                        </a:rPr>
                        <a:t>papers</a:t>
                      </a:r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/</a:t>
                      </a:r>
                      <a:r>
                        <a:rPr lang="de-DE" sz="1200" u="none" strike="noStrike" dirty="0" err="1">
                          <a:effectLst/>
                          <a:latin typeface="+mn-lt"/>
                        </a:rPr>
                        <a:t>factsheets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≥10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068936"/>
                  </a:ext>
                </a:extLst>
              </a:tr>
              <a:tr h="26462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Source Code Repository KPIs</a:t>
                      </a:r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775225"/>
                  </a:ext>
                </a:extLst>
              </a:tr>
              <a:tr h="26462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>
                          <a:effectLst/>
                          <a:latin typeface="+mn-lt"/>
                        </a:rPr>
                        <a:t>KPI 5</a:t>
                      </a:r>
                      <a:endParaRPr lang="de-DE" sz="1200" b="1" i="1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>
                          <a:effectLst/>
                          <a:latin typeface="+mn-lt"/>
                        </a:rPr>
                        <a:t>Public Deliverables</a:t>
                      </a:r>
                      <a:endParaRPr lang="de-DE" sz="1200" b="1" i="1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  <a:latin typeface="+mn-lt"/>
                        </a:rPr>
                        <a:t>10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191170"/>
                  </a:ext>
                </a:extLst>
              </a:tr>
              <a:tr h="292757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>
                          <a:effectLst/>
                          <a:latin typeface="+mn-lt"/>
                        </a:rPr>
                        <a:t>KPI 6</a:t>
                      </a:r>
                      <a:endParaRPr lang="de-DE" sz="1200" b="1" i="1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Open-source code: Publish to 2 repositories (e.g., GitHub, GitLab)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0669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CD11E2-35BE-E61F-95C6-A2681AD67F41}"/>
              </a:ext>
            </a:extLst>
          </p:cNvPr>
          <p:cNvSpPr txBox="1"/>
          <p:nvPr/>
        </p:nvSpPr>
        <p:spPr>
          <a:xfrm>
            <a:off x="644012" y="1776796"/>
            <a:ext cx="80752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Conference Paper: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CoEvolution</a:t>
            </a:r>
            <a:r>
              <a:rPr lang="en-US" dirty="0"/>
              <a:t>: A comprehensive trustworthy framework for connected machine learning and secure interconnected AI solutions </a:t>
            </a:r>
            <a:r>
              <a:rPr lang="en-US" b="1" i="1" dirty="0"/>
              <a:t>(Not reported on the D&amp;C Tracker file yet)</a:t>
            </a:r>
            <a:endParaRPr lang="en-DE" b="1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CA4D75-9435-442B-B483-B08E0DFC7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2" y="3569856"/>
            <a:ext cx="1471999" cy="14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46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C2906-C1DD-1217-D16D-E867DEDE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8C84-6AD1-1AD6-76D1-FDE741E0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KPIs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BC0CB-493E-867B-E279-8FBAEF0057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94C6E-D07B-C6E7-1B0C-34F0DF32C8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463AD-97AC-6BDB-6308-39A8AE661C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DEE427-06E8-49E6-F00A-A8577B0BE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77" y="3221250"/>
            <a:ext cx="1471999" cy="147199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6D3311-8BAF-CA85-587A-E5AD51FF2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442995"/>
              </p:ext>
            </p:extLst>
          </p:nvPr>
        </p:nvGraphicFramePr>
        <p:xfrm>
          <a:off x="2033566" y="2755076"/>
          <a:ext cx="8700883" cy="54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986">
                  <a:extLst>
                    <a:ext uri="{9D8B030D-6E8A-4147-A177-3AD203B41FA5}">
                      <a16:colId xmlns:a16="http://schemas.microsoft.com/office/drawing/2014/main" val="2453907183"/>
                    </a:ext>
                  </a:extLst>
                </a:gridCol>
                <a:gridCol w="4903330">
                  <a:extLst>
                    <a:ext uri="{9D8B030D-6E8A-4147-A177-3AD203B41FA5}">
                      <a16:colId xmlns:a16="http://schemas.microsoft.com/office/drawing/2014/main" val="2671913856"/>
                    </a:ext>
                  </a:extLst>
                </a:gridCol>
                <a:gridCol w="1308763">
                  <a:extLst>
                    <a:ext uri="{9D8B030D-6E8A-4147-A177-3AD203B41FA5}">
                      <a16:colId xmlns:a16="http://schemas.microsoft.com/office/drawing/2014/main" val="3942445158"/>
                    </a:ext>
                  </a:extLst>
                </a:gridCol>
                <a:gridCol w="641380">
                  <a:extLst>
                    <a:ext uri="{9D8B030D-6E8A-4147-A177-3AD203B41FA5}">
                      <a16:colId xmlns:a16="http://schemas.microsoft.com/office/drawing/2014/main" val="3140836693"/>
                    </a:ext>
                  </a:extLst>
                </a:gridCol>
                <a:gridCol w="1252424">
                  <a:extLst>
                    <a:ext uri="{9D8B030D-6E8A-4147-A177-3AD203B41FA5}">
                      <a16:colId xmlns:a16="http://schemas.microsoft.com/office/drawing/2014/main" val="3517323533"/>
                    </a:ext>
                  </a:extLst>
                </a:gridCol>
              </a:tblGrid>
              <a:tr h="14673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Push results to Communities, fora, alliances, and associations KPIs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Responsible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839824"/>
                  </a:ext>
                </a:extLst>
              </a:tr>
              <a:tr h="1351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>
                          <a:effectLst/>
                          <a:latin typeface="+mn-lt"/>
                        </a:rPr>
                        <a:t>KPI 7</a:t>
                      </a:r>
                      <a:endParaRPr lang="de-DE" sz="1200" b="1" i="1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High-impact communities/associations where to push CoEvolution results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&gt;15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ISI?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71317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73FE22F-9B83-9B3D-8E3E-1FCAFA592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819560"/>
              </p:ext>
            </p:extLst>
          </p:nvPr>
        </p:nvGraphicFramePr>
        <p:xfrm>
          <a:off x="2033566" y="4277148"/>
          <a:ext cx="8666214" cy="54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7701">
                  <a:extLst>
                    <a:ext uri="{9D8B030D-6E8A-4147-A177-3AD203B41FA5}">
                      <a16:colId xmlns:a16="http://schemas.microsoft.com/office/drawing/2014/main" val="2056093135"/>
                    </a:ext>
                  </a:extLst>
                </a:gridCol>
                <a:gridCol w="4653652">
                  <a:extLst>
                    <a:ext uri="{9D8B030D-6E8A-4147-A177-3AD203B41FA5}">
                      <a16:colId xmlns:a16="http://schemas.microsoft.com/office/drawing/2014/main" val="1435331670"/>
                    </a:ext>
                  </a:extLst>
                </a:gridCol>
                <a:gridCol w="1265591">
                  <a:extLst>
                    <a:ext uri="{9D8B030D-6E8A-4147-A177-3AD203B41FA5}">
                      <a16:colId xmlns:a16="http://schemas.microsoft.com/office/drawing/2014/main" val="1347886821"/>
                    </a:ext>
                  </a:extLst>
                </a:gridCol>
                <a:gridCol w="666184">
                  <a:extLst>
                    <a:ext uri="{9D8B030D-6E8A-4147-A177-3AD203B41FA5}">
                      <a16:colId xmlns:a16="http://schemas.microsoft.com/office/drawing/2014/main" val="3060555379"/>
                    </a:ext>
                  </a:extLst>
                </a:gridCol>
                <a:gridCol w="1183086">
                  <a:extLst>
                    <a:ext uri="{9D8B030D-6E8A-4147-A177-3AD203B41FA5}">
                      <a16:colId xmlns:a16="http://schemas.microsoft.com/office/drawing/2014/main" val="1261093447"/>
                    </a:ext>
                  </a:extLst>
                </a:gridCol>
              </a:tblGrid>
              <a:tr h="13511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Links and </a:t>
                      </a:r>
                      <a:r>
                        <a:rPr lang="de-DE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liaisons</a:t>
                      </a:r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KPIs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de-DE" sz="1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Responsible</a:t>
                      </a:r>
                      <a:endParaRPr lang="de-DE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273160"/>
                  </a:ext>
                </a:extLst>
              </a:tr>
              <a:tr h="132360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32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Number of DIH and clusters to contribute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987880"/>
                  </a:ext>
                </a:extLst>
              </a:tr>
              <a:tr h="132360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u="none" strike="noStrike" dirty="0">
                          <a:effectLst/>
                          <a:latin typeface="+mn-lt"/>
                        </a:rPr>
                        <a:t>KPI 33</a:t>
                      </a:r>
                      <a:endParaRPr lang="de-DE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Liaisons with other relevant projects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≥5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27569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60EEBE0-5ADA-C199-B4BA-4A7CB45E1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744524"/>
              </p:ext>
            </p:extLst>
          </p:nvPr>
        </p:nvGraphicFramePr>
        <p:xfrm>
          <a:off x="2033567" y="3516112"/>
          <a:ext cx="8666214" cy="54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5453">
                  <a:extLst>
                    <a:ext uri="{9D8B030D-6E8A-4147-A177-3AD203B41FA5}">
                      <a16:colId xmlns:a16="http://schemas.microsoft.com/office/drawing/2014/main" val="192872039"/>
                    </a:ext>
                  </a:extLst>
                </a:gridCol>
                <a:gridCol w="4878864">
                  <a:extLst>
                    <a:ext uri="{9D8B030D-6E8A-4147-A177-3AD203B41FA5}">
                      <a16:colId xmlns:a16="http://schemas.microsoft.com/office/drawing/2014/main" val="3983551516"/>
                    </a:ext>
                  </a:extLst>
                </a:gridCol>
                <a:gridCol w="1300095">
                  <a:extLst>
                    <a:ext uri="{9D8B030D-6E8A-4147-A177-3AD203B41FA5}">
                      <a16:colId xmlns:a16="http://schemas.microsoft.com/office/drawing/2014/main" val="2144171945"/>
                    </a:ext>
                  </a:extLst>
                </a:gridCol>
                <a:gridCol w="641380">
                  <a:extLst>
                    <a:ext uri="{9D8B030D-6E8A-4147-A177-3AD203B41FA5}">
                      <a16:colId xmlns:a16="http://schemas.microsoft.com/office/drawing/2014/main" val="185513361"/>
                    </a:ext>
                  </a:extLst>
                </a:gridCol>
                <a:gridCol w="1200422">
                  <a:extLst>
                    <a:ext uri="{9D8B030D-6E8A-4147-A177-3AD203B41FA5}">
                      <a16:colId xmlns:a16="http://schemas.microsoft.com/office/drawing/2014/main" val="358307405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Standardisation KPIs</a:t>
                      </a:r>
                      <a:endParaRPr lang="de-DE" sz="12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Threshold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Responsible</a:t>
                      </a:r>
                      <a:endParaRPr lang="de-DE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415392"/>
                  </a:ext>
                </a:extLst>
              </a:tr>
              <a:tr h="13511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lt"/>
                        </a:rPr>
                        <a:t>KPI 22</a:t>
                      </a:r>
                      <a:endParaRPr lang="de-DE" sz="1200" b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Number of standardization contributions to different SDOs with adoption status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≥4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CBRL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848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725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5F9F-A2A6-99DC-EFDF-8F39DD12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 Term Plan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226E7-880F-538C-7641-444178C20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Updating the website</a:t>
            </a:r>
          </a:p>
          <a:p>
            <a:r>
              <a:rPr lang="en-US" sz="2000" dirty="0"/>
              <a:t>Create social media posts</a:t>
            </a:r>
          </a:p>
          <a:p>
            <a:r>
              <a:rPr lang="en-US" sz="2000" dirty="0"/>
              <a:t>Track all Partners activities via the D&amp;C tracker</a:t>
            </a:r>
          </a:p>
          <a:p>
            <a:r>
              <a:rPr lang="en-US" sz="2000" dirty="0"/>
              <a:t>Prepare the plan for the Interviews (KPI &gt;6)</a:t>
            </a:r>
          </a:p>
          <a:p>
            <a:r>
              <a:rPr lang="en-US" sz="2000" dirty="0">
                <a:solidFill>
                  <a:srgbClr val="000000"/>
                </a:solidFill>
              </a:rPr>
              <a:t>Start the Blog Article Series (ICCS, UNICA,ISI)</a:t>
            </a:r>
          </a:p>
          <a:p>
            <a:r>
              <a:rPr lang="de-DE" sz="2000" dirty="0"/>
              <a:t>Start </a:t>
            </a:r>
            <a:r>
              <a:rPr lang="de-DE" sz="2000" dirty="0" err="1"/>
              <a:t>writing</a:t>
            </a:r>
            <a:r>
              <a:rPr lang="de-DE" sz="2000" dirty="0"/>
              <a:t> White </a:t>
            </a:r>
            <a:r>
              <a:rPr lang="de-DE" sz="2000" dirty="0" err="1"/>
              <a:t>papers</a:t>
            </a:r>
            <a:r>
              <a:rPr lang="de-DE" sz="2000" dirty="0"/>
              <a:t>/</a:t>
            </a:r>
            <a:r>
              <a:rPr lang="de-DE" sz="2000" dirty="0" err="1"/>
              <a:t>factsheets</a:t>
            </a:r>
            <a:r>
              <a:rPr lang="de-DE" sz="2000" dirty="0"/>
              <a:t> (ISI)</a:t>
            </a:r>
            <a:endParaRPr lang="de-DE" sz="2000" b="1" i="1" dirty="0">
              <a:solidFill>
                <a:srgbClr val="000000"/>
              </a:solidFill>
            </a:endParaRPr>
          </a:p>
          <a:p>
            <a:endParaRPr lang="en-US" sz="2000" dirty="0">
              <a:solidFill>
                <a:srgbClr val="000000"/>
              </a:solidFill>
            </a:endParaRPr>
          </a:p>
          <a:p>
            <a:endParaRPr lang="en-US" sz="2800" dirty="0"/>
          </a:p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FDBC9-48CF-730D-7DA8-2C53277ADB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DE"/>
              <a:t>25-26/06/2025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499CF-5416-C490-23C0-D54C8A891F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Graz Plenary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9998B-B2EB-17C5-C71B-D8820EF74E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22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2_Front pag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Chapte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Θέμα του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314F42BB571C174A8CFFD983452FCC05" ma:contentTypeVersion="14" ma:contentTypeDescription="Δημιουργία νέου εγγράφου" ma:contentTypeScope="" ma:versionID="6c3f71a5cfeacb0d2a3b6142267c4032">
  <xsd:schema xmlns:xsd="http://www.w3.org/2001/XMLSchema" xmlns:xs="http://www.w3.org/2001/XMLSchema" xmlns:p="http://schemas.microsoft.com/office/2006/metadata/properties" xmlns:ns2="d608b43f-bfac-4116-ae2f-2654f04dc4f2" xmlns:ns3="f05f1c5d-c52e-4d54-83d1-a52e4aeefd52" targetNamespace="http://schemas.microsoft.com/office/2006/metadata/properties" ma:root="true" ma:fieldsID="b346075edf76027c92ff28aec35d1309" ns2:_="" ns3:_="">
    <xsd:import namespace="d608b43f-bfac-4116-ae2f-2654f04dc4f2"/>
    <xsd:import namespace="f05f1c5d-c52e-4d54-83d1-a52e4aeefd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8b43f-bfac-4116-ae2f-2654f04dc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Ετικέτες εικόνας" ma:readOnly="false" ma:fieldId="{5cf76f15-5ced-4ddc-b409-7134ff3c332f}" ma:taxonomyMulti="true" ma:sspId="81a16348-86a9-4153-a534-716e536704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f1c5d-c52e-4d54-83d1-a52e4aeefd5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be773a3-2a48-487a-a9d1-73543309e2e9}" ma:internalName="TaxCatchAll" ma:showField="CatchAllData" ma:web="f05f1c5d-c52e-4d54-83d1-a52e4aeefd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08b43f-bfac-4116-ae2f-2654f04dc4f2">
      <Terms xmlns="http://schemas.microsoft.com/office/infopath/2007/PartnerControls"/>
    </lcf76f155ced4ddcb4097134ff3c332f>
    <TaxCatchAll xmlns="f05f1c5d-c52e-4d54-83d1-a52e4aeefd52" xsi:nil="true"/>
  </documentManagement>
</p:properties>
</file>

<file path=customXml/itemProps1.xml><?xml version="1.0" encoding="utf-8"?>
<ds:datastoreItem xmlns:ds="http://schemas.openxmlformats.org/officeDocument/2006/customXml" ds:itemID="{C7C1CD36-E64D-4B53-B8ED-C028F0C26C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08b43f-bfac-4116-ae2f-2654f04dc4f2"/>
    <ds:schemaRef ds:uri="f05f1c5d-c52e-4d54-83d1-a52e4aeefd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287254-87EB-44FE-8FF1-B8221E7104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5CE71B-3D00-4AFA-88CF-EB81088C1908}">
  <ds:schemaRefs>
    <ds:schemaRef ds:uri="http://schemas.microsoft.com/office/2006/metadata/properties"/>
    <ds:schemaRef ds:uri="http://schemas.microsoft.com/office/infopath/2007/PartnerControls"/>
    <ds:schemaRef ds:uri="d608b43f-bfac-4116-ae2f-2654f04dc4f2"/>
    <ds:schemaRef ds:uri="f05f1c5d-c52e-4d54-83d1-a52e4aeefd5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</Words>
  <Application>Microsoft Office PowerPoint</Application>
  <PresentationFormat>Widescreen</PresentationFormat>
  <Paragraphs>456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Times New Roman</vt:lpstr>
      <vt:lpstr>2_Front page</vt:lpstr>
      <vt:lpstr>3_Chapter</vt:lpstr>
      <vt:lpstr>Θέμα του Office</vt:lpstr>
      <vt:lpstr>T2.1 - Outreach planning, Communication and Dissemination</vt:lpstr>
      <vt:lpstr>Outreach planning, Communication and Dissemination</vt:lpstr>
      <vt:lpstr>T2.1 - Objectives</vt:lpstr>
      <vt:lpstr>Dissemination &amp; Communication Roadmap</vt:lpstr>
      <vt:lpstr>Progress M6-M8</vt:lpstr>
      <vt:lpstr>Social Media Channels</vt:lpstr>
      <vt:lpstr>Social Media Posts</vt:lpstr>
      <vt:lpstr>Social Media Plan</vt:lpstr>
      <vt:lpstr>CoEvolution Dissemination Materials</vt:lpstr>
      <vt:lpstr>CoEvolution D&amp;C Tracker</vt:lpstr>
      <vt:lpstr>Website – Events &amp; News Blogs</vt:lpstr>
      <vt:lpstr>Website Engagement &amp; Technical Content Plan</vt:lpstr>
      <vt:lpstr>Website &amp; SM KPIs</vt:lpstr>
      <vt:lpstr>Join CoEvolution Community</vt:lpstr>
      <vt:lpstr>Participation in Events</vt:lpstr>
      <vt:lpstr>Overview of Events to Be Organised by M18</vt:lpstr>
      <vt:lpstr>Publications</vt:lpstr>
      <vt:lpstr>Other KPIs</vt:lpstr>
      <vt:lpstr>Short  Term Plan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ASTERIOS STROUMPOULIS</dc:creator>
  <cp:lastModifiedBy>Jihane Najar</cp:lastModifiedBy>
  <cp:revision>136</cp:revision>
  <dcterms:created xsi:type="dcterms:W3CDTF">2024-04-26T17:52:46Z</dcterms:created>
  <dcterms:modified xsi:type="dcterms:W3CDTF">2025-06-18T14:17:23Z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0x010100314F42BB571C174A8CFFD983452FCC05</vt:lpwstr>
  </property>
  <property fmtid="{D5CDD505-2E9C-101B-9397-08002B2CF9AE}" pid="3" name="MediaServiceImageTags">
    <vt:lpwstr/>
  </property>
</Properties>
</file>