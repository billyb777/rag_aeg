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50" r:id="rId5"/>
    <p:sldMasterId id="2147483652" r:id="rId6"/>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SqY9ZOztwUMKe7HLjxPrlK+ZMT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EB2710-1D6F-FE97-8CF8-BF36232AF568}" v="17" dt="2025-01-16T12:11:43.0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customschemas.google.com/relationships/presentationmetadata" Target="meta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Αντωνιος Μακρης" userId="S::antoniosmakris@ntua.gr::eea0bc52-0833-4d66-a611-1693fee57a2c" providerId="AD" clId="Web-{53EB2710-1D6F-FE97-8CF8-BF36232AF568}"/>
    <pc:docChg chg="modSld">
      <pc:chgData name="Αντωνιος Μακρης" userId="S::antoniosmakris@ntua.gr::eea0bc52-0833-4d66-a611-1693fee57a2c" providerId="AD" clId="Web-{53EB2710-1D6F-FE97-8CF8-BF36232AF568}" dt="2025-01-16T12:11:41.239" v="14" actId="20577"/>
      <pc:docMkLst>
        <pc:docMk/>
      </pc:docMkLst>
      <pc:sldChg chg="modSp">
        <pc:chgData name="Αντωνιος Μακρης" userId="S::antoniosmakris@ntua.gr::eea0bc52-0833-4d66-a611-1693fee57a2c" providerId="AD" clId="Web-{53EB2710-1D6F-FE97-8CF8-BF36232AF568}" dt="2025-01-16T12:11:41.239" v="14" actId="20577"/>
        <pc:sldMkLst>
          <pc:docMk/>
          <pc:sldMk cId="0" sldId="264"/>
        </pc:sldMkLst>
        <pc:spChg chg="mod">
          <ac:chgData name="Αντωνιος Μακρης" userId="S::antoniosmakris@ntua.gr::eea0bc52-0833-4d66-a611-1693fee57a2c" providerId="AD" clId="Web-{53EB2710-1D6F-FE97-8CF8-BF36232AF568}" dt="2025-01-16T12:11:24.567" v="2" actId="20577"/>
          <ac:spMkLst>
            <pc:docMk/>
            <pc:sldMk cId="0" sldId="264"/>
            <ac:spMk id="197" creationId="{00000000-0000-0000-0000-000000000000}"/>
          </ac:spMkLst>
        </pc:spChg>
        <pc:spChg chg="mod">
          <ac:chgData name="Αντωνιος Μακρης" userId="S::antoniosmakris@ntua.gr::eea0bc52-0833-4d66-a611-1693fee57a2c" providerId="AD" clId="Web-{53EB2710-1D6F-FE97-8CF8-BF36232AF568}" dt="2025-01-16T12:11:41.239" v="14" actId="20577"/>
          <ac:spMkLst>
            <pc:docMk/>
            <pc:sldMk cId="0" sldId="264"/>
            <ac:spMk id="19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66457691f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g3166457691f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1d736aaff7_1_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1d736aaff7_1_1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31d736aaff7_1_1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1d736aaff7_1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1d736aaff7_1_1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g31d736aaff7_1_1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d736aaff7_1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1d736aaff7_1_1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g31d736aaff7_1_1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1d736aaff7_1_1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1d736aaff7_1_1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1d736aaff7_1_13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d736aaff7_1_1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1d736aaff7_1_14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g31d736aaff7_1_14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d736aaff7_1_1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1d736aaff7_1_1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31d736aaff7_1_1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13"/>
        <p:cNvGrpSpPr/>
        <p:nvPr/>
      </p:nvGrpSpPr>
      <p:grpSpPr>
        <a:xfrm>
          <a:off x="0" y="0"/>
          <a:ext cx="0" cy="0"/>
          <a:chOff x="0" y="0"/>
          <a:chExt cx="0" cy="0"/>
        </a:xfrm>
      </p:grpSpPr>
      <p:sp>
        <p:nvSpPr>
          <p:cNvPr id="14" name="Google Shape;14;p8"/>
          <p:cNvSpPr txBox="1">
            <a:spLocks noGrp="1"/>
          </p:cNvSpPr>
          <p:nvPr>
            <p:ph type="title"/>
          </p:nvPr>
        </p:nvSpPr>
        <p:spPr>
          <a:xfrm>
            <a:off x="838199" y="3204504"/>
            <a:ext cx="10515600" cy="1325563"/>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8"/>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8"/>
          <p:cNvSpPr txBox="1">
            <a:spLocks noGrp="1"/>
          </p:cNvSpPr>
          <p:nvPr>
            <p:ph type="body" idx="2"/>
          </p:nvPr>
        </p:nvSpPr>
        <p:spPr>
          <a:xfrm>
            <a:off x="266700" y="1983447"/>
            <a:ext cx="2286000" cy="63976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2154A2"/>
              </a:buClr>
              <a:buSzPts val="2800"/>
              <a:buFont typeface="Arial"/>
              <a:buNone/>
              <a:defRPr sz="2800" b="0" i="0" u="none" strike="noStrike" cap="none">
                <a:solidFill>
                  <a:srgbClr val="2154A2"/>
                </a:solidFill>
                <a:latin typeface="Arial"/>
                <a:ea typeface="Arial"/>
                <a:cs typeface="Arial"/>
                <a:sym typeface="Arial"/>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Προσαρμοσμένη διάταξη">
  <p:cSld name="Προσαρμοσμένη διάταξη">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154A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1743075" y="2268119"/>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2" name="Google Shape;32;p10"/>
          <p:cNvSpPr txBox="1">
            <a:spLocks noGrp="1"/>
          </p:cNvSpPr>
          <p:nvPr>
            <p:ph type="body" idx="2"/>
          </p:nvPr>
        </p:nvSpPr>
        <p:spPr>
          <a:xfrm>
            <a:off x="1743075" y="3131344"/>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3" name="Google Shape;33;p10"/>
          <p:cNvSpPr txBox="1">
            <a:spLocks noGrp="1"/>
          </p:cNvSpPr>
          <p:nvPr>
            <p:ph type="body" idx="3"/>
          </p:nvPr>
        </p:nvSpPr>
        <p:spPr>
          <a:xfrm>
            <a:off x="1743075" y="4048327"/>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4" name="Google Shape;34;p10"/>
          <p:cNvSpPr txBox="1">
            <a:spLocks noGrp="1"/>
          </p:cNvSpPr>
          <p:nvPr>
            <p:ph type="body" idx="4"/>
          </p:nvPr>
        </p:nvSpPr>
        <p:spPr>
          <a:xfrm>
            <a:off x="1743075" y="4965311"/>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5" name="Google Shape;35;p10"/>
          <p:cNvSpPr txBox="1">
            <a:spLocks noGrp="1"/>
          </p:cNvSpPr>
          <p:nvPr>
            <p:ph type="body" idx="5"/>
          </p:nvPr>
        </p:nvSpPr>
        <p:spPr>
          <a:xfrm>
            <a:off x="1743075" y="5882295"/>
            <a:ext cx="9264600" cy="595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6" name="Google Shape;36;p10"/>
          <p:cNvPicPr preferRelativeResize="0"/>
          <p:nvPr/>
        </p:nvPicPr>
        <p:blipFill rotWithShape="1">
          <a:blip r:embed="rId2">
            <a:alphaModFix/>
          </a:blip>
          <a:srcRect/>
          <a:stretch/>
        </p:blipFill>
        <p:spPr>
          <a:xfrm>
            <a:off x="10246900" y="33425"/>
            <a:ext cx="1911675" cy="2791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Δύο περιεχόμενα" type="twoObj">
  <p:cSld name="TWO_OBJECTS">
    <p:spTree>
      <p:nvGrpSpPr>
        <p:cNvPr id="1" name="Shape 44"/>
        <p:cNvGrpSpPr/>
        <p:nvPr/>
      </p:nvGrpSpPr>
      <p:grpSpPr>
        <a:xfrm>
          <a:off x="0" y="0"/>
          <a:ext cx="0" cy="0"/>
          <a:chOff x="0" y="0"/>
          <a:chExt cx="0" cy="0"/>
        </a:xfrm>
      </p:grpSpPr>
      <p:sp>
        <p:nvSpPr>
          <p:cNvPr id="45" name="Google Shape;45;p1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 name="Google Shape;46;p1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 name="Google Shape;47;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53" name="Google Shape;53;p1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Περιεχόμενο με λεζάντα"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losing slide" type="blank">
  <p:cSld name="BLANK">
    <p:spTree>
      <p:nvGrpSpPr>
        <p:cNvPr id="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a:stretch/>
        </p:blipFill>
        <p:spPr>
          <a:xfrm>
            <a:off x="0" y="0"/>
            <a:ext cx="6383069" cy="6858000"/>
          </a:xfrm>
          <a:prstGeom prst="rect">
            <a:avLst/>
          </a:prstGeom>
          <a:noFill/>
          <a:ln>
            <a:noFill/>
          </a:ln>
        </p:spPr>
      </p:pic>
      <p:pic>
        <p:nvPicPr>
          <p:cNvPr id="63" name="Google Shape;63;p16" descr="Χειραψία"/>
          <p:cNvPicPr preferRelativeResize="0"/>
          <p:nvPr/>
        </p:nvPicPr>
        <p:blipFill rotWithShape="1">
          <a:blip r:embed="rId3">
            <a:alphaModFix/>
          </a:blip>
          <a:srcRect/>
          <a:stretch/>
        </p:blipFill>
        <p:spPr>
          <a:xfrm>
            <a:off x="340470" y="1815320"/>
            <a:ext cx="4141760" cy="4141760"/>
          </a:xfrm>
          <a:custGeom>
            <a:avLst/>
            <a:gdLst/>
            <a:ahLst/>
            <a:cxnLst/>
            <a:rect l="l" t="t" r="r" b="b"/>
            <a:pathLst>
              <a:path w="4141760" h="4377846" extrusionOk="0">
                <a:moveTo>
                  <a:pt x="0" y="0"/>
                </a:moveTo>
                <a:lnTo>
                  <a:pt x="4141760" y="0"/>
                </a:lnTo>
                <a:lnTo>
                  <a:pt x="4141760" y="4377846"/>
                </a:lnTo>
                <a:lnTo>
                  <a:pt x="0" y="4377846"/>
                </a:lnTo>
                <a:close/>
              </a:path>
            </a:pathLst>
          </a:custGeom>
          <a:noFill/>
          <a:ln>
            <a:noFill/>
          </a:ln>
        </p:spPr>
      </p:pic>
      <p:sp>
        <p:nvSpPr>
          <p:cNvPr id="64" name="Google Shape;64;p16"/>
          <p:cNvSpPr txBox="1"/>
          <p:nvPr/>
        </p:nvSpPr>
        <p:spPr>
          <a:xfrm>
            <a:off x="6091652" y="5984679"/>
            <a:ext cx="6028800" cy="677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1050"/>
              <a:buFont typeface="Calibri"/>
              <a:buNone/>
            </a:pPr>
            <a:r>
              <a:rPr lang="en-US" sz="950" b="0" i="0" u="none" strike="noStrike" cap="none">
                <a:solidFill>
                  <a:srgbClr val="757070"/>
                </a:solidFill>
                <a:latin typeface="Arial"/>
                <a:ea typeface="Arial"/>
                <a:cs typeface="Arial"/>
                <a:sym typeface="Arial"/>
              </a:rPr>
              <a:t>The work described in this presentation has been conducted within the project CoEvolution. This project has received funding from the European Union’s Horizon Europe Framework Programme (Horizon) under Grant Agreement No 101168560. This document does not represent the opinion of the European Union, and the European Union is not responsible for any use that might be made of this content.</a:t>
            </a:r>
            <a:endParaRPr sz="1300" b="0" i="0" u="none" strike="noStrike" cap="none">
              <a:solidFill>
                <a:srgbClr val="000000"/>
              </a:solidFill>
              <a:latin typeface="Arial"/>
              <a:ea typeface="Arial"/>
              <a:cs typeface="Arial"/>
              <a:sym typeface="Arial"/>
            </a:endParaRPr>
          </a:p>
        </p:txBody>
      </p:sp>
      <p:sp>
        <p:nvSpPr>
          <p:cNvPr id="65" name="Google Shape;65;p16"/>
          <p:cNvSpPr txBox="1"/>
          <p:nvPr/>
        </p:nvSpPr>
        <p:spPr>
          <a:xfrm>
            <a:off x="6501028" y="234378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4546A"/>
              </a:buClr>
              <a:buSzPts val="4000"/>
              <a:buFont typeface="Calibri"/>
              <a:buNone/>
            </a:pPr>
            <a:r>
              <a:rPr lang="en-US" sz="4000" b="1" i="0" u="none" strike="noStrike" cap="none">
                <a:solidFill>
                  <a:srgbClr val="44546A"/>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Διαφάνεια τίτλου" type="title">
  <p:cSld name="TITLE">
    <p:spTree>
      <p:nvGrpSpPr>
        <p:cNvPr id="1" name="Shape 66"/>
        <p:cNvGrpSpPr/>
        <p:nvPr/>
      </p:nvGrpSpPr>
      <p:grpSpPr>
        <a:xfrm>
          <a:off x="0" y="0"/>
          <a:ext cx="0" cy="0"/>
          <a:chOff x="0" y="0"/>
          <a:chExt cx="0" cy="0"/>
        </a:xfrm>
      </p:grpSpPr>
      <p:sp>
        <p:nvSpPr>
          <p:cNvPr id="67" name="Google Shape;67;p1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9" name="Google Shape;69;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1" name="Google Shape;71;p17"/>
          <p:cNvPicPr preferRelativeResize="0"/>
          <p:nvPr/>
        </p:nvPicPr>
        <p:blipFill rotWithShape="1">
          <a:blip r:embed="rId2">
            <a:alphaModFix/>
          </a:blip>
          <a:srcRect/>
          <a:stretch/>
        </p:blipFill>
        <p:spPr>
          <a:xfrm>
            <a:off x="10566582" y="5735637"/>
            <a:ext cx="772930" cy="514350"/>
          </a:xfrm>
          <a:prstGeom prst="rect">
            <a:avLst/>
          </a:prstGeom>
          <a:noFill/>
          <a:ln>
            <a:noFill/>
          </a:ln>
        </p:spPr>
      </p:pic>
      <p:sp>
        <p:nvSpPr>
          <p:cNvPr id="72" name="Google Shape;72;p17"/>
          <p:cNvSpPr txBox="1"/>
          <p:nvPr/>
        </p:nvSpPr>
        <p:spPr>
          <a:xfrm>
            <a:off x="9982200" y="6254175"/>
            <a:ext cx="203835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57070"/>
              </a:buClr>
              <a:buSzPts val="800"/>
              <a:buFont typeface="Arial"/>
              <a:buNone/>
            </a:pPr>
            <a:r>
              <a:rPr lang="en-US" sz="800" b="0" i="0" u="none" strike="noStrike" cap="none">
                <a:solidFill>
                  <a:srgbClr val="757070"/>
                </a:solidFill>
                <a:latin typeface="Arial"/>
                <a:ea typeface="Arial"/>
                <a:cs typeface="Arial"/>
                <a:sym typeface="Arial"/>
              </a:rPr>
              <a:t>The project has received funding form the European Union’s Horizon Europe Framework Programme (Horizon) under grant agreement No 101135775</a:t>
            </a:r>
            <a:endParaRPr sz="800" b="0" i="0" u="none" strike="noStrike" cap="none">
              <a:solidFill>
                <a:srgbClr val="75707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Τίτλος και περιεχόμενο" type="obj">
  <p:cSld name="OBJECT">
    <p:spTree>
      <p:nvGrpSpPr>
        <p:cNvPr id="1" name="Shape 73"/>
        <p:cNvGrpSpPr/>
        <p:nvPr/>
      </p:nvGrpSpPr>
      <p:grpSpPr>
        <a:xfrm>
          <a:off x="0" y="0"/>
          <a:ext cx="0" cy="0"/>
          <a:chOff x="0" y="0"/>
          <a:chExt cx="0" cy="0"/>
        </a:xfrm>
      </p:grpSpPr>
      <p:sp>
        <p:nvSpPr>
          <p:cNvPr id="74" name="Google Shape;74;p18"/>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 name="Google Shape;75;p18"/>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6" name="Google Shape;7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81" name="Google Shape;81;p18"/>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Κεφαλίδα ενότητας" type="secHead">
  <p:cSld name="SECTION_HEADER">
    <p:spTree>
      <p:nvGrpSpPr>
        <p:cNvPr id="1" name="Shape 82"/>
        <p:cNvGrpSpPr/>
        <p:nvPr/>
      </p:nvGrpSpPr>
      <p:grpSpPr>
        <a:xfrm>
          <a:off x="0" y="0"/>
          <a:ext cx="0" cy="0"/>
          <a:chOff x="0" y="0"/>
          <a:chExt cx="0" cy="0"/>
        </a:xfrm>
      </p:grpSpPr>
      <p:sp>
        <p:nvSpPr>
          <p:cNvPr id="83" name="Google Shape;8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85" name="Google Shape;85;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Σύγκριση" type="twoTxTwoObj">
  <p:cSld name="TWO_OBJECTS_WITH_TEXT">
    <p:spTree>
      <p:nvGrpSpPr>
        <p:cNvPr id="1" name="Shape 88"/>
        <p:cNvGrpSpPr/>
        <p:nvPr/>
      </p:nvGrpSpPr>
      <p:grpSpPr>
        <a:xfrm>
          <a:off x="0" y="0"/>
          <a:ext cx="0" cy="0"/>
          <a:chOff x="0" y="0"/>
          <a:chExt cx="0" cy="0"/>
        </a:xfrm>
      </p:grpSpPr>
      <p:sp>
        <p:nvSpPr>
          <p:cNvPr id="89" name="Google Shape;89;p20"/>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 name="Google Shape;90;p20"/>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 name="Google Shape;91;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5" name="Google Shape;95;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6" name="Google Shape;9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9" name="Google Shape;99;p20"/>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Μόνο τίτλος" type="titleOnly">
  <p:cSld name="TITLE_ONLY">
    <p:spTree>
      <p:nvGrpSpPr>
        <p:cNvPr id="1" name="Shape 100"/>
        <p:cNvGrpSpPr/>
        <p:nvPr/>
      </p:nvGrpSpPr>
      <p:grpSpPr>
        <a:xfrm>
          <a:off x="0" y="0"/>
          <a:ext cx="0" cy="0"/>
          <a:chOff x="0" y="0"/>
          <a:chExt cx="0" cy="0"/>
        </a:xfrm>
      </p:grpSpPr>
      <p:sp>
        <p:nvSpPr>
          <p:cNvPr id="101" name="Google Shape;101;p21"/>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21"/>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 name="Google Shape;10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7" name="Google Shape;107;p21"/>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Κενό">
  <p:cSld name="Κενό">
    <p:spTree>
      <p:nvGrpSpPr>
        <p:cNvPr id="1" name="Shape 108"/>
        <p:cNvGrpSpPr/>
        <p:nvPr/>
      </p:nvGrpSpPr>
      <p:grpSpPr>
        <a:xfrm>
          <a:off x="0" y="0"/>
          <a:ext cx="0" cy="0"/>
          <a:chOff x="0" y="0"/>
          <a:chExt cx="0" cy="0"/>
        </a:xfrm>
      </p:grpSpPr>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Εικόνα με λεζάντα"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Τίτλος και Κατακόρυφο κείμενο" type="vertTx">
  <p:cSld name="VERTICAL_TEXT">
    <p:spTree>
      <p:nvGrpSpPr>
        <p:cNvPr id="1" name="Shape 119"/>
        <p:cNvGrpSpPr/>
        <p:nvPr/>
      </p:nvGrpSpPr>
      <p:grpSpPr>
        <a:xfrm>
          <a:off x="0" y="0"/>
          <a:ext cx="0" cy="0"/>
          <a:chOff x="0" y="0"/>
          <a:chExt cx="0" cy="0"/>
        </a:xfrm>
      </p:grpSpPr>
      <p:sp>
        <p:nvSpPr>
          <p:cNvPr id="120" name="Google Shape;120;p24"/>
          <p:cNvSpPr/>
          <p:nvPr/>
        </p:nvSpPr>
        <p:spPr>
          <a:xfrm>
            <a:off x="0" y="0"/>
            <a:ext cx="12192000" cy="1646238"/>
          </a:xfrm>
          <a:prstGeom prst="rect">
            <a:avLst/>
          </a:prstGeom>
          <a:solidFill>
            <a:srgbClr val="0A304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1" name="Google Shape;121;p24"/>
          <p:cNvSpPr/>
          <p:nvPr/>
        </p:nvSpPr>
        <p:spPr>
          <a:xfrm>
            <a:off x="8074325" y="0"/>
            <a:ext cx="4117675" cy="1646238"/>
          </a:xfrm>
          <a:prstGeom prst="rect">
            <a:avLst/>
          </a:prstGeom>
          <a:gradFill>
            <a:gsLst>
              <a:gs pos="0">
                <a:srgbClr val="042A3B"/>
              </a:gs>
              <a:gs pos="50000">
                <a:srgbClr val="063E56"/>
              </a:gs>
              <a:gs pos="100000">
                <a:srgbClr val="084A67"/>
              </a:gs>
            </a:gsLst>
            <a:lin ang="135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2" name="Google Shape;122;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27" name="Google Shape;127;p24"/>
          <p:cNvPicPr preferRelativeResize="0"/>
          <p:nvPr/>
        </p:nvPicPr>
        <p:blipFill rotWithShape="1">
          <a:blip r:embed="rId2">
            <a:alphaModFix/>
          </a:blip>
          <a:srcRect/>
          <a:stretch/>
        </p:blipFill>
        <p:spPr>
          <a:xfrm>
            <a:off x="11610149" y="6454775"/>
            <a:ext cx="548425" cy="36512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Κατακόρυφος τίτλος και Κείμενο" type="vertTitleAndTx">
  <p:cSld name="VERTICAL_TITLE_AND_VERTICAL_TEXT">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3.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7"/>
          <p:cNvPicPr preferRelativeResize="0"/>
          <p:nvPr/>
        </p:nvPicPr>
        <p:blipFill rotWithShape="1">
          <a:blip r:embed="rId3">
            <a:alphaModFix/>
          </a:blip>
          <a:srcRect/>
          <a:stretch/>
        </p:blipFill>
        <p:spPr>
          <a:xfrm>
            <a:off x="10614982" y="5739837"/>
            <a:ext cx="772930" cy="514350"/>
          </a:xfrm>
          <a:prstGeom prst="rect">
            <a:avLst/>
          </a:prstGeom>
          <a:noFill/>
          <a:ln>
            <a:noFill/>
          </a:ln>
        </p:spPr>
      </p:pic>
      <p:sp>
        <p:nvSpPr>
          <p:cNvPr id="11" name="Google Shape;11;p7"/>
          <p:cNvSpPr txBox="1"/>
          <p:nvPr/>
        </p:nvSpPr>
        <p:spPr>
          <a:xfrm>
            <a:off x="9982200" y="6254175"/>
            <a:ext cx="20385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57070"/>
              </a:buClr>
              <a:buSzPts val="800"/>
              <a:buFont typeface="Calibri"/>
              <a:buNone/>
            </a:pPr>
            <a:r>
              <a:rPr lang="en-US" sz="800" b="0" i="0" u="none" strike="noStrike" cap="none">
                <a:solidFill>
                  <a:srgbClr val="757070"/>
                </a:solidFill>
                <a:latin typeface="Arial"/>
                <a:ea typeface="Arial"/>
                <a:cs typeface="Arial"/>
                <a:sym typeface="Arial"/>
              </a:rPr>
              <a:t>The project has received funding from the European Union’s Horizon Europe Framework Programme (Horizon) under grant agreement No 101168560</a:t>
            </a:r>
            <a:endParaRPr sz="800" b="0" i="0" u="none" strike="noStrike" cap="none">
              <a:solidFill>
                <a:srgbClr val="757070"/>
              </a:solidFill>
              <a:latin typeface="Arial"/>
              <a:ea typeface="Arial"/>
              <a:cs typeface="Arial"/>
              <a:sym typeface="Arial"/>
            </a:endParaRPr>
          </a:p>
        </p:txBody>
      </p:sp>
      <p:pic>
        <p:nvPicPr>
          <p:cNvPr id="12" name="Google Shape;12;p7"/>
          <p:cNvPicPr preferRelativeResize="0"/>
          <p:nvPr/>
        </p:nvPicPr>
        <p:blipFill rotWithShape="1">
          <a:blip r:embed="rId4">
            <a:alphaModFix/>
          </a:blip>
          <a:srcRect/>
          <a:stretch/>
        </p:blipFill>
        <p:spPr>
          <a:xfrm>
            <a:off x="4587038" y="100275"/>
            <a:ext cx="3017923" cy="18184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9"/>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2154A2"/>
              </a:buClr>
              <a:buSzPts val="3600"/>
              <a:buFont typeface="Arial"/>
              <a:buNone/>
              <a:defRPr sz="3600" b="0" i="0" u="none" strike="noStrike" cap="none">
                <a:solidFill>
                  <a:srgbClr val="2154A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 name="Google Shape;19;p9"/>
          <p:cNvSpPr/>
          <p:nvPr/>
        </p:nvSpPr>
        <p:spPr>
          <a:xfrm>
            <a:off x="838200" y="3045472"/>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9"/>
          <p:cNvSpPr/>
          <p:nvPr/>
        </p:nvSpPr>
        <p:spPr>
          <a:xfrm>
            <a:off x="838200" y="2135884"/>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9"/>
          <p:cNvSpPr/>
          <p:nvPr/>
        </p:nvSpPr>
        <p:spPr>
          <a:xfrm>
            <a:off x="838200" y="3955060"/>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9"/>
          <p:cNvSpPr/>
          <p:nvPr/>
        </p:nvSpPr>
        <p:spPr>
          <a:xfrm>
            <a:off x="838200" y="4864648"/>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9" descr="Λίστα ελέγχου"/>
          <p:cNvSpPr/>
          <p:nvPr/>
        </p:nvSpPr>
        <p:spPr>
          <a:xfrm>
            <a:off x="1044070" y="2316813"/>
            <a:ext cx="442200" cy="442200"/>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9" descr="Atom"/>
          <p:cNvSpPr/>
          <p:nvPr/>
        </p:nvSpPr>
        <p:spPr>
          <a:xfrm>
            <a:off x="1044069" y="3226401"/>
            <a:ext cx="442200" cy="442200"/>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9" descr="Υπολογιστής"/>
          <p:cNvSpPr/>
          <p:nvPr/>
        </p:nvSpPr>
        <p:spPr>
          <a:xfrm>
            <a:off x="1044069" y="4135989"/>
            <a:ext cx="442200" cy="442200"/>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9" descr="Προειδοποίηση"/>
          <p:cNvSpPr/>
          <p:nvPr/>
        </p:nvSpPr>
        <p:spPr>
          <a:xfrm>
            <a:off x="1044069" y="5045577"/>
            <a:ext cx="442200" cy="442200"/>
          </a:xfrm>
          <a:prstGeom prst="rect">
            <a:avLst/>
          </a:prstGeom>
          <a:blipFill rotWithShape="1">
            <a:blip r:embed="rId6">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9"/>
          <p:cNvSpPr/>
          <p:nvPr/>
        </p:nvSpPr>
        <p:spPr>
          <a:xfrm>
            <a:off x="838200" y="5774236"/>
            <a:ext cx="10515600" cy="804000"/>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9" descr="Σημάδι ελέγχου"/>
          <p:cNvSpPr/>
          <p:nvPr/>
        </p:nvSpPr>
        <p:spPr>
          <a:xfrm>
            <a:off x="1044069" y="5955165"/>
            <a:ext cx="442200" cy="442200"/>
          </a:xfrm>
          <a:prstGeom prst="rect">
            <a:avLst/>
          </a:prstGeom>
          <a:blipFill rotWithShape="1">
            <a:blip r:embed="rId7">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
        <p:cNvGrpSpPr/>
        <p:nvPr/>
      </p:nvGrpSpPr>
      <p:grpSpPr>
        <a:xfrm>
          <a:off x="0" y="0"/>
          <a:ext cx="0" cy="0"/>
          <a:chOff x="0" y="0"/>
          <a:chExt cx="0" cy="0"/>
        </a:xfrm>
      </p:grpSpPr>
      <p:sp>
        <p:nvSpPr>
          <p:cNvPr id="38" name="Google Shape;38;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9" name="Google Shape;39;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0" name="Google Shape;4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1" name="Google Shape;4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2" name="Google Shape;4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43" name="Google Shape;43;p13"/>
          <p:cNvPicPr preferRelativeResize="0"/>
          <p:nvPr/>
        </p:nvPicPr>
        <p:blipFill rotWithShape="1">
          <a:blip r:embed="rId14">
            <a:alphaModFix/>
          </a:blip>
          <a:srcRect/>
          <a:stretch/>
        </p:blipFill>
        <p:spPr>
          <a:xfrm>
            <a:off x="10246900" y="33425"/>
            <a:ext cx="1911675" cy="2791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
          <p:cNvSpPr txBox="1">
            <a:spLocks noGrp="1"/>
          </p:cNvSpPr>
          <p:nvPr>
            <p:ph type="title"/>
          </p:nvPr>
        </p:nvSpPr>
        <p:spPr>
          <a:xfrm>
            <a:off x="838199" y="3204504"/>
            <a:ext cx="10515600" cy="13257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400"/>
              <a:buFont typeface="Calibri"/>
              <a:buNone/>
            </a:pPr>
            <a:r>
              <a:rPr lang="en-US" sz="3800"/>
              <a:t>Task 3.1 State-of-the-Art, Threat model and Technical Specifications</a:t>
            </a:r>
            <a:endParaRPr sz="3800"/>
          </a:p>
        </p:txBody>
      </p:sp>
      <p:sp>
        <p:nvSpPr>
          <p:cNvPr id="139" name="Google Shape;139;p1"/>
          <p:cNvSpPr txBox="1">
            <a:spLocks noGrp="1"/>
          </p:cNvSpPr>
          <p:nvPr>
            <p:ph type="body" idx="1"/>
          </p:nvPr>
        </p:nvSpPr>
        <p:spPr>
          <a:xfrm>
            <a:off x="2886868" y="4865060"/>
            <a:ext cx="6418263" cy="132556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2154A2"/>
              </a:buClr>
              <a:buSzPts val="2800"/>
              <a:buNone/>
            </a:pPr>
            <a:r>
              <a:rPr lang="en-US" sz="2600"/>
              <a:t>ICCS</a:t>
            </a:r>
            <a:endParaRPr sz="2600"/>
          </a:p>
        </p:txBody>
      </p:sp>
      <p:sp>
        <p:nvSpPr>
          <p:cNvPr id="140" name="Google Shape;140;p1"/>
          <p:cNvSpPr txBox="1">
            <a:spLocks noGrp="1"/>
          </p:cNvSpPr>
          <p:nvPr>
            <p:ph type="body" idx="2"/>
          </p:nvPr>
        </p:nvSpPr>
        <p:spPr>
          <a:xfrm>
            <a:off x="259750" y="2191675"/>
            <a:ext cx="2830800" cy="6399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2154A2"/>
              </a:buClr>
              <a:buSzPct val="107692"/>
              <a:buNone/>
            </a:pPr>
            <a:r>
              <a:rPr lang="en-US" sz="2600"/>
              <a:t>WP3 Initial Meeting</a:t>
            </a:r>
            <a:endParaRPr sz="2600"/>
          </a:p>
          <a:p>
            <a:pPr marL="0" lvl="0" indent="0" algn="r" rtl="0">
              <a:lnSpc>
                <a:spcPct val="90000"/>
              </a:lnSpc>
              <a:spcBef>
                <a:spcPts val="0"/>
              </a:spcBef>
              <a:spcAft>
                <a:spcPts val="0"/>
              </a:spcAft>
              <a:buClr>
                <a:srgbClr val="2154A2"/>
              </a:buClr>
              <a:buSzPct val="184341"/>
              <a:buNone/>
            </a:pPr>
            <a:r>
              <a:rPr lang="en-US" sz="1518" i="1"/>
              <a:t>13 Dec 2024</a:t>
            </a:r>
            <a:r>
              <a:rPr lang="en-US" sz="2600"/>
              <a:t>  </a:t>
            </a:r>
            <a:endParaRPr sz="2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166457691f_0_62"/>
          <p:cNvSpPr txBox="1">
            <a:spLocks noGrp="1"/>
          </p:cNvSpPr>
          <p:nvPr>
            <p:ph type="title"/>
          </p:nvPr>
        </p:nvSpPr>
        <p:spPr>
          <a:xfrm>
            <a:off x="838200" y="688587"/>
            <a:ext cx="10515600" cy="1009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154A2"/>
              </a:buClr>
              <a:buSzPts val="3600"/>
              <a:buFont typeface="Arial"/>
              <a:buNone/>
            </a:pPr>
            <a:r>
              <a:rPr lang="en-US"/>
              <a:t>Outline</a:t>
            </a:r>
            <a:endParaRPr/>
          </a:p>
        </p:txBody>
      </p:sp>
      <p:sp>
        <p:nvSpPr>
          <p:cNvPr id="146" name="Google Shape;146;g3166457691f_0_62"/>
          <p:cNvSpPr txBox="1">
            <a:spLocks noGrp="1"/>
          </p:cNvSpPr>
          <p:nvPr>
            <p:ph type="body" idx="1"/>
          </p:nvPr>
        </p:nvSpPr>
        <p:spPr>
          <a:xfrm>
            <a:off x="1743075" y="2268119"/>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General details</a:t>
            </a:r>
            <a:endParaRPr/>
          </a:p>
        </p:txBody>
      </p:sp>
      <p:sp>
        <p:nvSpPr>
          <p:cNvPr id="147" name="Google Shape;147;g3166457691f_0_62"/>
          <p:cNvSpPr txBox="1">
            <a:spLocks noGrp="1"/>
          </p:cNvSpPr>
          <p:nvPr>
            <p:ph type="body" idx="2"/>
          </p:nvPr>
        </p:nvSpPr>
        <p:spPr>
          <a:xfrm>
            <a:off x="1743075" y="3131344"/>
            <a:ext cx="9264600" cy="595200"/>
          </a:xfrm>
          <a:prstGeom prst="rect">
            <a:avLst/>
          </a:prstGeom>
          <a:noFill/>
          <a:ln>
            <a:noFill/>
          </a:ln>
        </p:spPr>
        <p:txBody>
          <a:bodyPr spcFirstLastPara="1" wrap="square" lIns="91425" tIns="45700" rIns="91425" bIns="45700" anchor="t" anchorCtr="0">
            <a:noAutofit/>
          </a:bodyPr>
          <a:lstStyle/>
          <a:p>
            <a:pPr marL="177800" lvl="0" indent="0" algn="l" rtl="0">
              <a:lnSpc>
                <a:spcPct val="90000"/>
              </a:lnSpc>
              <a:spcBef>
                <a:spcPts val="0"/>
              </a:spcBef>
              <a:spcAft>
                <a:spcPts val="0"/>
              </a:spcAft>
              <a:buClr>
                <a:schemeClr val="dk1"/>
              </a:buClr>
              <a:buSzPts val="2800"/>
              <a:buNone/>
            </a:pPr>
            <a:r>
              <a:rPr lang="en-US"/>
              <a:t>Task Information</a:t>
            </a:r>
            <a:endParaRPr/>
          </a:p>
        </p:txBody>
      </p:sp>
      <p:sp>
        <p:nvSpPr>
          <p:cNvPr id="148" name="Google Shape;148;g3166457691f_0_62"/>
          <p:cNvSpPr txBox="1">
            <a:spLocks noGrp="1"/>
          </p:cNvSpPr>
          <p:nvPr>
            <p:ph type="body" idx="3"/>
          </p:nvPr>
        </p:nvSpPr>
        <p:spPr>
          <a:xfrm>
            <a:off x="1743075" y="4048327"/>
            <a:ext cx="9264600" cy="595200"/>
          </a:xfrm>
          <a:prstGeom prst="rect">
            <a:avLst/>
          </a:prstGeom>
          <a:noFill/>
          <a:ln>
            <a:noFill/>
          </a:ln>
        </p:spPr>
        <p:txBody>
          <a:bodyPr spcFirstLastPara="1" wrap="square" lIns="91425" tIns="45700" rIns="91425" bIns="45700" anchor="t" anchorCtr="0">
            <a:noAutofit/>
          </a:bodyPr>
          <a:lstStyle/>
          <a:p>
            <a:pPr marL="228600" lvl="0" indent="-50800" algn="l" rtl="0">
              <a:spcBef>
                <a:spcPts val="0"/>
              </a:spcBef>
              <a:spcAft>
                <a:spcPts val="0"/>
              </a:spcAft>
              <a:buClr>
                <a:schemeClr val="dk1"/>
              </a:buClr>
              <a:buSzPts val="1100"/>
              <a:buNone/>
            </a:pPr>
            <a:r>
              <a:rPr lang="en-US"/>
              <a:t>Expected input and outcomes</a:t>
            </a:r>
            <a:endParaRPr/>
          </a:p>
        </p:txBody>
      </p:sp>
      <p:sp>
        <p:nvSpPr>
          <p:cNvPr id="149" name="Google Shape;149;g3166457691f_0_62"/>
          <p:cNvSpPr txBox="1">
            <a:spLocks noGrp="1"/>
          </p:cNvSpPr>
          <p:nvPr>
            <p:ph type="body" idx="4"/>
          </p:nvPr>
        </p:nvSpPr>
        <p:spPr>
          <a:xfrm>
            <a:off x="1743075" y="4965311"/>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Critical points, Risks and Concerns</a:t>
            </a:r>
            <a:endParaRPr/>
          </a:p>
        </p:txBody>
      </p:sp>
      <p:sp>
        <p:nvSpPr>
          <p:cNvPr id="150" name="Google Shape;150;g3166457691f_0_62"/>
          <p:cNvSpPr txBox="1">
            <a:spLocks noGrp="1"/>
          </p:cNvSpPr>
          <p:nvPr>
            <p:ph type="body" idx="5"/>
          </p:nvPr>
        </p:nvSpPr>
        <p:spPr>
          <a:xfrm>
            <a:off x="1743075" y="5882295"/>
            <a:ext cx="9264600" cy="59520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t>Next steps and schedule M06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400"/>
              <a:buFont typeface="Arial"/>
              <a:buNone/>
            </a:pPr>
            <a:r>
              <a:rPr lang="en-US"/>
              <a:t>Details</a:t>
            </a:r>
            <a:endParaRPr/>
          </a:p>
        </p:txBody>
      </p:sp>
      <p:sp>
        <p:nvSpPr>
          <p:cNvPr id="156" name="Google Shape;156;p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2300"/>
              <a:t>Duration: </a:t>
            </a:r>
            <a:r>
              <a:rPr lang="en-US" sz="2300" b="1"/>
              <a:t>M01 - M12</a:t>
            </a:r>
            <a:endParaRPr sz="2300" b="1"/>
          </a:p>
          <a:p>
            <a:pPr marL="0" lvl="0" indent="0" algn="l" rtl="0">
              <a:lnSpc>
                <a:spcPct val="90000"/>
              </a:lnSpc>
              <a:spcBef>
                <a:spcPts val="0"/>
              </a:spcBef>
              <a:spcAft>
                <a:spcPts val="0"/>
              </a:spcAft>
              <a:buClr>
                <a:schemeClr val="dk1"/>
              </a:buClr>
              <a:buSzPts val="2800"/>
              <a:buNone/>
            </a:pPr>
            <a:r>
              <a:rPr lang="en-US" sz="2300"/>
              <a:t>Leader: </a:t>
            </a:r>
            <a:r>
              <a:rPr lang="en-US" sz="2300" b="1"/>
              <a:t>ICCS</a:t>
            </a:r>
            <a:endParaRPr sz="2300" b="1"/>
          </a:p>
          <a:p>
            <a:pPr marL="0" lvl="0" indent="0" algn="l" rtl="0">
              <a:lnSpc>
                <a:spcPct val="90000"/>
              </a:lnSpc>
              <a:spcBef>
                <a:spcPts val="0"/>
              </a:spcBef>
              <a:spcAft>
                <a:spcPts val="0"/>
              </a:spcAft>
              <a:buClr>
                <a:schemeClr val="dk1"/>
              </a:buClr>
              <a:buSzPts val="2800"/>
              <a:buNone/>
            </a:pPr>
            <a:r>
              <a:rPr lang="en-US" sz="2300"/>
              <a:t>Participants: </a:t>
            </a:r>
            <a:r>
              <a:rPr lang="en-US" sz="2300" b="1"/>
              <a:t>ISI</a:t>
            </a:r>
            <a:r>
              <a:rPr lang="en-US" sz="2300"/>
              <a:t>, </a:t>
            </a:r>
            <a:r>
              <a:rPr lang="en-US" sz="2300" b="1"/>
              <a:t>UNICA</a:t>
            </a:r>
            <a:r>
              <a:rPr lang="en-US" sz="2300"/>
              <a:t>, </a:t>
            </a:r>
            <a:r>
              <a:rPr lang="en-US" sz="2300" b="1"/>
              <a:t>UPatras</a:t>
            </a:r>
            <a:r>
              <a:rPr lang="en-US" sz="2300"/>
              <a:t>, </a:t>
            </a:r>
            <a:r>
              <a:rPr lang="en-US" sz="2300" b="1"/>
              <a:t>AEGIS</a:t>
            </a:r>
            <a:r>
              <a:rPr lang="en-US" sz="2300"/>
              <a:t>, </a:t>
            </a:r>
            <a:r>
              <a:rPr lang="en-US" sz="2300" b="1"/>
              <a:t>TID</a:t>
            </a:r>
            <a:r>
              <a:rPr lang="en-US" sz="2300"/>
              <a:t>, </a:t>
            </a:r>
            <a:r>
              <a:rPr lang="en-US" sz="2300" b="1"/>
              <a:t>UNIPI</a:t>
            </a:r>
            <a:r>
              <a:rPr lang="en-US" sz="2300"/>
              <a:t>, </a:t>
            </a:r>
            <a:r>
              <a:rPr lang="en-US" sz="2300" b="1"/>
              <a:t>SLC</a:t>
            </a:r>
            <a:r>
              <a:rPr lang="en-US" sz="2300"/>
              <a:t>, </a:t>
            </a:r>
            <a:r>
              <a:rPr lang="en-US" sz="2300" b="1"/>
              <a:t>DIE</a:t>
            </a:r>
            <a:r>
              <a:rPr lang="en-US" sz="2300"/>
              <a:t>, </a:t>
            </a:r>
            <a:r>
              <a:rPr lang="en-US" sz="2300" b="1"/>
              <a:t>CBRL</a:t>
            </a:r>
            <a:endParaRPr sz="2300" b="1"/>
          </a:p>
          <a:p>
            <a:pPr marL="0" lvl="0" indent="0" algn="l" rtl="0">
              <a:lnSpc>
                <a:spcPct val="90000"/>
              </a:lnSpc>
              <a:spcBef>
                <a:spcPts val="0"/>
              </a:spcBef>
              <a:spcAft>
                <a:spcPts val="0"/>
              </a:spcAft>
              <a:buClr>
                <a:schemeClr val="dk1"/>
              </a:buClr>
              <a:buSzPts val="2800"/>
              <a:buNone/>
            </a:pPr>
            <a:r>
              <a:rPr lang="en-US" sz="2300"/>
              <a:t>Deliverables:</a:t>
            </a:r>
            <a:endParaRPr sz="2300"/>
          </a:p>
          <a:p>
            <a:pPr marL="457200" lvl="0" indent="-361950" algn="l" rtl="0">
              <a:spcBef>
                <a:spcPts val="0"/>
              </a:spcBef>
              <a:spcAft>
                <a:spcPts val="0"/>
              </a:spcAft>
              <a:buSzPts val="2100"/>
              <a:buChar char="•"/>
            </a:pPr>
            <a:r>
              <a:rPr lang="en-US" sz="2100"/>
              <a:t>D3.1 Project scope definition (M12) - ICCS</a:t>
            </a:r>
            <a:endParaRPr sz="2100"/>
          </a:p>
          <a:p>
            <a:pPr marL="457200" lvl="0" indent="-361950" algn="l" rtl="0">
              <a:spcBef>
                <a:spcPts val="0"/>
              </a:spcBef>
              <a:spcAft>
                <a:spcPts val="0"/>
              </a:spcAft>
              <a:buSzPts val="2100"/>
              <a:buChar char="•"/>
            </a:pPr>
            <a:r>
              <a:rPr lang="en-US" sz="2100"/>
              <a:t>D3.2 Technical specifications (M12) - ISI</a:t>
            </a:r>
            <a:endParaRPr sz="2100"/>
          </a:p>
          <a:p>
            <a:pPr marL="228600" lvl="0" indent="-50800" algn="l" rtl="0">
              <a:lnSpc>
                <a:spcPct val="90000"/>
              </a:lnSpc>
              <a:spcBef>
                <a:spcPts val="0"/>
              </a:spcBef>
              <a:spcAft>
                <a:spcPts val="0"/>
              </a:spcAft>
              <a:buClr>
                <a:schemeClr val="dk1"/>
              </a:buClr>
              <a:buSzPts val="2800"/>
              <a:buNone/>
            </a:pPr>
            <a:endParaRPr sz="2300"/>
          </a:p>
          <a:p>
            <a:pPr marL="228600" lvl="0" indent="-50800" algn="l" rtl="0">
              <a:lnSpc>
                <a:spcPct val="90000"/>
              </a:lnSpc>
              <a:spcBef>
                <a:spcPts val="0"/>
              </a:spcBef>
              <a:spcAft>
                <a:spcPts val="0"/>
              </a:spcAft>
              <a:buClr>
                <a:schemeClr val="dk1"/>
              </a:buClr>
              <a:buSzPts val="2800"/>
              <a:buNone/>
            </a:pPr>
            <a:endParaRPr sz="2500"/>
          </a:p>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31d736aaff7_1_11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Task Information</a:t>
            </a:r>
            <a:endParaRPr/>
          </a:p>
        </p:txBody>
      </p:sp>
      <p:sp>
        <p:nvSpPr>
          <p:cNvPr id="163" name="Google Shape;163;g31d736aaff7_1_112"/>
          <p:cNvSpPr txBox="1">
            <a:spLocks noGrp="1"/>
          </p:cNvSpPr>
          <p:nvPr>
            <p:ph type="body" idx="1"/>
          </p:nvPr>
        </p:nvSpPr>
        <p:spPr>
          <a:xfrm>
            <a:off x="838200" y="1825625"/>
            <a:ext cx="10515600" cy="5032500"/>
          </a:xfrm>
          <a:prstGeom prst="rect">
            <a:avLst/>
          </a:prstGeom>
        </p:spPr>
        <p:txBody>
          <a:bodyPr spcFirstLastPara="1" wrap="square" lIns="91425" tIns="45700" rIns="91425" bIns="45700" anchor="t" anchorCtr="0">
            <a:normAutofit fontScale="77500" lnSpcReduction="20000"/>
          </a:bodyPr>
          <a:lstStyle/>
          <a:p>
            <a:pPr marL="0" lvl="0" indent="0" algn="ctr" rtl="0">
              <a:lnSpc>
                <a:spcPct val="100000"/>
              </a:lnSpc>
              <a:spcBef>
                <a:spcPts val="0"/>
              </a:spcBef>
              <a:spcAft>
                <a:spcPts val="0"/>
              </a:spcAft>
              <a:buNone/>
            </a:pPr>
            <a:r>
              <a:rPr lang="en-US" sz="1000">
                <a:solidFill>
                  <a:schemeClr val="lt1"/>
                </a:solidFill>
              </a:rPr>
              <a:t>Task Information &amp; Problems to be solved</a:t>
            </a:r>
            <a:endParaRPr sz="1000">
              <a:solidFill>
                <a:schemeClr val="lt1"/>
              </a:solidFill>
            </a:endParaRPr>
          </a:p>
          <a:p>
            <a:pPr marL="0" lvl="0" indent="0" algn="l" rtl="0">
              <a:spcBef>
                <a:spcPts val="1000"/>
              </a:spcBef>
              <a:spcAft>
                <a:spcPts val="0"/>
              </a:spcAft>
              <a:buNone/>
            </a:pPr>
            <a:r>
              <a:rPr lang="en-US"/>
              <a:t>Identify relevant tools, processes, models, and systems leading technological trends in the scope of the CoEvolution project, including research areas such as AI, security and cybersecurity.</a:t>
            </a:r>
            <a:endParaRPr/>
          </a:p>
          <a:p>
            <a:pPr marL="0" lvl="0" indent="0" algn="l" rtl="0">
              <a:spcBef>
                <a:spcPts val="1000"/>
              </a:spcBef>
              <a:spcAft>
                <a:spcPts val="0"/>
              </a:spcAft>
              <a:buNone/>
            </a:pPr>
            <a:endParaRPr/>
          </a:p>
          <a:p>
            <a:pPr marL="0" lvl="0" indent="0" algn="l" rtl="0">
              <a:spcBef>
                <a:spcPts val="1000"/>
              </a:spcBef>
              <a:spcAft>
                <a:spcPts val="0"/>
              </a:spcAft>
              <a:buNone/>
            </a:pPr>
            <a:r>
              <a:rPr lang="en-US"/>
              <a:t>Perform a detailed state-of-the-art (SoTA) analysis on security and privacy threats targeting networked AI systems, assessing how existing solutions address these threats.</a:t>
            </a:r>
            <a:endParaRPr/>
          </a:p>
          <a:p>
            <a:pPr marL="0" lvl="0" indent="0" algn="l" rtl="0">
              <a:spcBef>
                <a:spcPts val="1000"/>
              </a:spcBef>
              <a:spcAft>
                <a:spcPts val="0"/>
              </a:spcAft>
              <a:buNone/>
            </a:pPr>
            <a:endParaRPr/>
          </a:p>
          <a:p>
            <a:pPr marL="0" lvl="0" indent="0" algn="l" rtl="0">
              <a:spcBef>
                <a:spcPts val="1000"/>
              </a:spcBef>
              <a:spcAft>
                <a:spcPts val="0"/>
              </a:spcAft>
              <a:buNone/>
            </a:pPr>
            <a:r>
              <a:rPr lang="en-US"/>
              <a:t>Explore existing literature and public threat reports (e.g. ENISA) to gather and analyze threat models and attack types, including:</a:t>
            </a:r>
            <a:endParaRPr/>
          </a:p>
          <a:p>
            <a:pPr marL="457200" lvl="0" indent="-363934" algn="l" rtl="0">
              <a:spcBef>
                <a:spcPts val="1000"/>
              </a:spcBef>
              <a:spcAft>
                <a:spcPts val="0"/>
              </a:spcAft>
              <a:buSzPct val="98214"/>
              <a:buChar char="•"/>
            </a:pPr>
            <a:r>
              <a:rPr lang="en-US"/>
              <a:t>Threat models: Model replacement, Poisoning of training data, Adversarial examples, Membership inference, Model extraction, and Model inversion</a:t>
            </a:r>
            <a:endParaRPr/>
          </a:p>
          <a:p>
            <a:pPr marL="457200" lvl="0" indent="-363934" algn="l" rtl="0">
              <a:spcBef>
                <a:spcPts val="0"/>
              </a:spcBef>
              <a:spcAft>
                <a:spcPts val="0"/>
              </a:spcAft>
              <a:buSzPct val="98214"/>
              <a:buChar char="•"/>
            </a:pPr>
            <a:r>
              <a:rPr lang="en-US"/>
              <a:t>Adversarial attacks: Black-box, White-box, and Gray-box attacks</a:t>
            </a:r>
            <a:endParaRPr/>
          </a:p>
          <a:p>
            <a:pPr marL="0" lvl="0" indent="0" algn="l" rtl="0">
              <a:spcBef>
                <a:spcPts val="1000"/>
              </a:spcBef>
              <a:spcAft>
                <a:spcPts val="0"/>
              </a:spcAft>
              <a:buClr>
                <a:schemeClr val="dk1"/>
              </a:buClr>
              <a:buSzPct val="39285"/>
              <a:buFont typeface="Arial"/>
              <a:buNone/>
            </a:pPr>
            <a:endParaRPr/>
          </a:p>
          <a:p>
            <a:pPr marL="0" lvl="0" indent="0" algn="l" rtl="0">
              <a:spcBef>
                <a:spcPts val="10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g31d736aaff7_1_12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Expected input</a:t>
            </a:r>
            <a:endParaRPr/>
          </a:p>
        </p:txBody>
      </p:sp>
      <p:sp>
        <p:nvSpPr>
          <p:cNvPr id="170" name="Google Shape;170;g31d736aaff7_1_121"/>
          <p:cNvSpPr txBox="1">
            <a:spLocks noGrp="1"/>
          </p:cNvSpPr>
          <p:nvPr>
            <p:ph type="body" idx="1"/>
          </p:nvPr>
        </p:nvSpPr>
        <p:spPr>
          <a:xfrm>
            <a:off x="838200" y="1825625"/>
            <a:ext cx="109230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sz="2500"/>
          </a:p>
          <a:p>
            <a:pPr marL="457200" lvl="0" indent="-387350" algn="l" rtl="0">
              <a:spcBef>
                <a:spcPts val="1000"/>
              </a:spcBef>
              <a:spcAft>
                <a:spcPts val="0"/>
              </a:spcAft>
              <a:buSzPts val="2500"/>
              <a:buChar char="•"/>
            </a:pPr>
            <a:r>
              <a:rPr lang="en-US" sz="2500"/>
              <a:t>Identify and continuously refine the technical requirements of the CoEvolution framework, ensuring alignment with the Use-Case specifications and requirements defined in Task 3.2</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1d736aaff7_1_12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Outcomes</a:t>
            </a:r>
            <a:endParaRPr/>
          </a:p>
        </p:txBody>
      </p:sp>
      <p:sp>
        <p:nvSpPr>
          <p:cNvPr id="177" name="Google Shape;177;g31d736aaff7_1_12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457200" lvl="0" indent="-393700" algn="l" rtl="0">
              <a:spcBef>
                <a:spcPts val="1000"/>
              </a:spcBef>
              <a:spcAft>
                <a:spcPts val="0"/>
              </a:spcAft>
              <a:buSzPts val="2600"/>
              <a:buChar char="•"/>
            </a:pPr>
            <a:r>
              <a:rPr lang="en-US" sz="2600"/>
              <a:t>Detailed state-of-the-art (SoTA) analysis (living document)</a:t>
            </a:r>
            <a:endParaRPr sz="2600"/>
          </a:p>
          <a:p>
            <a:pPr marL="457200" lvl="0" indent="-393700" algn="l" rtl="0">
              <a:spcBef>
                <a:spcPts val="0"/>
              </a:spcBef>
              <a:spcAft>
                <a:spcPts val="0"/>
              </a:spcAft>
              <a:buSzPts val="2600"/>
              <a:buChar char="•"/>
            </a:pPr>
            <a:r>
              <a:rPr lang="en-US" sz="2600"/>
              <a:t>Technical requirements of the CoEvolution framework</a:t>
            </a:r>
            <a:endParaRPr sz="2600"/>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1d736aaff7_1_13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Critical points, Risks and Concerns</a:t>
            </a:r>
            <a:endParaRPr/>
          </a:p>
        </p:txBody>
      </p:sp>
      <p:sp>
        <p:nvSpPr>
          <p:cNvPr id="184" name="Google Shape;184;g31d736aaff7_1_136"/>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sz="2600"/>
              <a:t>Misalignment between the technical requirements identified in Task 3.1 and the use-case specifications and requirements from Task 3.2</a:t>
            </a:r>
            <a:endParaRPr sz="2600"/>
          </a:p>
          <a:p>
            <a:pPr marL="457200" lvl="0" indent="-381000" algn="l" rtl="0">
              <a:spcBef>
                <a:spcPts val="1000"/>
              </a:spcBef>
              <a:spcAft>
                <a:spcPts val="0"/>
              </a:spcAft>
              <a:buSzPts val="2400"/>
              <a:buChar char="•"/>
            </a:pPr>
            <a:r>
              <a:rPr lang="en-US" sz="2400"/>
              <a:t>Mitigation: Establish a regular feedback loop with Task 3.2 to cross-reference requirements</a:t>
            </a:r>
            <a:endParaRPr sz="2400"/>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d736aaff7_1_144"/>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Next steps and schedule M06</a:t>
            </a:r>
            <a:endParaRPr/>
          </a:p>
        </p:txBody>
      </p:sp>
      <p:sp>
        <p:nvSpPr>
          <p:cNvPr id="191" name="Google Shape;191;g31d736aaff7_1_144"/>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Clr>
                <a:schemeClr val="dk1"/>
              </a:buClr>
              <a:buSzPts val="1100"/>
              <a:buFont typeface="Arial"/>
              <a:buNone/>
            </a:pPr>
            <a:r>
              <a:rPr lang="en-US" sz="2600"/>
              <a:t>Perform a state-of-the-art (SoTA) analysis</a:t>
            </a:r>
            <a:endParaRPr sz="2600"/>
          </a:p>
          <a:p>
            <a:pPr marL="0" lvl="0" indent="0" algn="l" rtl="0">
              <a:spcBef>
                <a:spcPts val="1000"/>
              </a:spcBef>
              <a:spcAft>
                <a:spcPts val="0"/>
              </a:spcAft>
              <a:buClr>
                <a:schemeClr val="dk1"/>
              </a:buClr>
              <a:buSzPts val="1100"/>
              <a:buFont typeface="Arial"/>
              <a:buNone/>
            </a:pPr>
            <a:r>
              <a:rPr lang="en-US" sz="2600"/>
              <a:t>Present the results in a living document</a:t>
            </a:r>
            <a:endParaRPr sz="2600"/>
          </a:p>
          <a:p>
            <a:pPr marL="0" lvl="0" indent="0" algn="l" rtl="0">
              <a:spcBef>
                <a:spcPts val="1000"/>
              </a:spcBef>
              <a:spcAft>
                <a:spcPts val="0"/>
              </a:spcAft>
              <a:buClr>
                <a:schemeClr val="dk1"/>
              </a:buClr>
              <a:buSzPts val="1100"/>
              <a:buFont typeface="Arial"/>
              <a:buNone/>
            </a:pPr>
            <a:r>
              <a:rPr lang="en-US" sz="2600"/>
              <a:t>Initiate the identification of the technical requirements in alignment with Task 3.2</a:t>
            </a:r>
            <a:endParaRPr sz="2600"/>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1d736aaff7_1_15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r>
              <a:rPr lang="en-US" dirty="0"/>
              <a:t>Perform a state-of-the-art (</a:t>
            </a:r>
            <a:r>
              <a:rPr lang="en-US" dirty="0" err="1"/>
              <a:t>SoTA</a:t>
            </a:r>
            <a:r>
              <a:rPr lang="en-US" dirty="0"/>
              <a:t>) analysis (M01-M02)</a:t>
            </a:r>
          </a:p>
        </p:txBody>
      </p:sp>
      <p:sp>
        <p:nvSpPr>
          <p:cNvPr id="198" name="Google Shape;198;g31d736aaff7_1_152"/>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a:bodyPr>
          <a:lstStyle/>
          <a:p>
            <a:pPr indent="-406400">
              <a:buSzPts val="2800"/>
            </a:pPr>
            <a:r>
              <a:rPr lang="en-US" dirty="0"/>
              <a:t>Adversarial attacks and threats models [draw io] (offline)</a:t>
            </a:r>
            <a:endParaRPr dirty="0"/>
          </a:p>
          <a:p>
            <a:pPr indent="-406400">
              <a:spcBef>
                <a:spcPts val="0"/>
              </a:spcBef>
              <a:buSzPts val="2800"/>
            </a:pPr>
            <a:r>
              <a:rPr lang="en-US" dirty="0"/>
              <a:t>Federated Learning [</a:t>
            </a:r>
            <a:r>
              <a:rPr lang="en-US" dirty="0" err="1"/>
              <a:t>drawio</a:t>
            </a:r>
            <a:r>
              <a:rPr lang="en-US" dirty="0"/>
              <a:t> link] (offline)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2_Front pag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Agend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608b43f-bfac-4116-ae2f-2654f04dc4f2">
      <Terms xmlns="http://schemas.microsoft.com/office/infopath/2007/PartnerControls"/>
    </lcf76f155ced4ddcb4097134ff3c332f>
    <TaxCatchAll xmlns="f05f1c5d-c52e-4d54-83d1-a52e4aeefd5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4F42BB571C174A8CFFD983452FCC05" ma:contentTypeVersion="12" ma:contentTypeDescription="Create a new document." ma:contentTypeScope="" ma:versionID="be7498dd9c4512a837f461ead69e4c34">
  <xsd:schema xmlns:xsd="http://www.w3.org/2001/XMLSchema" xmlns:xs="http://www.w3.org/2001/XMLSchema" xmlns:p="http://schemas.microsoft.com/office/2006/metadata/properties" xmlns:ns2="d608b43f-bfac-4116-ae2f-2654f04dc4f2" xmlns:ns3="f05f1c5d-c52e-4d54-83d1-a52e4aeefd52" targetNamespace="http://schemas.microsoft.com/office/2006/metadata/properties" ma:root="true" ma:fieldsID="07f14bcc0f87e48c34d5d33dedee0072" ns2:_="" ns3:_="">
    <xsd:import namespace="d608b43f-bfac-4116-ae2f-2654f04dc4f2"/>
    <xsd:import namespace="f05f1c5d-c52e-4d54-83d1-a52e4aeefd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08b43f-bfac-4116-ae2f-2654f04dc4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1a16348-86a9-4153-a534-716e536704a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5f1c5d-c52e-4d54-83d1-a52e4aeefd5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be773a3-2a48-487a-a9d1-73543309e2e9}" ma:internalName="TaxCatchAll" ma:showField="CatchAllData" ma:web="f05f1c5d-c52e-4d54-83d1-a52e4aeefd5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E63F6F-7045-4522-8607-EF718686523F}">
  <ds:schemaRefs>
    <ds:schemaRef ds:uri="http://schemas.microsoft.com/office/2006/metadata/properties"/>
    <ds:schemaRef ds:uri="http://schemas.microsoft.com/office/infopath/2007/PartnerControls"/>
    <ds:schemaRef ds:uri="d608b43f-bfac-4116-ae2f-2654f04dc4f2"/>
    <ds:schemaRef ds:uri="f05f1c5d-c52e-4d54-83d1-a52e4aeefd52"/>
  </ds:schemaRefs>
</ds:datastoreItem>
</file>

<file path=customXml/itemProps2.xml><?xml version="1.0" encoding="utf-8"?>
<ds:datastoreItem xmlns:ds="http://schemas.openxmlformats.org/officeDocument/2006/customXml" ds:itemID="{20DAE3E9-2866-42F8-B7B8-8D3E423F522F}">
  <ds:schemaRefs>
    <ds:schemaRef ds:uri="http://schemas.microsoft.com/sharepoint/v3/contenttype/forms"/>
  </ds:schemaRefs>
</ds:datastoreItem>
</file>

<file path=customXml/itemProps3.xml><?xml version="1.0" encoding="utf-8"?>
<ds:datastoreItem xmlns:ds="http://schemas.openxmlformats.org/officeDocument/2006/customXml" ds:itemID="{DC5211AA-5C16-4843-B243-AD57F9D1F3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08b43f-bfac-4116-ae2f-2654f04dc4f2"/>
    <ds:schemaRef ds:uri="f05f1c5d-c52e-4d54-83d1-a52e4aeefd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3</vt:i4>
      </vt:variant>
      <vt:variant>
        <vt:lpstr>Slide Titles</vt:lpstr>
      </vt:variant>
      <vt:variant>
        <vt:i4>10</vt:i4>
      </vt:variant>
    </vt:vector>
  </HeadingPairs>
  <TitlesOfParts>
    <vt:vector size="13" baseType="lpstr">
      <vt:lpstr>2_Front page</vt:lpstr>
      <vt:lpstr>4_Agenda</vt:lpstr>
      <vt:lpstr>Θέμα του Office</vt:lpstr>
      <vt:lpstr>Task 3.1 State-of-the-Art, Threat model and Technical Specifications</vt:lpstr>
      <vt:lpstr>Outline</vt:lpstr>
      <vt:lpstr>Details</vt:lpstr>
      <vt:lpstr>Task Information</vt:lpstr>
      <vt:lpstr>Expected input</vt:lpstr>
      <vt:lpstr>Outcomes</vt:lpstr>
      <vt:lpstr>Critical points, Risks and Concerns</vt:lpstr>
      <vt:lpstr>Next steps and schedule M06</vt:lpstr>
      <vt:lpstr>Perform a state-of-the-art (SoTA) analysis (M01-M02)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ASTERIOS STROUMPOULIS</dc:creator>
  <cp:revision>4</cp:revision>
  <dcterms:created xsi:type="dcterms:W3CDTF">2024-04-26T17:52:46Z</dcterms:created>
  <dcterms:modified xsi:type="dcterms:W3CDTF">2025-01-16T12:11:44Z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0x010100314F42BB571C174A8CFFD983452FCC05</vt:lpwstr>
  </property>
  <property fmtid="{D5CDD505-2E9C-101B-9397-08002B2CF9AE}" pid="3" name="MediaServiceImageTags">
    <vt:lpwstr/>
  </property>
</Properties>
</file>