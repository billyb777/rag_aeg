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650" r:id="rId5"/>
    <p:sldMasterId id="2147483652" r:id="rId6"/>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p:notesSz cx="6858000" cy="9144000"/>
  <p:embeddedFontLst>
    <p:embeddedFont>
      <p:font typeface="Fira Sans" panose="020B0503050000020004" pitchFamily="3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GmJPyxmGV5MBM4lF928Lf/aFKX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ED85CE-40F5-10FC-9B7B-B8C345F5A6F5}" v="3" dt="2025-01-16T12:12:48.668"/>
  </p1510:revLst>
</p1510:revInfo>
</file>

<file path=ppt/tableStyles.xml><?xml version="1.0" encoding="utf-8"?>
<a:tblStyleLst xmlns:a="http://schemas.openxmlformats.org/drawingml/2006/main" def="{6D3ED817-8050-4A24-B285-83541F0F68E0}">
  <a:tblStyle styleId="{6D3ED817-8050-4A24-B285-83541F0F68E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BCF67F5-B843-4012-9C7D-3BE28EE58C03}"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font" Target="fonts/font4.fntdata"/><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customschemas.google.com/relationships/presentationmetadata" Target="meta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Αντωνιος Μακρης" userId="S::antoniosmakris@ntua.gr::eea0bc52-0833-4d66-a611-1693fee57a2c" providerId="AD" clId="Web-{7DED85CE-40F5-10FC-9B7B-B8C345F5A6F5}"/>
    <pc:docChg chg="modSld">
      <pc:chgData name="Αντωνιος Μακρης" userId="S::antoniosmakris@ntua.gr::eea0bc52-0833-4d66-a611-1693fee57a2c" providerId="AD" clId="Web-{7DED85CE-40F5-10FC-9B7B-B8C345F5A6F5}" dt="2025-01-16T12:12:48.105" v="1" actId="20577"/>
      <pc:docMkLst>
        <pc:docMk/>
      </pc:docMkLst>
      <pc:sldChg chg="delSp modSp">
        <pc:chgData name="Αντωνιος Μακρης" userId="S::antoniosmakris@ntua.gr::eea0bc52-0833-4d66-a611-1693fee57a2c" providerId="AD" clId="Web-{7DED85CE-40F5-10FC-9B7B-B8C345F5A6F5}" dt="2025-01-16T12:12:48.105" v="1" actId="20577"/>
        <pc:sldMkLst>
          <pc:docMk/>
          <pc:sldMk cId="0" sldId="257"/>
        </pc:sldMkLst>
        <pc:spChg chg="mod">
          <ac:chgData name="Αντωνιος Μακρης" userId="S::antoniosmakris@ntua.gr::eea0bc52-0833-4d66-a611-1693fee57a2c" providerId="AD" clId="Web-{7DED85CE-40F5-10FC-9B7B-B8C345F5A6F5}" dt="2025-01-16T12:12:48.105" v="1" actId="20577"/>
          <ac:spMkLst>
            <pc:docMk/>
            <pc:sldMk cId="0" sldId="257"/>
            <ac:spMk id="151" creationId="{00000000-0000-0000-0000-000000000000}"/>
          </ac:spMkLst>
        </pc:spChg>
        <pc:spChg chg="del">
          <ac:chgData name="Αντωνιος Μακρης" userId="S::antoniosmakris@ntua.gr::eea0bc52-0833-4d66-a611-1693fee57a2c" providerId="AD" clId="Web-{7DED85CE-40F5-10FC-9B7B-B8C345F5A6F5}" dt="2025-01-16T12:12:42.168" v="0"/>
          <ac:spMkLst>
            <pc:docMk/>
            <pc:sldMk cId="0" sldId="257"/>
            <ac:spMk id="15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166457691f_0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g3166457691f_0_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1f980858f0_1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g31f980858f0_1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1f980858f0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g31f980858f0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1f9bbed2c6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g31f9bbed2c6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1f9bbed2c6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2" name="Google Shape;182;g31f9bbed2c6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1f9bbed2c6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 name="Google Shape;188;g31f9bbed2c6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1fec4b975f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4" name="Google Shape;194;g31fec4b975f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Προσαρμοσμένη διάταξη">
  <p:cSld name="Προσαρμοσμένη διάταξη">
    <p:spTree>
      <p:nvGrpSpPr>
        <p:cNvPr id="1" name="Shape 13"/>
        <p:cNvGrpSpPr/>
        <p:nvPr/>
      </p:nvGrpSpPr>
      <p:grpSpPr>
        <a:xfrm>
          <a:off x="0" y="0"/>
          <a:ext cx="0" cy="0"/>
          <a:chOff x="0" y="0"/>
          <a:chExt cx="0" cy="0"/>
        </a:xfrm>
      </p:grpSpPr>
      <p:sp>
        <p:nvSpPr>
          <p:cNvPr id="14" name="Google Shape;14;p8"/>
          <p:cNvSpPr txBox="1">
            <a:spLocks noGrp="1"/>
          </p:cNvSpPr>
          <p:nvPr>
            <p:ph type="title"/>
          </p:nvPr>
        </p:nvSpPr>
        <p:spPr>
          <a:xfrm>
            <a:off x="838199" y="3204504"/>
            <a:ext cx="10515600" cy="1325563"/>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 name="Google Shape;15;p8"/>
          <p:cNvSpPr txBox="1">
            <a:spLocks noGrp="1"/>
          </p:cNvSpPr>
          <p:nvPr>
            <p:ph type="body" idx="1"/>
          </p:nvPr>
        </p:nvSpPr>
        <p:spPr>
          <a:xfrm>
            <a:off x="2886868" y="4865060"/>
            <a:ext cx="6418263" cy="1325564"/>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rgbClr val="2154A2"/>
              </a:buClr>
              <a:buSzPts val="2800"/>
              <a:buFont typeface="Arial"/>
              <a:buNone/>
              <a:defRPr sz="2800" b="0" i="0" u="none" strike="noStrike" cap="none">
                <a:solidFill>
                  <a:srgbClr val="2154A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 name="Google Shape;16;p8"/>
          <p:cNvSpPr txBox="1">
            <a:spLocks noGrp="1"/>
          </p:cNvSpPr>
          <p:nvPr>
            <p:ph type="body" idx="2"/>
          </p:nvPr>
        </p:nvSpPr>
        <p:spPr>
          <a:xfrm>
            <a:off x="266700" y="1983447"/>
            <a:ext cx="2286000" cy="639762"/>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2154A2"/>
              </a:buClr>
              <a:buSzPts val="2800"/>
              <a:buFont typeface="Arial"/>
              <a:buNone/>
              <a:defRPr sz="2800" b="0" i="0" u="none" strike="noStrike" cap="none">
                <a:solidFill>
                  <a:srgbClr val="2154A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Προσαρμοσμένη διάταξη">
  <p:cSld name="Προσαρμοσμένη διάταξη">
    <p:spTree>
      <p:nvGrpSpPr>
        <p:cNvPr id="1" name="Shape 29"/>
        <p:cNvGrpSpPr/>
        <p:nvPr/>
      </p:nvGrpSpPr>
      <p:grpSpPr>
        <a:xfrm>
          <a:off x="0" y="0"/>
          <a:ext cx="0" cy="0"/>
          <a:chOff x="0" y="0"/>
          <a:chExt cx="0" cy="0"/>
        </a:xfrm>
      </p:grpSpPr>
      <p:sp>
        <p:nvSpPr>
          <p:cNvPr id="30" name="Google Shape;30;p10"/>
          <p:cNvSpPr txBox="1">
            <a:spLocks noGrp="1"/>
          </p:cNvSpPr>
          <p:nvPr>
            <p:ph type="title"/>
          </p:nvPr>
        </p:nvSpPr>
        <p:spPr>
          <a:xfrm>
            <a:off x="838200" y="688587"/>
            <a:ext cx="10515600" cy="1009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154A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body" idx="1"/>
          </p:nvPr>
        </p:nvSpPr>
        <p:spPr>
          <a:xfrm>
            <a:off x="1743075" y="2268119"/>
            <a:ext cx="9264600" cy="595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2" name="Google Shape;32;p10"/>
          <p:cNvSpPr txBox="1">
            <a:spLocks noGrp="1"/>
          </p:cNvSpPr>
          <p:nvPr>
            <p:ph type="body" idx="2"/>
          </p:nvPr>
        </p:nvSpPr>
        <p:spPr>
          <a:xfrm>
            <a:off x="1743075" y="3131344"/>
            <a:ext cx="9264600" cy="595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3" name="Google Shape;33;p10"/>
          <p:cNvSpPr txBox="1">
            <a:spLocks noGrp="1"/>
          </p:cNvSpPr>
          <p:nvPr>
            <p:ph type="body" idx="3"/>
          </p:nvPr>
        </p:nvSpPr>
        <p:spPr>
          <a:xfrm>
            <a:off x="1743075" y="4048327"/>
            <a:ext cx="9264600" cy="595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4" name="Google Shape;34;p10"/>
          <p:cNvSpPr txBox="1">
            <a:spLocks noGrp="1"/>
          </p:cNvSpPr>
          <p:nvPr>
            <p:ph type="body" idx="4"/>
          </p:nvPr>
        </p:nvSpPr>
        <p:spPr>
          <a:xfrm>
            <a:off x="1743075" y="4965311"/>
            <a:ext cx="9264600" cy="595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5" name="Google Shape;35;p10"/>
          <p:cNvSpPr txBox="1">
            <a:spLocks noGrp="1"/>
          </p:cNvSpPr>
          <p:nvPr>
            <p:ph type="body" idx="5"/>
          </p:nvPr>
        </p:nvSpPr>
        <p:spPr>
          <a:xfrm>
            <a:off x="1743075" y="5882295"/>
            <a:ext cx="9264600" cy="595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36" name="Google Shape;36;p10"/>
          <p:cNvPicPr preferRelativeResize="0"/>
          <p:nvPr/>
        </p:nvPicPr>
        <p:blipFill rotWithShape="1">
          <a:blip r:embed="rId2">
            <a:alphaModFix/>
          </a:blip>
          <a:srcRect/>
          <a:stretch/>
        </p:blipFill>
        <p:spPr>
          <a:xfrm>
            <a:off x="10246900" y="33425"/>
            <a:ext cx="1911675" cy="2791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Δύο περιεχόμενα" type="twoObj">
  <p:cSld name="TWO_OBJECTS">
    <p:spTree>
      <p:nvGrpSpPr>
        <p:cNvPr id="1" name="Shape 44"/>
        <p:cNvGrpSpPr/>
        <p:nvPr/>
      </p:nvGrpSpPr>
      <p:grpSpPr>
        <a:xfrm>
          <a:off x="0" y="0"/>
          <a:ext cx="0" cy="0"/>
          <a:chOff x="0" y="0"/>
          <a:chExt cx="0" cy="0"/>
        </a:xfrm>
      </p:grpSpPr>
      <p:sp>
        <p:nvSpPr>
          <p:cNvPr id="45" name="Google Shape;45;p14"/>
          <p:cNvSpPr/>
          <p:nvPr/>
        </p:nvSpPr>
        <p:spPr>
          <a:xfrm>
            <a:off x="0" y="0"/>
            <a:ext cx="12192000" cy="1646100"/>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 name="Google Shape;46;p14"/>
          <p:cNvSpPr/>
          <p:nvPr/>
        </p:nvSpPr>
        <p:spPr>
          <a:xfrm>
            <a:off x="8074325" y="0"/>
            <a:ext cx="4117800" cy="1646100"/>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 name="Google Shape;47;p1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53" name="Google Shape;53;p14"/>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Περιεχόμενο με λεζάντα" type="objTx">
  <p:cSld name="OBJECT_WITH_CAPTION_TEXT">
    <p:spTree>
      <p:nvGrpSpPr>
        <p:cNvPr id="1" name="Shape 54"/>
        <p:cNvGrpSpPr/>
        <p:nvPr/>
      </p:nvGrpSpPr>
      <p:grpSpPr>
        <a:xfrm>
          <a:off x="0" y="0"/>
          <a:ext cx="0" cy="0"/>
          <a:chOff x="0" y="0"/>
          <a:chExt cx="0" cy="0"/>
        </a:xfrm>
      </p:grpSpPr>
      <p:sp>
        <p:nvSpPr>
          <p:cNvPr id="55" name="Google Shape;55;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losing slide" type="blank">
  <p:cSld name="BLANK">
    <p:spTree>
      <p:nvGrpSpPr>
        <p:cNvPr id="1" name="Shape 61"/>
        <p:cNvGrpSpPr/>
        <p:nvPr/>
      </p:nvGrpSpPr>
      <p:grpSpPr>
        <a:xfrm>
          <a:off x="0" y="0"/>
          <a:ext cx="0" cy="0"/>
          <a:chOff x="0" y="0"/>
          <a:chExt cx="0" cy="0"/>
        </a:xfrm>
      </p:grpSpPr>
      <p:pic>
        <p:nvPicPr>
          <p:cNvPr id="62" name="Google Shape;62;p16"/>
          <p:cNvPicPr preferRelativeResize="0"/>
          <p:nvPr/>
        </p:nvPicPr>
        <p:blipFill rotWithShape="1">
          <a:blip r:embed="rId2">
            <a:alphaModFix/>
          </a:blip>
          <a:srcRect/>
          <a:stretch/>
        </p:blipFill>
        <p:spPr>
          <a:xfrm>
            <a:off x="0" y="0"/>
            <a:ext cx="6383069" cy="6858000"/>
          </a:xfrm>
          <a:prstGeom prst="rect">
            <a:avLst/>
          </a:prstGeom>
          <a:noFill/>
          <a:ln>
            <a:noFill/>
          </a:ln>
        </p:spPr>
      </p:pic>
      <p:pic>
        <p:nvPicPr>
          <p:cNvPr id="63" name="Google Shape;63;p16" descr="Χειραψία"/>
          <p:cNvPicPr preferRelativeResize="0"/>
          <p:nvPr/>
        </p:nvPicPr>
        <p:blipFill rotWithShape="1">
          <a:blip r:embed="rId3">
            <a:alphaModFix/>
          </a:blip>
          <a:srcRect/>
          <a:stretch/>
        </p:blipFill>
        <p:spPr>
          <a:xfrm>
            <a:off x="340470" y="1815320"/>
            <a:ext cx="4141760" cy="4141760"/>
          </a:xfrm>
          <a:custGeom>
            <a:avLst/>
            <a:gdLst/>
            <a:ahLst/>
            <a:cxnLst/>
            <a:rect l="l" t="t" r="r" b="b"/>
            <a:pathLst>
              <a:path w="4141760" h="4377846" extrusionOk="0">
                <a:moveTo>
                  <a:pt x="0" y="0"/>
                </a:moveTo>
                <a:lnTo>
                  <a:pt x="4141760" y="0"/>
                </a:lnTo>
                <a:lnTo>
                  <a:pt x="4141760" y="4377846"/>
                </a:lnTo>
                <a:lnTo>
                  <a:pt x="0" y="4377846"/>
                </a:lnTo>
                <a:close/>
              </a:path>
            </a:pathLst>
          </a:custGeom>
          <a:noFill/>
          <a:ln>
            <a:noFill/>
          </a:ln>
        </p:spPr>
      </p:pic>
      <p:sp>
        <p:nvSpPr>
          <p:cNvPr id="64" name="Google Shape;64;p16"/>
          <p:cNvSpPr txBox="1"/>
          <p:nvPr/>
        </p:nvSpPr>
        <p:spPr>
          <a:xfrm>
            <a:off x="6091652" y="5984679"/>
            <a:ext cx="6028800" cy="677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57070"/>
              </a:buClr>
              <a:buSzPts val="1050"/>
              <a:buFont typeface="Calibri"/>
              <a:buNone/>
            </a:pPr>
            <a:r>
              <a:rPr lang="en-US" sz="950" b="0" i="0" u="none" strike="noStrike" cap="none">
                <a:solidFill>
                  <a:srgbClr val="757070"/>
                </a:solidFill>
                <a:latin typeface="Arial"/>
                <a:ea typeface="Arial"/>
                <a:cs typeface="Arial"/>
                <a:sym typeface="Arial"/>
              </a:rPr>
              <a:t>The work described in this presentation has been conducted within the project CoEvolution. This project has received funding from the European Union’s Horizon Europe Framework Programme (Horizon) under Grant Agreement No 101168560. This document does not represent the opinion of the European Union, and the European Union is not responsible for any use that might be made of this content.</a:t>
            </a:r>
            <a:endParaRPr sz="1300" b="0" i="0" u="none" strike="noStrike" cap="none">
              <a:solidFill>
                <a:srgbClr val="000000"/>
              </a:solidFill>
              <a:latin typeface="Arial"/>
              <a:ea typeface="Arial"/>
              <a:cs typeface="Arial"/>
              <a:sym typeface="Arial"/>
            </a:endParaRPr>
          </a:p>
        </p:txBody>
      </p:sp>
      <p:sp>
        <p:nvSpPr>
          <p:cNvPr id="65" name="Google Shape;65;p16"/>
          <p:cNvSpPr txBox="1"/>
          <p:nvPr/>
        </p:nvSpPr>
        <p:spPr>
          <a:xfrm>
            <a:off x="6501028" y="2343782"/>
            <a:ext cx="4805996" cy="1297115"/>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44546A"/>
              </a:buClr>
              <a:buSzPts val="4000"/>
              <a:buFont typeface="Calibri"/>
              <a:buNone/>
            </a:pPr>
            <a:r>
              <a:rPr lang="en-US" sz="4000" b="1" i="0" u="none" strike="noStrike" cap="none">
                <a:solidFill>
                  <a:srgbClr val="44546A"/>
                </a:solidFill>
                <a:latin typeface="Arial"/>
                <a:ea typeface="Arial"/>
                <a:cs typeface="Arial"/>
                <a:sym typeface="Arial"/>
              </a:rPr>
              <a:t>Thank you!</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Διαφάνεια τίτλου" type="title">
  <p:cSld name="TITLE">
    <p:spTree>
      <p:nvGrpSpPr>
        <p:cNvPr id="1" name="Shape 66"/>
        <p:cNvGrpSpPr/>
        <p:nvPr/>
      </p:nvGrpSpPr>
      <p:grpSpPr>
        <a:xfrm>
          <a:off x="0" y="0"/>
          <a:ext cx="0" cy="0"/>
          <a:chOff x="0" y="0"/>
          <a:chExt cx="0" cy="0"/>
        </a:xfrm>
      </p:grpSpPr>
      <p:sp>
        <p:nvSpPr>
          <p:cNvPr id="67" name="Google Shape;67;p1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69" name="Google Shape;69;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1" name="Google Shape;71;p17"/>
          <p:cNvPicPr preferRelativeResize="0"/>
          <p:nvPr/>
        </p:nvPicPr>
        <p:blipFill rotWithShape="1">
          <a:blip r:embed="rId2">
            <a:alphaModFix/>
          </a:blip>
          <a:srcRect/>
          <a:stretch/>
        </p:blipFill>
        <p:spPr>
          <a:xfrm>
            <a:off x="10566582" y="5735637"/>
            <a:ext cx="772930" cy="514350"/>
          </a:xfrm>
          <a:prstGeom prst="rect">
            <a:avLst/>
          </a:prstGeom>
          <a:noFill/>
          <a:ln>
            <a:noFill/>
          </a:ln>
        </p:spPr>
      </p:pic>
      <p:sp>
        <p:nvSpPr>
          <p:cNvPr id="72" name="Google Shape;72;p17"/>
          <p:cNvSpPr txBox="1"/>
          <p:nvPr/>
        </p:nvSpPr>
        <p:spPr>
          <a:xfrm>
            <a:off x="9982200" y="6254175"/>
            <a:ext cx="203835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57070"/>
              </a:buClr>
              <a:buSzPts val="800"/>
              <a:buFont typeface="Arial"/>
              <a:buNone/>
            </a:pPr>
            <a:r>
              <a:rPr lang="en-US" sz="800" b="0" i="0" u="none" strike="noStrike" cap="none">
                <a:solidFill>
                  <a:srgbClr val="757070"/>
                </a:solidFill>
                <a:latin typeface="Arial"/>
                <a:ea typeface="Arial"/>
                <a:cs typeface="Arial"/>
                <a:sym typeface="Arial"/>
              </a:rPr>
              <a:t>The project has received funding form the European Union’s Horizon Europe Framework Programme (Horizon) under grant agreement No 101135775</a:t>
            </a:r>
            <a:endParaRPr sz="800" b="0" i="0" u="none" strike="noStrike" cap="none">
              <a:solidFill>
                <a:srgbClr val="75707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Τίτλος και περιεχόμενο" type="obj">
  <p:cSld name="OBJECT">
    <p:spTree>
      <p:nvGrpSpPr>
        <p:cNvPr id="1" name="Shape 73"/>
        <p:cNvGrpSpPr/>
        <p:nvPr/>
      </p:nvGrpSpPr>
      <p:grpSpPr>
        <a:xfrm>
          <a:off x="0" y="0"/>
          <a:ext cx="0" cy="0"/>
          <a:chOff x="0" y="0"/>
          <a:chExt cx="0" cy="0"/>
        </a:xfrm>
      </p:grpSpPr>
      <p:sp>
        <p:nvSpPr>
          <p:cNvPr id="74" name="Google Shape;74;p18"/>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5" name="Google Shape;75;p18"/>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6" name="Google Shape;7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81" name="Google Shape;81;p18"/>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Κεφαλίδα ενότητας" type="secHead">
  <p:cSld name="SECTION_HEADER">
    <p:spTree>
      <p:nvGrpSpPr>
        <p:cNvPr id="1" name="Shape 82"/>
        <p:cNvGrpSpPr/>
        <p:nvPr/>
      </p:nvGrpSpPr>
      <p:grpSpPr>
        <a:xfrm>
          <a:off x="0" y="0"/>
          <a:ext cx="0" cy="0"/>
          <a:chOff x="0" y="0"/>
          <a:chExt cx="0" cy="0"/>
        </a:xfrm>
      </p:grpSpPr>
      <p:sp>
        <p:nvSpPr>
          <p:cNvPr id="83" name="Google Shape;83;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85" name="Google Shape;8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Σύγκριση" type="twoTxTwoObj">
  <p:cSld name="TWO_OBJECTS_WITH_TEXT">
    <p:spTree>
      <p:nvGrpSpPr>
        <p:cNvPr id="1" name="Shape 88"/>
        <p:cNvGrpSpPr/>
        <p:nvPr/>
      </p:nvGrpSpPr>
      <p:grpSpPr>
        <a:xfrm>
          <a:off x="0" y="0"/>
          <a:ext cx="0" cy="0"/>
          <a:chOff x="0" y="0"/>
          <a:chExt cx="0" cy="0"/>
        </a:xfrm>
      </p:grpSpPr>
      <p:sp>
        <p:nvSpPr>
          <p:cNvPr id="89" name="Google Shape;89;p20"/>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 name="Google Shape;90;p20"/>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 name="Google Shape;91;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3" name="Google Shape;93;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5" name="Google Shape;95;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6" name="Google Shape;96;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9" name="Google Shape;99;p20"/>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Μόνο τίτλος" type="titleOnly">
  <p:cSld name="TITLE_ONLY">
    <p:spTree>
      <p:nvGrpSpPr>
        <p:cNvPr id="1" name="Shape 100"/>
        <p:cNvGrpSpPr/>
        <p:nvPr/>
      </p:nvGrpSpPr>
      <p:grpSpPr>
        <a:xfrm>
          <a:off x="0" y="0"/>
          <a:ext cx="0" cy="0"/>
          <a:chOff x="0" y="0"/>
          <a:chExt cx="0" cy="0"/>
        </a:xfrm>
      </p:grpSpPr>
      <p:sp>
        <p:nvSpPr>
          <p:cNvPr id="101" name="Google Shape;101;p21"/>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21"/>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 name="Google Shape;103;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07" name="Google Shape;107;p21"/>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Κενό">
  <p:cSld name="Κενό">
    <p:spTree>
      <p:nvGrpSpPr>
        <p:cNvPr id="1" name="Shape 108"/>
        <p:cNvGrpSpPr/>
        <p:nvPr/>
      </p:nvGrpSpPr>
      <p:grpSpPr>
        <a:xfrm>
          <a:off x="0" y="0"/>
          <a:ext cx="0" cy="0"/>
          <a:chOff x="0" y="0"/>
          <a:chExt cx="0" cy="0"/>
        </a:xfrm>
      </p:grpSpPr>
      <p:sp>
        <p:nvSpPr>
          <p:cNvPr id="109" name="Google Shape;10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Εικόνα με λεζάντα" type="picTx">
  <p:cSld name="PICTURE_WITH_CAPTION_TEXT">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23"/>
          <p:cNvSpPr>
            <a:spLocks noGrp="1"/>
          </p:cNvSpPr>
          <p:nvPr>
            <p:ph type="pic" idx="2"/>
          </p:nvPr>
        </p:nvSpPr>
        <p:spPr>
          <a:xfrm>
            <a:off x="5183188" y="987425"/>
            <a:ext cx="6172200" cy="4873625"/>
          </a:xfrm>
          <a:prstGeom prst="rect">
            <a:avLst/>
          </a:prstGeom>
          <a:noFill/>
          <a:ln>
            <a:noFill/>
          </a:ln>
        </p:spPr>
      </p:sp>
      <p:sp>
        <p:nvSpPr>
          <p:cNvPr id="115" name="Google Shape;115;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6" name="Google Shape;11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Τίτλος και Κατακόρυφο κείμενο" type="vertTx">
  <p:cSld name="VERTICAL_TEXT">
    <p:spTree>
      <p:nvGrpSpPr>
        <p:cNvPr id="1" name="Shape 119"/>
        <p:cNvGrpSpPr/>
        <p:nvPr/>
      </p:nvGrpSpPr>
      <p:grpSpPr>
        <a:xfrm>
          <a:off x="0" y="0"/>
          <a:ext cx="0" cy="0"/>
          <a:chOff x="0" y="0"/>
          <a:chExt cx="0" cy="0"/>
        </a:xfrm>
      </p:grpSpPr>
      <p:sp>
        <p:nvSpPr>
          <p:cNvPr id="120" name="Google Shape;120;p24"/>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1" name="Google Shape;121;p24"/>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2" name="Google Shape;122;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27" name="Google Shape;127;p24"/>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Κατακόρυφος τίτλος και Κείμενο" type="vertTitleAndTx">
  <p:cSld name="VERTICAL_TITLE_AND_VERTICAL_TEXT">
    <p:spTree>
      <p:nvGrpSpPr>
        <p:cNvPr id="1" name="Shape 128"/>
        <p:cNvGrpSpPr/>
        <p:nvPr/>
      </p:nvGrpSpPr>
      <p:grpSpPr>
        <a:xfrm>
          <a:off x="0" y="0"/>
          <a:ext cx="0" cy="0"/>
          <a:chOff x="0" y="0"/>
          <a:chExt cx="0" cy="0"/>
        </a:xfrm>
      </p:grpSpPr>
      <p:sp>
        <p:nvSpPr>
          <p:cNvPr id="129" name="Google Shape;129;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1" name="Google Shape;13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3.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8.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7"/>
          <p:cNvPicPr preferRelativeResize="0"/>
          <p:nvPr/>
        </p:nvPicPr>
        <p:blipFill rotWithShape="1">
          <a:blip r:embed="rId3">
            <a:alphaModFix/>
          </a:blip>
          <a:srcRect/>
          <a:stretch/>
        </p:blipFill>
        <p:spPr>
          <a:xfrm>
            <a:off x="10614982" y="5739837"/>
            <a:ext cx="772930" cy="514350"/>
          </a:xfrm>
          <a:prstGeom prst="rect">
            <a:avLst/>
          </a:prstGeom>
          <a:noFill/>
          <a:ln>
            <a:noFill/>
          </a:ln>
        </p:spPr>
      </p:pic>
      <p:sp>
        <p:nvSpPr>
          <p:cNvPr id="11" name="Google Shape;11;p7"/>
          <p:cNvSpPr txBox="1"/>
          <p:nvPr/>
        </p:nvSpPr>
        <p:spPr>
          <a:xfrm>
            <a:off x="9982200" y="6254175"/>
            <a:ext cx="20385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757070"/>
              </a:buClr>
              <a:buSzPts val="800"/>
              <a:buFont typeface="Calibri"/>
              <a:buNone/>
            </a:pPr>
            <a:r>
              <a:rPr lang="en-US" sz="800" b="0" i="0" u="none" strike="noStrike" cap="none">
                <a:solidFill>
                  <a:srgbClr val="757070"/>
                </a:solidFill>
                <a:latin typeface="Arial"/>
                <a:ea typeface="Arial"/>
                <a:cs typeface="Arial"/>
                <a:sym typeface="Arial"/>
              </a:rPr>
              <a:t>The project has received funding from the European Union’s Horizon Europe Framework Programme (Horizon) under grant agreement No 101168560</a:t>
            </a:r>
            <a:endParaRPr sz="800" b="0" i="0" u="none" strike="noStrike" cap="none">
              <a:solidFill>
                <a:srgbClr val="757070"/>
              </a:solidFill>
              <a:latin typeface="Arial"/>
              <a:ea typeface="Arial"/>
              <a:cs typeface="Arial"/>
              <a:sym typeface="Arial"/>
            </a:endParaRPr>
          </a:p>
        </p:txBody>
      </p:sp>
      <p:pic>
        <p:nvPicPr>
          <p:cNvPr id="12" name="Google Shape;12;p7"/>
          <p:cNvPicPr preferRelativeResize="0"/>
          <p:nvPr/>
        </p:nvPicPr>
        <p:blipFill rotWithShape="1">
          <a:blip r:embed="rId4">
            <a:alphaModFix/>
          </a:blip>
          <a:srcRect/>
          <a:stretch/>
        </p:blipFill>
        <p:spPr>
          <a:xfrm>
            <a:off x="4587038" y="100275"/>
            <a:ext cx="3017923" cy="18184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
        <p:cNvGrpSpPr/>
        <p:nvPr/>
      </p:nvGrpSpPr>
      <p:grpSpPr>
        <a:xfrm>
          <a:off x="0" y="0"/>
          <a:ext cx="0" cy="0"/>
          <a:chOff x="0" y="0"/>
          <a:chExt cx="0" cy="0"/>
        </a:xfrm>
      </p:grpSpPr>
      <p:sp>
        <p:nvSpPr>
          <p:cNvPr id="18" name="Google Shape;18;p9"/>
          <p:cNvSpPr txBox="1">
            <a:spLocks noGrp="1"/>
          </p:cNvSpPr>
          <p:nvPr>
            <p:ph type="title"/>
          </p:nvPr>
        </p:nvSpPr>
        <p:spPr>
          <a:xfrm>
            <a:off x="838200" y="688587"/>
            <a:ext cx="10515600" cy="10098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2154A2"/>
              </a:buClr>
              <a:buSzPts val="3600"/>
              <a:buFont typeface="Arial"/>
              <a:buNone/>
              <a:defRPr sz="3600" b="0" i="0" u="none" strike="noStrike" cap="none">
                <a:solidFill>
                  <a:srgbClr val="2154A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9" name="Google Shape;19;p9"/>
          <p:cNvSpPr/>
          <p:nvPr/>
        </p:nvSpPr>
        <p:spPr>
          <a:xfrm>
            <a:off x="838200" y="3045472"/>
            <a:ext cx="10515600" cy="804000"/>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9"/>
          <p:cNvSpPr/>
          <p:nvPr/>
        </p:nvSpPr>
        <p:spPr>
          <a:xfrm>
            <a:off x="838200" y="2135884"/>
            <a:ext cx="10515600" cy="804000"/>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9"/>
          <p:cNvSpPr/>
          <p:nvPr/>
        </p:nvSpPr>
        <p:spPr>
          <a:xfrm>
            <a:off x="838200" y="3955060"/>
            <a:ext cx="10515600" cy="804000"/>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9"/>
          <p:cNvSpPr/>
          <p:nvPr/>
        </p:nvSpPr>
        <p:spPr>
          <a:xfrm>
            <a:off x="838200" y="4864648"/>
            <a:ext cx="10515600" cy="804000"/>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9" descr="Λίστα ελέγχου"/>
          <p:cNvSpPr/>
          <p:nvPr/>
        </p:nvSpPr>
        <p:spPr>
          <a:xfrm>
            <a:off x="1044070" y="2316813"/>
            <a:ext cx="442200" cy="442200"/>
          </a:xfrm>
          <a:prstGeom prst="rect">
            <a:avLst/>
          </a:prstGeom>
          <a:blipFill rotWithShape="1">
            <a:blip r:embed="rId3">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9" descr="Atom"/>
          <p:cNvSpPr/>
          <p:nvPr/>
        </p:nvSpPr>
        <p:spPr>
          <a:xfrm>
            <a:off x="1044069" y="3226401"/>
            <a:ext cx="442200" cy="442200"/>
          </a:xfrm>
          <a:prstGeom prst="rect">
            <a:avLst/>
          </a:prstGeom>
          <a:blipFill rotWithShape="1">
            <a:blip r:embed="rId4">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9" descr="Υπολογιστής"/>
          <p:cNvSpPr/>
          <p:nvPr/>
        </p:nvSpPr>
        <p:spPr>
          <a:xfrm>
            <a:off x="1044069" y="4135989"/>
            <a:ext cx="442200" cy="442200"/>
          </a:xfrm>
          <a:prstGeom prst="rect">
            <a:avLst/>
          </a:prstGeom>
          <a:blipFill rotWithShape="1">
            <a:blip r:embed="rId5">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9" descr="Προειδοποίηση"/>
          <p:cNvSpPr/>
          <p:nvPr/>
        </p:nvSpPr>
        <p:spPr>
          <a:xfrm>
            <a:off x="1044069" y="5045577"/>
            <a:ext cx="442200" cy="442200"/>
          </a:xfrm>
          <a:prstGeom prst="rect">
            <a:avLst/>
          </a:prstGeom>
          <a:blipFill rotWithShape="1">
            <a:blip r:embed="rId6">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9"/>
          <p:cNvSpPr/>
          <p:nvPr/>
        </p:nvSpPr>
        <p:spPr>
          <a:xfrm>
            <a:off x="838200" y="5774236"/>
            <a:ext cx="10515600" cy="804000"/>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9" descr="Σημάδι ελέγχου"/>
          <p:cNvSpPr/>
          <p:nvPr/>
        </p:nvSpPr>
        <p:spPr>
          <a:xfrm>
            <a:off x="1044069" y="5955165"/>
            <a:ext cx="442200" cy="442200"/>
          </a:xfrm>
          <a:prstGeom prst="rect">
            <a:avLst/>
          </a:prstGeom>
          <a:blipFill rotWithShape="1">
            <a:blip r:embed="rId7">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
        <p:cNvGrpSpPr/>
        <p:nvPr/>
      </p:nvGrpSpPr>
      <p:grpSpPr>
        <a:xfrm>
          <a:off x="0" y="0"/>
          <a:ext cx="0" cy="0"/>
          <a:chOff x="0" y="0"/>
          <a:chExt cx="0" cy="0"/>
        </a:xfrm>
      </p:grpSpPr>
      <p:sp>
        <p:nvSpPr>
          <p:cNvPr id="38" name="Google Shape;38;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9" name="Google Shape;39;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0" name="Google Shape;4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1" name="Google Shape;4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2" name="Google Shape;4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3" name="Google Shape;43;p13"/>
          <p:cNvPicPr preferRelativeResize="0"/>
          <p:nvPr/>
        </p:nvPicPr>
        <p:blipFill rotWithShape="1">
          <a:blip r:embed="rId14">
            <a:alphaModFix/>
          </a:blip>
          <a:srcRect/>
          <a:stretch/>
        </p:blipFill>
        <p:spPr>
          <a:xfrm>
            <a:off x="10246900" y="33425"/>
            <a:ext cx="1911675" cy="2791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
          <p:cNvSpPr txBox="1">
            <a:spLocks noGrp="1"/>
          </p:cNvSpPr>
          <p:nvPr>
            <p:ph type="title"/>
          </p:nvPr>
        </p:nvSpPr>
        <p:spPr>
          <a:xfrm>
            <a:off x="838199" y="3118779"/>
            <a:ext cx="10515600" cy="13257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Calibri"/>
              <a:buNone/>
            </a:pPr>
            <a:r>
              <a:rPr lang="en-US" sz="3800"/>
              <a:t>Task 3.1 State-of-the-Art, Threat model and Technical Specifications</a:t>
            </a:r>
            <a:endParaRPr sz="3800"/>
          </a:p>
        </p:txBody>
      </p:sp>
      <p:sp>
        <p:nvSpPr>
          <p:cNvPr id="139" name="Google Shape;139;p1"/>
          <p:cNvSpPr txBox="1">
            <a:spLocks noGrp="1"/>
          </p:cNvSpPr>
          <p:nvPr>
            <p:ph type="body" idx="1"/>
          </p:nvPr>
        </p:nvSpPr>
        <p:spPr>
          <a:xfrm>
            <a:off x="2886868" y="5061635"/>
            <a:ext cx="64182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2154A2"/>
              </a:buClr>
              <a:buSzPts val="2800"/>
              <a:buNone/>
            </a:pPr>
            <a:r>
              <a:rPr lang="en-US" sz="2600"/>
              <a:t>ICCS</a:t>
            </a:r>
            <a:endParaRPr sz="2600"/>
          </a:p>
        </p:txBody>
      </p:sp>
      <p:sp>
        <p:nvSpPr>
          <p:cNvPr id="140" name="Google Shape;140;p1"/>
          <p:cNvSpPr txBox="1"/>
          <p:nvPr/>
        </p:nvSpPr>
        <p:spPr>
          <a:xfrm>
            <a:off x="226425" y="2058300"/>
            <a:ext cx="3135900" cy="639900"/>
          </a:xfrm>
          <a:prstGeom prst="rect">
            <a:avLst/>
          </a:prstGeom>
          <a:noFill/>
          <a:ln>
            <a:noFill/>
          </a:ln>
        </p:spPr>
        <p:txBody>
          <a:bodyPr spcFirstLastPara="1" wrap="square" lIns="91425" tIns="45700" rIns="91425" bIns="45700" anchor="t" anchorCtr="0">
            <a:normAutofit lnSpcReduction="20000"/>
          </a:bodyPr>
          <a:lstStyle/>
          <a:p>
            <a:pPr marL="0" lvl="0" indent="0" algn="l" rtl="0">
              <a:lnSpc>
                <a:spcPct val="90000"/>
              </a:lnSpc>
              <a:spcBef>
                <a:spcPts val="0"/>
              </a:spcBef>
              <a:spcAft>
                <a:spcPts val="0"/>
              </a:spcAft>
              <a:buNone/>
            </a:pPr>
            <a:r>
              <a:rPr lang="en-US" sz="2400">
                <a:solidFill>
                  <a:srgbClr val="2154A2"/>
                </a:solidFill>
              </a:rPr>
              <a:t>WP3 Second Meeting</a:t>
            </a:r>
            <a:endParaRPr sz="2400">
              <a:solidFill>
                <a:srgbClr val="2154A2"/>
              </a:solidFill>
            </a:endParaRPr>
          </a:p>
          <a:p>
            <a:pPr marL="0" lvl="0" indent="0" algn="l" rtl="0">
              <a:lnSpc>
                <a:spcPct val="90000"/>
              </a:lnSpc>
              <a:spcBef>
                <a:spcPts val="0"/>
              </a:spcBef>
              <a:spcAft>
                <a:spcPts val="0"/>
              </a:spcAft>
              <a:buNone/>
            </a:pPr>
            <a:r>
              <a:rPr lang="en-US" sz="2400">
                <a:solidFill>
                  <a:srgbClr val="2154A2"/>
                </a:solidFill>
              </a:rPr>
              <a:t>	</a:t>
            </a:r>
            <a:r>
              <a:rPr lang="en-US">
                <a:solidFill>
                  <a:srgbClr val="2154A2"/>
                </a:solidFill>
              </a:rPr>
              <a:t>			</a:t>
            </a:r>
            <a:r>
              <a:rPr lang="en-US" i="1">
                <a:solidFill>
                  <a:srgbClr val="2154A2"/>
                </a:solidFill>
              </a:rPr>
              <a:t>20 Dec 2024</a:t>
            </a:r>
            <a:endParaRPr i="1">
              <a:solidFill>
                <a:srgbClr val="2154A2"/>
              </a:solidFill>
            </a:endParaRPr>
          </a:p>
        </p:txBody>
      </p:sp>
      <p:sp>
        <p:nvSpPr>
          <p:cNvPr id="141" name="Google Shape;141;p1"/>
          <p:cNvSpPr txBox="1">
            <a:spLocks noGrp="1"/>
          </p:cNvSpPr>
          <p:nvPr>
            <p:ph type="title"/>
          </p:nvPr>
        </p:nvSpPr>
        <p:spPr>
          <a:xfrm>
            <a:off x="838200" y="4530202"/>
            <a:ext cx="10515600" cy="6945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Calibri"/>
              <a:buNone/>
            </a:pPr>
            <a:r>
              <a:rPr lang="en-US" sz="3800" b="1">
                <a:solidFill>
                  <a:srgbClr val="990000"/>
                </a:solidFill>
              </a:rPr>
              <a:t>Public Threat Reports Exploration</a:t>
            </a:r>
            <a:endParaRPr sz="3800" b="1">
              <a:solidFill>
                <a:srgbClr val="99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g3166457691f_0_62"/>
          <p:cNvSpPr txBox="1">
            <a:spLocks noGrp="1"/>
          </p:cNvSpPr>
          <p:nvPr>
            <p:ph type="title"/>
          </p:nvPr>
        </p:nvSpPr>
        <p:spPr>
          <a:xfrm>
            <a:off x="838200" y="688587"/>
            <a:ext cx="10515600" cy="1009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154A2"/>
              </a:buClr>
              <a:buSzPts val="3600"/>
              <a:buFont typeface="Arial"/>
              <a:buNone/>
            </a:pPr>
            <a:r>
              <a:rPr lang="en-US"/>
              <a:t>Outline</a:t>
            </a:r>
            <a:endParaRPr/>
          </a:p>
        </p:txBody>
      </p:sp>
      <p:sp>
        <p:nvSpPr>
          <p:cNvPr id="147" name="Google Shape;147;g3166457691f_0_62"/>
          <p:cNvSpPr txBox="1">
            <a:spLocks noGrp="1"/>
          </p:cNvSpPr>
          <p:nvPr>
            <p:ph type="body" idx="1"/>
          </p:nvPr>
        </p:nvSpPr>
        <p:spPr>
          <a:xfrm>
            <a:off x="1743075" y="2268119"/>
            <a:ext cx="9264600" cy="595200"/>
          </a:xfrm>
          <a:prstGeom prst="rect">
            <a:avLst/>
          </a:prstGeom>
          <a:noFill/>
          <a:ln>
            <a:noFill/>
          </a:ln>
        </p:spPr>
        <p:txBody>
          <a:bodyPr spcFirstLastPara="1" wrap="square" lIns="91425" tIns="45700" rIns="91425" bIns="45700" anchor="t" anchorCtr="0">
            <a:noAutofit/>
          </a:bodyPr>
          <a:lstStyle/>
          <a:p>
            <a:pPr marL="177800" lvl="0" indent="0" algn="l" rtl="0">
              <a:lnSpc>
                <a:spcPct val="90000"/>
              </a:lnSpc>
              <a:spcBef>
                <a:spcPts val="0"/>
              </a:spcBef>
              <a:spcAft>
                <a:spcPts val="0"/>
              </a:spcAft>
              <a:buClr>
                <a:schemeClr val="dk1"/>
              </a:buClr>
              <a:buSzPts val="2800"/>
              <a:buNone/>
            </a:pPr>
            <a:r>
              <a:rPr lang="en-US"/>
              <a:t>Overview</a:t>
            </a:r>
            <a:endParaRPr/>
          </a:p>
        </p:txBody>
      </p:sp>
      <p:sp>
        <p:nvSpPr>
          <p:cNvPr id="148" name="Google Shape;148;g3166457691f_0_62"/>
          <p:cNvSpPr txBox="1">
            <a:spLocks noGrp="1"/>
          </p:cNvSpPr>
          <p:nvPr>
            <p:ph type="body" idx="2"/>
          </p:nvPr>
        </p:nvSpPr>
        <p:spPr>
          <a:xfrm>
            <a:off x="1743075" y="3131344"/>
            <a:ext cx="9264600" cy="595200"/>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r>
              <a:rPr lang="en-US"/>
              <a:t>MITRE ATLAS	</a:t>
            </a:r>
            <a:endParaRPr/>
          </a:p>
        </p:txBody>
      </p:sp>
      <p:sp>
        <p:nvSpPr>
          <p:cNvPr id="149" name="Google Shape;149;g3166457691f_0_62"/>
          <p:cNvSpPr txBox="1">
            <a:spLocks noGrp="1"/>
          </p:cNvSpPr>
          <p:nvPr>
            <p:ph type="body" idx="3"/>
          </p:nvPr>
        </p:nvSpPr>
        <p:spPr>
          <a:xfrm>
            <a:off x="1743075" y="4048327"/>
            <a:ext cx="9264600" cy="595200"/>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r>
              <a:rPr lang="en-US"/>
              <a:t>ENISA THREAT LANDSCAPE 2024</a:t>
            </a:r>
            <a:endParaRPr/>
          </a:p>
        </p:txBody>
      </p:sp>
      <p:sp>
        <p:nvSpPr>
          <p:cNvPr id="150" name="Google Shape;150;g3166457691f_0_62"/>
          <p:cNvSpPr txBox="1">
            <a:spLocks noGrp="1"/>
          </p:cNvSpPr>
          <p:nvPr>
            <p:ph type="body" idx="4"/>
          </p:nvPr>
        </p:nvSpPr>
        <p:spPr>
          <a:xfrm>
            <a:off x="1743075" y="4965311"/>
            <a:ext cx="9264600" cy="595200"/>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r>
              <a:rPr lang="en-US"/>
              <a:t>ENISA AI CYBERSECURITY CHALLENGES 2020</a:t>
            </a:r>
            <a:endParaRPr/>
          </a:p>
        </p:txBody>
      </p:sp>
      <p:sp>
        <p:nvSpPr>
          <p:cNvPr id="151" name="Google Shape;151;g3166457691f_0_62"/>
          <p:cNvSpPr txBox="1">
            <a:spLocks noGrp="1"/>
          </p:cNvSpPr>
          <p:nvPr>
            <p:ph type="body" idx="5"/>
          </p:nvPr>
        </p:nvSpPr>
        <p:spPr>
          <a:xfrm>
            <a:off x="1743075" y="5882295"/>
            <a:ext cx="9264600" cy="595200"/>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r>
              <a:rPr lang="en-GB" dirty="0"/>
              <a:t>-</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en-US" sz="3800"/>
              <a:t>Overview</a:t>
            </a:r>
            <a:endParaRPr sz="3800"/>
          </a:p>
        </p:txBody>
      </p:sp>
      <p:sp>
        <p:nvSpPr>
          <p:cNvPr id="158" name="Google Shape;158;p4"/>
          <p:cNvSpPr txBox="1">
            <a:spLocks noGrp="1"/>
          </p:cNvSpPr>
          <p:nvPr>
            <p:ph type="body" idx="1"/>
          </p:nvPr>
        </p:nvSpPr>
        <p:spPr>
          <a:xfrm>
            <a:off x="493150" y="2459600"/>
            <a:ext cx="5181600" cy="38343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US" sz="2300" b="1"/>
              <a:t>MITRE</a:t>
            </a:r>
            <a:r>
              <a:rPr lang="en-US" sz="2300"/>
              <a:t> Adversarial Threat Landscape for AI Systems (ATLAS™) is a globally accessible, living knowledge base of adversary tactics and techniques.</a:t>
            </a:r>
            <a:endParaRPr sz="2300"/>
          </a:p>
        </p:txBody>
      </p:sp>
      <p:sp>
        <p:nvSpPr>
          <p:cNvPr id="159" name="Google Shape;159;p4"/>
          <p:cNvSpPr txBox="1">
            <a:spLocks noGrp="1"/>
          </p:cNvSpPr>
          <p:nvPr>
            <p:ph type="body" idx="2"/>
          </p:nvPr>
        </p:nvSpPr>
        <p:spPr>
          <a:xfrm>
            <a:off x="6081425" y="2394100"/>
            <a:ext cx="5654700" cy="43512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US" sz="2300">
                <a:highlight>
                  <a:srgbClr val="FFFFFF"/>
                </a:highlight>
                <a:latin typeface="Fira Sans"/>
                <a:ea typeface="Fira Sans"/>
                <a:cs typeface="Fira Sans"/>
                <a:sym typeface="Fira Sans"/>
              </a:rPr>
              <a:t>European Union Agency for Cybersecurity (</a:t>
            </a:r>
            <a:r>
              <a:rPr lang="en-US" sz="2300" b="1">
                <a:highlight>
                  <a:srgbClr val="FFFFFF"/>
                </a:highlight>
                <a:latin typeface="Fira Sans"/>
                <a:ea typeface="Fira Sans"/>
                <a:cs typeface="Fira Sans"/>
                <a:sym typeface="Fira Sans"/>
              </a:rPr>
              <a:t>ENISA</a:t>
            </a:r>
            <a:r>
              <a:rPr lang="en-US" sz="2300">
                <a:highlight>
                  <a:srgbClr val="FFFFFF"/>
                </a:highlight>
                <a:latin typeface="Fira Sans"/>
                <a:ea typeface="Fira Sans"/>
                <a:cs typeface="Fira Sans"/>
                <a:sym typeface="Fira Sans"/>
              </a:rPr>
              <a:t>) </a:t>
            </a:r>
            <a:r>
              <a:rPr lang="en-US" sz="2300">
                <a:solidFill>
                  <a:srgbClr val="212529"/>
                </a:solidFill>
                <a:highlight>
                  <a:srgbClr val="FFFFFF"/>
                </a:highlight>
              </a:rPr>
              <a:t> is the Union’s agency dedicated to achieving a high common level of cybersecurity across Europe.</a:t>
            </a:r>
            <a:endParaRPr sz="2300">
              <a:solidFill>
                <a:srgbClr val="212529"/>
              </a:solidFill>
              <a:highlight>
                <a:srgbClr val="FFFFFF"/>
              </a:highlight>
            </a:endParaRPr>
          </a:p>
          <a:p>
            <a:pPr marL="228600" lvl="0" indent="-50800" algn="l" rtl="0">
              <a:lnSpc>
                <a:spcPct val="90000"/>
              </a:lnSpc>
              <a:spcBef>
                <a:spcPts val="0"/>
              </a:spcBef>
              <a:spcAft>
                <a:spcPts val="0"/>
              </a:spcAft>
              <a:buClr>
                <a:schemeClr val="dk1"/>
              </a:buClr>
              <a:buSzPts val="2800"/>
              <a:buNone/>
            </a:pPr>
            <a:endParaRPr sz="2500">
              <a:solidFill>
                <a:srgbClr val="212529"/>
              </a:solidFill>
              <a:highlight>
                <a:srgbClr val="FFFFFF"/>
              </a:highlight>
            </a:endParaRPr>
          </a:p>
          <a:p>
            <a:pPr marL="457200" lvl="0" indent="-349250" algn="l" rtl="0">
              <a:lnSpc>
                <a:spcPct val="90000"/>
              </a:lnSpc>
              <a:spcBef>
                <a:spcPts val="0"/>
              </a:spcBef>
              <a:spcAft>
                <a:spcPts val="0"/>
              </a:spcAft>
              <a:buClr>
                <a:srgbClr val="212529"/>
              </a:buClr>
              <a:buSzPts val="1900"/>
              <a:buChar char="-"/>
            </a:pPr>
            <a:r>
              <a:rPr lang="en-US" sz="1900">
                <a:solidFill>
                  <a:srgbClr val="212529"/>
                </a:solidFill>
                <a:highlight>
                  <a:srgbClr val="FFFFFF"/>
                </a:highlight>
              </a:rPr>
              <a:t>ENISA Threat Landscape 2024</a:t>
            </a:r>
            <a:endParaRPr sz="1900">
              <a:solidFill>
                <a:srgbClr val="212529"/>
              </a:solidFill>
              <a:highlight>
                <a:srgbClr val="FFFFFF"/>
              </a:highlight>
            </a:endParaRPr>
          </a:p>
          <a:p>
            <a:pPr marL="457200" lvl="0" indent="-349250" algn="l" rtl="0">
              <a:lnSpc>
                <a:spcPct val="90000"/>
              </a:lnSpc>
              <a:spcBef>
                <a:spcPts val="0"/>
              </a:spcBef>
              <a:spcAft>
                <a:spcPts val="0"/>
              </a:spcAft>
              <a:buClr>
                <a:srgbClr val="212529"/>
              </a:buClr>
              <a:buSzPts val="1900"/>
              <a:buChar char="-"/>
            </a:pPr>
            <a:r>
              <a:rPr lang="en-US" sz="1900">
                <a:solidFill>
                  <a:srgbClr val="212529"/>
                </a:solidFill>
                <a:highlight>
                  <a:srgbClr val="FFFFFF"/>
                </a:highlight>
              </a:rPr>
              <a:t>ENISA AI Cybersecurity Challenges 2020</a:t>
            </a:r>
            <a:endParaRPr sz="1900">
              <a:solidFill>
                <a:srgbClr val="212529"/>
              </a:solidFill>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31f980858f0_1_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en-US" sz="3800"/>
              <a:t>MITRE ATLAS - Path of Attack</a:t>
            </a:r>
            <a:endParaRPr sz="3800"/>
          </a:p>
        </p:txBody>
      </p:sp>
      <p:sp>
        <p:nvSpPr>
          <p:cNvPr id="165" name="Google Shape;165;g31f980858f0_1_4"/>
          <p:cNvSpPr txBox="1">
            <a:spLocks noGrp="1"/>
          </p:cNvSpPr>
          <p:nvPr>
            <p:ph type="body" idx="1"/>
          </p:nvPr>
        </p:nvSpPr>
        <p:spPr>
          <a:xfrm>
            <a:off x="838200" y="1836725"/>
            <a:ext cx="8232900" cy="38343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sz="1800"/>
          </a:p>
          <a:p>
            <a:pPr marL="228600" lvl="0" indent="-50800" algn="l" rtl="0">
              <a:lnSpc>
                <a:spcPct val="90000"/>
              </a:lnSpc>
              <a:spcBef>
                <a:spcPts val="0"/>
              </a:spcBef>
              <a:spcAft>
                <a:spcPts val="0"/>
              </a:spcAft>
              <a:buClr>
                <a:schemeClr val="dk1"/>
              </a:buClr>
              <a:buSzPts val="2800"/>
              <a:buNone/>
            </a:pPr>
            <a:r>
              <a:rPr lang="en-US" sz="1800"/>
              <a:t>Three important concepts that dictate an adversary’s path of Attack:</a:t>
            </a:r>
            <a:br>
              <a:rPr lang="en-US" sz="1800"/>
            </a:br>
            <a:endParaRPr sz="1800"/>
          </a:p>
          <a:p>
            <a:pPr marL="457200" lvl="0" indent="-342900" algn="l" rtl="0">
              <a:lnSpc>
                <a:spcPct val="115000"/>
              </a:lnSpc>
              <a:spcBef>
                <a:spcPts val="0"/>
              </a:spcBef>
              <a:spcAft>
                <a:spcPts val="0"/>
              </a:spcAft>
              <a:buSzPts val="1800"/>
              <a:buChar char="•"/>
            </a:pPr>
            <a:r>
              <a:rPr lang="en-US" sz="1800" b="1"/>
              <a:t>AI Access Time </a:t>
            </a:r>
            <a:r>
              <a:rPr lang="en-US" sz="1800"/>
              <a:t>(Training, Inference)</a:t>
            </a:r>
            <a:endParaRPr sz="1800"/>
          </a:p>
          <a:p>
            <a:pPr marL="457200" lvl="0" indent="-342900" algn="l" rtl="0">
              <a:lnSpc>
                <a:spcPct val="115000"/>
              </a:lnSpc>
              <a:spcBef>
                <a:spcPts val="0"/>
              </a:spcBef>
              <a:spcAft>
                <a:spcPts val="0"/>
              </a:spcAft>
              <a:buSzPts val="1800"/>
              <a:buChar char="•"/>
            </a:pPr>
            <a:r>
              <a:rPr lang="en-US" sz="1800" b="1"/>
              <a:t>AI Access Points </a:t>
            </a:r>
            <a:r>
              <a:rPr lang="en-US" sz="1800"/>
              <a:t>(Digital, Physical)</a:t>
            </a:r>
            <a:endParaRPr sz="1800"/>
          </a:p>
          <a:p>
            <a:pPr marL="457200" lvl="0" indent="-342900" algn="l" rtl="0">
              <a:lnSpc>
                <a:spcPct val="115000"/>
              </a:lnSpc>
              <a:spcBef>
                <a:spcPts val="0"/>
              </a:spcBef>
              <a:spcAft>
                <a:spcPts val="0"/>
              </a:spcAft>
              <a:buSzPts val="1800"/>
              <a:buChar char="•"/>
            </a:pPr>
            <a:r>
              <a:rPr lang="en-US" sz="1800" b="1"/>
              <a:t>System Knowledge</a:t>
            </a:r>
            <a:r>
              <a:rPr lang="en-US" sz="1800"/>
              <a:t> (White-box, Black-box, Grey-box)</a:t>
            </a:r>
            <a:endParaRPr sz="1800"/>
          </a:p>
          <a:p>
            <a:pPr marL="228600" lvl="0" indent="-50800" algn="l" rtl="0">
              <a:lnSpc>
                <a:spcPct val="90000"/>
              </a:lnSpc>
              <a:spcBef>
                <a:spcPts val="0"/>
              </a:spcBef>
              <a:spcAft>
                <a:spcPts val="0"/>
              </a:spcAft>
              <a:buClr>
                <a:schemeClr val="dk1"/>
              </a:buClr>
              <a:buSzPts val="2800"/>
              <a:buNone/>
            </a:pPr>
            <a:endParaRPr sz="2300"/>
          </a:p>
        </p:txBody>
      </p:sp>
      <p:pic>
        <p:nvPicPr>
          <p:cNvPr id="166" name="Google Shape;166;g31f980858f0_1_4"/>
          <p:cNvPicPr preferRelativeResize="0"/>
          <p:nvPr/>
        </p:nvPicPr>
        <p:blipFill rotWithShape="1">
          <a:blip r:embed="rId3">
            <a:alphaModFix/>
          </a:blip>
          <a:srcRect b="1545"/>
          <a:stretch/>
        </p:blipFill>
        <p:spPr>
          <a:xfrm>
            <a:off x="3931900" y="3702000"/>
            <a:ext cx="5389799" cy="2968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31f980858f0_1_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en-US" sz="3800"/>
              <a:t>MITRE ATLAS - Tactics</a:t>
            </a:r>
            <a:endParaRPr sz="3800"/>
          </a:p>
        </p:txBody>
      </p:sp>
      <p:sp>
        <p:nvSpPr>
          <p:cNvPr id="172" name="Google Shape;172;g31f980858f0_1_17"/>
          <p:cNvSpPr txBox="1">
            <a:spLocks noGrp="1"/>
          </p:cNvSpPr>
          <p:nvPr>
            <p:ph type="body" idx="1"/>
          </p:nvPr>
        </p:nvSpPr>
        <p:spPr>
          <a:xfrm>
            <a:off x="245600" y="1836725"/>
            <a:ext cx="11881800" cy="5021400"/>
          </a:xfrm>
          <a:prstGeom prst="rect">
            <a:avLst/>
          </a:prstGeom>
          <a:noFill/>
          <a:ln>
            <a:noFill/>
          </a:ln>
        </p:spPr>
        <p:txBody>
          <a:bodyPr spcFirstLastPara="1" wrap="square" lIns="91425" tIns="45700" rIns="91425" bIns="45700" anchor="t" anchorCtr="0">
            <a:normAutofit fontScale="62500" lnSpcReduction="10000"/>
          </a:bodyPr>
          <a:lstStyle/>
          <a:p>
            <a:pPr marL="228600" lvl="0" indent="-50800" algn="l" rtl="0">
              <a:lnSpc>
                <a:spcPct val="115000"/>
              </a:lnSpc>
              <a:spcBef>
                <a:spcPts val="0"/>
              </a:spcBef>
              <a:spcAft>
                <a:spcPts val="0"/>
              </a:spcAft>
              <a:buClr>
                <a:schemeClr val="dk1"/>
              </a:buClr>
              <a:buSzPct val="108527"/>
              <a:buNone/>
            </a:pPr>
            <a:r>
              <a:rPr lang="en-US" sz="2580">
                <a:highlight>
                  <a:srgbClr val="FFFFFF"/>
                </a:highlight>
              </a:rPr>
              <a:t>Tactics are the tactical adversary’s </a:t>
            </a:r>
            <a:r>
              <a:rPr lang="en-US" sz="2580" b="1">
                <a:highlight>
                  <a:srgbClr val="FFFFFF"/>
                </a:highlight>
              </a:rPr>
              <a:t>goals</a:t>
            </a:r>
            <a:r>
              <a:rPr lang="en-US" sz="2580">
                <a:highlight>
                  <a:srgbClr val="FFFFFF"/>
                </a:highlight>
              </a:rPr>
              <a:t> during an attack.</a:t>
            </a:r>
            <a:endParaRPr sz="2580">
              <a:highlight>
                <a:srgbClr val="FFFFFF"/>
              </a:highlight>
            </a:endParaRPr>
          </a:p>
          <a:p>
            <a:pPr marL="228600" lvl="0" indent="-50800" algn="l" rtl="0">
              <a:lnSpc>
                <a:spcPct val="115000"/>
              </a:lnSpc>
              <a:spcBef>
                <a:spcPts val="0"/>
              </a:spcBef>
              <a:spcAft>
                <a:spcPts val="0"/>
              </a:spcAft>
              <a:buClr>
                <a:schemeClr val="dk1"/>
              </a:buClr>
              <a:buSzPct val="133333"/>
              <a:buNone/>
            </a:pPr>
            <a:endParaRPr sz="2100">
              <a:highlight>
                <a:srgbClr val="FFFFFF"/>
              </a:highlight>
            </a:endParaRPr>
          </a:p>
          <a:p>
            <a:pPr marL="457200" lvl="0" indent="-318293" algn="l" rtl="0">
              <a:lnSpc>
                <a:spcPct val="150000"/>
              </a:lnSpc>
              <a:spcBef>
                <a:spcPts val="0"/>
              </a:spcBef>
              <a:spcAft>
                <a:spcPts val="0"/>
              </a:spcAft>
              <a:buSzPct val="100000"/>
              <a:buChar char="•"/>
            </a:pPr>
            <a:r>
              <a:rPr lang="en-US" sz="2260" b="1">
                <a:highlight>
                  <a:srgbClr val="FFFFFF"/>
                </a:highlight>
              </a:rPr>
              <a:t>Reconnaissance</a:t>
            </a:r>
            <a:r>
              <a:rPr lang="en-US" sz="2260">
                <a:highlight>
                  <a:srgbClr val="FFFFFF"/>
                </a:highlight>
              </a:rPr>
              <a:t>: Adversaries gathering information to support targeting.</a:t>
            </a:r>
            <a:endParaRPr sz="2260">
              <a:highlight>
                <a:srgbClr val="FFFFFF"/>
              </a:highlight>
            </a:endParaRPr>
          </a:p>
          <a:p>
            <a:pPr marL="457200" lvl="0" indent="-318293" algn="l" rtl="0">
              <a:lnSpc>
                <a:spcPct val="150000"/>
              </a:lnSpc>
              <a:spcBef>
                <a:spcPts val="0"/>
              </a:spcBef>
              <a:spcAft>
                <a:spcPts val="0"/>
              </a:spcAft>
              <a:buSzPct val="100000"/>
              <a:buChar char="•"/>
            </a:pPr>
            <a:r>
              <a:rPr lang="en-US" sz="2260" b="1">
                <a:highlight>
                  <a:srgbClr val="FFFFFF"/>
                </a:highlight>
              </a:rPr>
              <a:t>Resource Development: </a:t>
            </a:r>
            <a:r>
              <a:rPr lang="en-US" sz="2260">
                <a:highlight>
                  <a:srgbClr val="FFFFFF"/>
                </a:highlight>
              </a:rPr>
              <a:t>Adversaries gathering resources to support targeting.</a:t>
            </a:r>
            <a:endParaRPr sz="2260">
              <a:highlight>
                <a:srgbClr val="FFFFFF"/>
              </a:highlight>
            </a:endParaRPr>
          </a:p>
          <a:p>
            <a:pPr marL="457200" lvl="0" indent="-318293" algn="l" rtl="0">
              <a:lnSpc>
                <a:spcPct val="150000"/>
              </a:lnSpc>
              <a:spcBef>
                <a:spcPts val="0"/>
              </a:spcBef>
              <a:spcAft>
                <a:spcPts val="0"/>
              </a:spcAft>
              <a:buSzPct val="100000"/>
              <a:buChar char="•"/>
            </a:pPr>
            <a:r>
              <a:rPr lang="en-US" sz="2260" b="1">
                <a:highlight>
                  <a:srgbClr val="FFFFFF"/>
                </a:highlight>
              </a:rPr>
              <a:t>Initial Access:</a:t>
            </a:r>
            <a:r>
              <a:rPr lang="en-US" sz="2260">
                <a:highlight>
                  <a:srgbClr val="FFFFFF"/>
                </a:highlight>
              </a:rPr>
              <a:t> Techniques that adversaries use to gain initial access to the machine learning system.</a:t>
            </a:r>
            <a:endParaRPr sz="2260">
              <a:highlight>
                <a:srgbClr val="FFFFFF"/>
              </a:highlight>
            </a:endParaRPr>
          </a:p>
          <a:p>
            <a:pPr marL="457200" lvl="0" indent="-318293" algn="l" rtl="0">
              <a:lnSpc>
                <a:spcPct val="150000"/>
              </a:lnSpc>
              <a:spcBef>
                <a:spcPts val="0"/>
              </a:spcBef>
              <a:spcAft>
                <a:spcPts val="0"/>
              </a:spcAft>
              <a:buSzPct val="100000"/>
              <a:buChar char="•"/>
            </a:pPr>
            <a:r>
              <a:rPr lang="en-US" sz="2260" b="1">
                <a:highlight>
                  <a:srgbClr val="FFFFFF"/>
                </a:highlight>
              </a:rPr>
              <a:t>ML Model Access:</a:t>
            </a:r>
            <a:r>
              <a:rPr lang="en-US" sz="2260">
                <a:highlight>
                  <a:srgbClr val="FFFFFF"/>
                </a:highlight>
              </a:rPr>
              <a:t> Access that adversaries have ranging from full to none.</a:t>
            </a:r>
            <a:endParaRPr sz="2260">
              <a:highlight>
                <a:srgbClr val="FFFFFF"/>
              </a:highlight>
            </a:endParaRPr>
          </a:p>
          <a:p>
            <a:pPr marL="457200" lvl="0" indent="-318293" algn="l" rtl="0">
              <a:lnSpc>
                <a:spcPct val="150000"/>
              </a:lnSpc>
              <a:spcBef>
                <a:spcPts val="0"/>
              </a:spcBef>
              <a:spcAft>
                <a:spcPts val="0"/>
              </a:spcAft>
              <a:buSzPct val="100000"/>
              <a:buChar char="•"/>
            </a:pPr>
            <a:r>
              <a:rPr lang="en-US" sz="2260" b="1">
                <a:highlight>
                  <a:srgbClr val="FFFFFF"/>
                </a:highlight>
              </a:rPr>
              <a:t>Execution: </a:t>
            </a:r>
            <a:r>
              <a:rPr lang="en-US" sz="2260">
                <a:highlight>
                  <a:schemeClr val="lt1"/>
                </a:highlight>
              </a:rPr>
              <a:t>Running malicious code on a target system.</a:t>
            </a:r>
            <a:endParaRPr sz="2260">
              <a:highlight>
                <a:srgbClr val="FFFFFF"/>
              </a:highlight>
            </a:endParaRPr>
          </a:p>
          <a:p>
            <a:pPr marL="457200" lvl="0" indent="-318293" algn="l" rtl="0">
              <a:lnSpc>
                <a:spcPct val="150000"/>
              </a:lnSpc>
              <a:spcBef>
                <a:spcPts val="0"/>
              </a:spcBef>
              <a:spcAft>
                <a:spcPts val="0"/>
              </a:spcAft>
              <a:buSzPct val="100000"/>
              <a:buChar char="•"/>
            </a:pPr>
            <a:r>
              <a:rPr lang="en-US" sz="2260" b="1">
                <a:highlight>
                  <a:srgbClr val="FFFFFF"/>
                </a:highlight>
              </a:rPr>
              <a:t>Persistence: </a:t>
            </a:r>
            <a:r>
              <a:rPr lang="en-US" sz="2260">
                <a:highlight>
                  <a:srgbClr val="FFFFFF"/>
                </a:highlight>
              </a:rPr>
              <a:t>Maintaining access to systems; often involve leaving behind modified ML artifacts (e.g. poisoned training data, backdoored ML models).</a:t>
            </a:r>
            <a:endParaRPr sz="2260">
              <a:highlight>
                <a:srgbClr val="FFFFFF"/>
              </a:highlight>
            </a:endParaRPr>
          </a:p>
          <a:p>
            <a:pPr marL="457200" lvl="0" indent="-318293" algn="l" rtl="0">
              <a:lnSpc>
                <a:spcPct val="150000"/>
              </a:lnSpc>
              <a:spcBef>
                <a:spcPts val="0"/>
              </a:spcBef>
              <a:spcAft>
                <a:spcPts val="0"/>
              </a:spcAft>
              <a:buSzPct val="100000"/>
              <a:buChar char="•"/>
            </a:pPr>
            <a:r>
              <a:rPr lang="en-US" sz="2260" b="1">
                <a:highlight>
                  <a:srgbClr val="FFFFFF"/>
                </a:highlight>
              </a:rPr>
              <a:t>Privilege Escalation: </a:t>
            </a:r>
            <a:r>
              <a:rPr lang="en-US" sz="2260">
                <a:highlight>
                  <a:srgbClr val="FFFFFF"/>
                </a:highlight>
              </a:rPr>
              <a:t>Gaining higher-level permissions to execute more impactful attacks.</a:t>
            </a:r>
            <a:endParaRPr sz="2260">
              <a:highlight>
                <a:srgbClr val="FFFFFF"/>
              </a:highlight>
            </a:endParaRPr>
          </a:p>
          <a:p>
            <a:pPr marL="457200" lvl="0" indent="-318293" algn="l" rtl="0">
              <a:lnSpc>
                <a:spcPct val="150000"/>
              </a:lnSpc>
              <a:spcBef>
                <a:spcPts val="0"/>
              </a:spcBef>
              <a:spcAft>
                <a:spcPts val="0"/>
              </a:spcAft>
              <a:buSzPct val="100000"/>
              <a:buChar char="•"/>
            </a:pPr>
            <a:r>
              <a:rPr lang="en-US" sz="2260" b="1">
                <a:highlight>
                  <a:srgbClr val="FFFFFF"/>
                </a:highlight>
              </a:rPr>
              <a:t>Defense Evasion:</a:t>
            </a:r>
            <a:r>
              <a:rPr lang="en-US" sz="2260">
                <a:highlight>
                  <a:srgbClr val="FFFFFF"/>
                </a:highlight>
              </a:rPr>
              <a:t> Avoiding detection by machine learning-enabled security software.</a:t>
            </a:r>
            <a:endParaRPr sz="2260">
              <a:highlight>
                <a:srgbClr val="FFFFFF"/>
              </a:highlight>
            </a:endParaRPr>
          </a:p>
          <a:p>
            <a:pPr marL="457200" lvl="0" indent="-318293" algn="l" rtl="0">
              <a:lnSpc>
                <a:spcPct val="150000"/>
              </a:lnSpc>
              <a:spcBef>
                <a:spcPts val="0"/>
              </a:spcBef>
              <a:spcAft>
                <a:spcPts val="0"/>
              </a:spcAft>
              <a:buSzPct val="100000"/>
              <a:buChar char="•"/>
            </a:pPr>
            <a:r>
              <a:rPr lang="en-US" sz="2260" b="1">
                <a:highlight>
                  <a:srgbClr val="FFFFFF"/>
                </a:highlight>
              </a:rPr>
              <a:t>Credential Access: </a:t>
            </a:r>
            <a:r>
              <a:rPr lang="en-US" sz="2260">
                <a:highlight>
                  <a:srgbClr val="FFFFFF"/>
                </a:highlight>
              </a:rPr>
              <a:t>Stealing credentials.</a:t>
            </a:r>
            <a:endParaRPr sz="2260">
              <a:highlight>
                <a:srgbClr val="FFFFFF"/>
              </a:highlight>
            </a:endParaRPr>
          </a:p>
          <a:p>
            <a:pPr marL="457200" lvl="0" indent="-318293" algn="l" rtl="0">
              <a:lnSpc>
                <a:spcPct val="150000"/>
              </a:lnSpc>
              <a:spcBef>
                <a:spcPts val="0"/>
              </a:spcBef>
              <a:spcAft>
                <a:spcPts val="0"/>
              </a:spcAft>
              <a:buSzPct val="100000"/>
              <a:buChar char="•"/>
            </a:pPr>
            <a:r>
              <a:rPr lang="en-US" sz="2260" b="1">
                <a:highlight>
                  <a:srgbClr val="FFFFFF"/>
                </a:highlight>
              </a:rPr>
              <a:t>Discovery: </a:t>
            </a:r>
            <a:r>
              <a:rPr lang="en-US" sz="2260">
                <a:highlight>
                  <a:srgbClr val="FFFFFF"/>
                </a:highlight>
              </a:rPr>
              <a:t>Techniques used by adversaries to gain knowledge about the machine learning environment.</a:t>
            </a:r>
            <a:endParaRPr sz="2260">
              <a:highlight>
                <a:srgbClr val="FFFFFF"/>
              </a:highlight>
            </a:endParaRPr>
          </a:p>
          <a:p>
            <a:pPr marL="457200" lvl="0" indent="-318293" algn="l" rtl="0">
              <a:lnSpc>
                <a:spcPct val="150000"/>
              </a:lnSpc>
              <a:spcBef>
                <a:spcPts val="0"/>
              </a:spcBef>
              <a:spcAft>
                <a:spcPts val="0"/>
              </a:spcAft>
              <a:buSzPct val="100000"/>
              <a:buChar char="•"/>
            </a:pPr>
            <a:r>
              <a:rPr lang="en-US" sz="2260" b="1">
                <a:highlight>
                  <a:srgbClr val="FFFFFF"/>
                </a:highlight>
              </a:rPr>
              <a:t>Collection: </a:t>
            </a:r>
            <a:r>
              <a:rPr lang="en-US" sz="2260">
                <a:highlight>
                  <a:srgbClr val="FFFFFF"/>
                </a:highlight>
              </a:rPr>
              <a:t>Gathering sensitive data or information of interest.</a:t>
            </a:r>
            <a:endParaRPr sz="2260">
              <a:highlight>
                <a:srgbClr val="FFFFFF"/>
              </a:highlight>
            </a:endParaRPr>
          </a:p>
          <a:p>
            <a:pPr marL="457200" lvl="0" indent="-318293" algn="l" rtl="0">
              <a:lnSpc>
                <a:spcPct val="150000"/>
              </a:lnSpc>
              <a:spcBef>
                <a:spcPts val="0"/>
              </a:spcBef>
              <a:spcAft>
                <a:spcPts val="0"/>
              </a:spcAft>
              <a:buSzPct val="100000"/>
              <a:buChar char="•"/>
            </a:pPr>
            <a:r>
              <a:rPr lang="en-US" sz="2260" b="1">
                <a:highlight>
                  <a:srgbClr val="FFFFFF"/>
                </a:highlight>
              </a:rPr>
              <a:t>ML Attack Staging: </a:t>
            </a:r>
            <a:r>
              <a:rPr lang="en-US" sz="2260">
                <a:highlight>
                  <a:srgbClr val="FFFFFF"/>
                </a:highlight>
              </a:rPr>
              <a:t>Preparation of the attack on the target ML model based on knowledge and access.</a:t>
            </a:r>
            <a:endParaRPr sz="2260">
              <a:highlight>
                <a:srgbClr val="FFFFFF"/>
              </a:highlight>
            </a:endParaRPr>
          </a:p>
          <a:p>
            <a:pPr marL="457200" lvl="0" indent="-318293" algn="l" rtl="0">
              <a:lnSpc>
                <a:spcPct val="150000"/>
              </a:lnSpc>
              <a:spcBef>
                <a:spcPts val="0"/>
              </a:spcBef>
              <a:spcAft>
                <a:spcPts val="0"/>
              </a:spcAft>
              <a:buSzPct val="100000"/>
              <a:buChar char="•"/>
            </a:pPr>
            <a:r>
              <a:rPr lang="en-US" sz="2260" b="1">
                <a:highlight>
                  <a:srgbClr val="FFFFFF"/>
                </a:highlight>
              </a:rPr>
              <a:t>Exfiltration: </a:t>
            </a:r>
            <a:r>
              <a:rPr lang="en-US" sz="2260">
                <a:highlight>
                  <a:srgbClr val="FFFFFF"/>
                </a:highlight>
              </a:rPr>
              <a:t>Stealing data from the ML model.</a:t>
            </a:r>
            <a:endParaRPr sz="2260">
              <a:highlight>
                <a:srgbClr val="FFFFFF"/>
              </a:highlight>
            </a:endParaRPr>
          </a:p>
          <a:p>
            <a:pPr marL="457200" lvl="0" indent="-318293" algn="l" rtl="0">
              <a:lnSpc>
                <a:spcPct val="150000"/>
              </a:lnSpc>
              <a:spcBef>
                <a:spcPts val="0"/>
              </a:spcBef>
              <a:spcAft>
                <a:spcPts val="0"/>
              </a:spcAft>
              <a:buSzPct val="100000"/>
              <a:buChar char="•"/>
            </a:pPr>
            <a:r>
              <a:rPr lang="en-US" sz="2260" b="1">
                <a:highlight>
                  <a:srgbClr val="FFFFFF"/>
                </a:highlight>
              </a:rPr>
              <a:t>Impact: </a:t>
            </a:r>
            <a:r>
              <a:rPr lang="en-US" sz="2260">
                <a:highlight>
                  <a:srgbClr val="FFFFFF"/>
                </a:highlight>
              </a:rPr>
              <a:t>Disrupting availability or compromising integrity (e.g. destroying/tampering data).</a:t>
            </a:r>
            <a:endParaRPr sz="23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1f9bbed2c6_0_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en-US" sz="3800"/>
              <a:t>MITRE ATLAS - Techniques</a:t>
            </a:r>
            <a:endParaRPr sz="3800"/>
          </a:p>
        </p:txBody>
      </p:sp>
      <p:pic>
        <p:nvPicPr>
          <p:cNvPr id="178" name="Google Shape;178;g31f9bbed2c6_0_4"/>
          <p:cNvPicPr preferRelativeResize="0"/>
          <p:nvPr/>
        </p:nvPicPr>
        <p:blipFill>
          <a:blip r:embed="rId3">
            <a:alphaModFix/>
          </a:blip>
          <a:stretch>
            <a:fillRect/>
          </a:stretch>
        </p:blipFill>
        <p:spPr>
          <a:xfrm>
            <a:off x="152400" y="2751350"/>
            <a:ext cx="11887200" cy="3644012"/>
          </a:xfrm>
          <a:prstGeom prst="rect">
            <a:avLst/>
          </a:prstGeom>
          <a:noFill/>
          <a:ln>
            <a:noFill/>
          </a:ln>
        </p:spPr>
      </p:pic>
      <p:sp>
        <p:nvSpPr>
          <p:cNvPr id="179" name="Google Shape;179;g31f9bbed2c6_0_4"/>
          <p:cNvSpPr txBox="1"/>
          <p:nvPr/>
        </p:nvSpPr>
        <p:spPr>
          <a:xfrm>
            <a:off x="688500" y="1780700"/>
            <a:ext cx="10815000" cy="63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dk1"/>
                </a:solidFill>
              </a:rPr>
              <a:t>Techniques  are the means by which adversaries achieve tactical goals or represent “what” an adversary gains by performing an action.</a:t>
            </a:r>
            <a:endParaRPr sz="1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31f9bbed2c6_0_1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en-US" sz="3800"/>
              <a:t>MITRE ATLAS - Techniques</a:t>
            </a:r>
            <a:endParaRPr sz="3800"/>
          </a:p>
        </p:txBody>
      </p:sp>
      <p:graphicFrame>
        <p:nvGraphicFramePr>
          <p:cNvPr id="185" name="Google Shape;185;g31f9bbed2c6_0_10"/>
          <p:cNvGraphicFramePr/>
          <p:nvPr/>
        </p:nvGraphicFramePr>
        <p:xfrm>
          <a:off x="538850" y="1690825"/>
          <a:ext cx="10976700" cy="5150850"/>
        </p:xfrm>
        <a:graphic>
          <a:graphicData uri="http://schemas.openxmlformats.org/drawingml/2006/table">
            <a:tbl>
              <a:tblPr>
                <a:noFill/>
                <a:tableStyleId>{6D3ED817-8050-4A24-B285-83541F0F68E0}</a:tableStyleId>
              </a:tblPr>
              <a:tblGrid>
                <a:gridCol w="1594950">
                  <a:extLst>
                    <a:ext uri="{9D8B030D-6E8A-4147-A177-3AD203B41FA5}">
                      <a16:colId xmlns:a16="http://schemas.microsoft.com/office/drawing/2014/main" val="20000"/>
                    </a:ext>
                  </a:extLst>
                </a:gridCol>
                <a:gridCol w="6530625">
                  <a:extLst>
                    <a:ext uri="{9D8B030D-6E8A-4147-A177-3AD203B41FA5}">
                      <a16:colId xmlns:a16="http://schemas.microsoft.com/office/drawing/2014/main" val="20001"/>
                    </a:ext>
                  </a:extLst>
                </a:gridCol>
                <a:gridCol w="2851125">
                  <a:extLst>
                    <a:ext uri="{9D8B030D-6E8A-4147-A177-3AD203B41FA5}">
                      <a16:colId xmlns:a16="http://schemas.microsoft.com/office/drawing/2014/main" val="20002"/>
                    </a:ext>
                  </a:extLst>
                </a:gridCol>
              </a:tblGrid>
              <a:tr h="308150">
                <a:tc>
                  <a:txBody>
                    <a:bodyPr/>
                    <a:lstStyle/>
                    <a:p>
                      <a:pPr marL="0" lvl="0" indent="0" algn="ctr" rtl="0">
                        <a:spcBef>
                          <a:spcPts val="0"/>
                        </a:spcBef>
                        <a:spcAft>
                          <a:spcPts val="0"/>
                        </a:spcAft>
                        <a:buNone/>
                      </a:pPr>
                      <a:r>
                        <a:rPr lang="en-US" sz="1000" b="1"/>
                        <a:t>Threat</a:t>
                      </a:r>
                      <a:endParaRPr sz="1000" b="1"/>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en-US" sz="1000" b="1"/>
                        <a:t>Summary</a:t>
                      </a:r>
                      <a:endParaRPr sz="1000" b="1"/>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en-US" sz="1000" b="1"/>
                        <a:t>Mitigations</a:t>
                      </a:r>
                      <a:endParaRPr sz="1000" b="1"/>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extLst>
                  <a:ext uri="{0D108BD9-81ED-4DB2-BD59-A6C34878D82A}">
                    <a16:rowId xmlns:a16="http://schemas.microsoft.com/office/drawing/2014/main" val="10000"/>
                  </a:ext>
                </a:extLst>
              </a:tr>
              <a:tr h="307725">
                <a:tc>
                  <a:txBody>
                    <a:bodyPr/>
                    <a:lstStyle/>
                    <a:p>
                      <a:pPr marL="0" lvl="0" indent="0" algn="l" rtl="0">
                        <a:spcBef>
                          <a:spcPts val="0"/>
                        </a:spcBef>
                        <a:spcAft>
                          <a:spcPts val="0"/>
                        </a:spcAft>
                        <a:buNone/>
                      </a:pPr>
                      <a:r>
                        <a:rPr lang="en-US" sz="1000"/>
                        <a:t>Training Data </a:t>
                      </a:r>
                      <a:r>
                        <a:rPr lang="en-US" sz="1000">
                          <a:solidFill>
                            <a:schemeClr val="dk1"/>
                          </a:solidFill>
                        </a:rPr>
                        <a:t>Poisoning</a:t>
                      </a:r>
                      <a:endParaRPr sz="1000"/>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1000"/>
                        <a:t>Adversarial modification of the data or its labels.</a:t>
                      </a:r>
                      <a:endParaRPr sz="1000"/>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tc>
                  <a:txBody>
                    <a:bodyPr/>
                    <a:lstStyle/>
                    <a:p>
                      <a:pPr marL="457200" lvl="0" indent="-292100" algn="l" rtl="0">
                        <a:spcBef>
                          <a:spcPts val="0"/>
                        </a:spcBef>
                        <a:spcAft>
                          <a:spcPts val="0"/>
                        </a:spcAft>
                        <a:buSzPts val="1000"/>
                        <a:buChar char="-"/>
                      </a:pPr>
                      <a:r>
                        <a:rPr lang="en-US" sz="1000"/>
                        <a:t>Training Data Sanitization,</a:t>
                      </a:r>
                      <a:endParaRPr sz="1000"/>
                    </a:p>
                    <a:p>
                      <a:pPr marL="457200" lvl="0" indent="-292100" algn="l" rtl="0">
                        <a:spcBef>
                          <a:spcPts val="0"/>
                        </a:spcBef>
                        <a:spcAft>
                          <a:spcPts val="0"/>
                        </a:spcAft>
                        <a:buSzPts val="1000"/>
                        <a:buChar char="-"/>
                      </a:pPr>
                      <a:r>
                        <a:rPr lang="en-US" sz="1000"/>
                        <a:t>AI Bill of Materials.</a:t>
                      </a:r>
                      <a:endParaRPr sz="1000"/>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extLst>
                  <a:ext uri="{0D108BD9-81ED-4DB2-BD59-A6C34878D82A}">
                    <a16:rowId xmlns:a16="http://schemas.microsoft.com/office/drawing/2014/main" val="10001"/>
                  </a:ext>
                </a:extLst>
              </a:tr>
              <a:tr h="350075">
                <a:tc>
                  <a:txBody>
                    <a:bodyPr/>
                    <a:lstStyle/>
                    <a:p>
                      <a:pPr marL="0" lvl="0" indent="0" algn="l" rtl="0">
                        <a:spcBef>
                          <a:spcPts val="0"/>
                        </a:spcBef>
                        <a:spcAft>
                          <a:spcPts val="0"/>
                        </a:spcAft>
                        <a:buNone/>
                      </a:pPr>
                      <a:r>
                        <a:rPr lang="en-US" sz="1000"/>
                        <a:t>ML Supply Chain Compromise </a:t>
                      </a:r>
                      <a:endParaRPr sz="1000"/>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1000"/>
                        <a:t>Compromises in unique portions of the ML supply chain (e.g hardware, data, parts of ML stack, model) that may provide initial access to a system. </a:t>
                      </a:r>
                      <a:endParaRPr sz="1000"/>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tc>
                  <a:txBody>
                    <a:bodyPr/>
                    <a:lstStyle/>
                    <a:p>
                      <a:pPr marL="457200" lvl="0" indent="-292100" algn="l" rtl="0">
                        <a:spcBef>
                          <a:spcPts val="0"/>
                        </a:spcBef>
                        <a:spcAft>
                          <a:spcPts val="0"/>
                        </a:spcAft>
                        <a:buSzPts val="1000"/>
                        <a:buChar char="-"/>
                      </a:pPr>
                      <a:r>
                        <a:rPr lang="en-US" sz="1000"/>
                        <a:t>Verify ML artifacts,</a:t>
                      </a:r>
                      <a:endParaRPr sz="1000"/>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extLst>
                  <a:ext uri="{0D108BD9-81ED-4DB2-BD59-A6C34878D82A}">
                    <a16:rowId xmlns:a16="http://schemas.microsoft.com/office/drawing/2014/main" val="10002"/>
                  </a:ext>
                </a:extLst>
              </a:tr>
              <a:tr h="722600">
                <a:tc>
                  <a:txBody>
                    <a:bodyPr/>
                    <a:lstStyle/>
                    <a:p>
                      <a:pPr marL="0" lvl="0" indent="0" algn="l" rtl="0">
                        <a:spcBef>
                          <a:spcPts val="0"/>
                        </a:spcBef>
                        <a:spcAft>
                          <a:spcPts val="0"/>
                        </a:spcAft>
                        <a:buNone/>
                      </a:pPr>
                      <a:r>
                        <a:rPr lang="en-US" sz="1000"/>
                        <a:t>Evade ML Model Detection</a:t>
                      </a:r>
                      <a:endParaRPr sz="1000"/>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1000"/>
                        <a:t>Adversaries can craft  adversarial data that prevent a machine learning model from correctly identifying/detecting the contents of the data. </a:t>
                      </a:r>
                      <a:endParaRPr sz="1000"/>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tc>
                  <a:txBody>
                    <a:bodyPr/>
                    <a:lstStyle/>
                    <a:p>
                      <a:pPr marL="457200" lvl="0" indent="-292100" algn="l" rtl="0">
                        <a:spcBef>
                          <a:spcPts val="0"/>
                        </a:spcBef>
                        <a:spcAft>
                          <a:spcPts val="0"/>
                        </a:spcAft>
                        <a:buSzPts val="1000"/>
                        <a:buChar char="-"/>
                      </a:pPr>
                      <a:r>
                        <a:rPr lang="en-US" sz="1000"/>
                        <a:t>Model Hardening (e.g. adversarial training network distillation),</a:t>
                      </a:r>
                      <a:endParaRPr sz="1000"/>
                    </a:p>
                    <a:p>
                      <a:pPr marL="457200" lvl="0" indent="-292100" algn="l" rtl="0">
                        <a:spcBef>
                          <a:spcPts val="0"/>
                        </a:spcBef>
                        <a:spcAft>
                          <a:spcPts val="0"/>
                        </a:spcAft>
                        <a:buSzPts val="1000"/>
                        <a:buChar char="-"/>
                      </a:pPr>
                      <a:r>
                        <a:rPr lang="en-US" sz="1000"/>
                        <a:t>Use Ensemble Methods,</a:t>
                      </a:r>
                      <a:endParaRPr sz="1000"/>
                    </a:p>
                    <a:p>
                      <a:pPr marL="457200" lvl="0" indent="-292100" algn="l" rtl="0">
                        <a:spcBef>
                          <a:spcPts val="0"/>
                        </a:spcBef>
                        <a:spcAft>
                          <a:spcPts val="0"/>
                        </a:spcAft>
                        <a:buSzPts val="1000"/>
                        <a:buChar char="-"/>
                      </a:pPr>
                      <a:r>
                        <a:rPr lang="en-US" sz="1000"/>
                        <a:t>Input Detection and Restoration,</a:t>
                      </a:r>
                      <a:endParaRPr sz="1000"/>
                    </a:p>
                    <a:p>
                      <a:pPr marL="457200" lvl="0" indent="-292100" algn="l" rtl="0">
                        <a:spcBef>
                          <a:spcPts val="0"/>
                        </a:spcBef>
                        <a:spcAft>
                          <a:spcPts val="0"/>
                        </a:spcAft>
                        <a:buSzPts val="1000"/>
                        <a:buChar char="-"/>
                      </a:pPr>
                      <a:r>
                        <a:rPr lang="en-US" sz="1000"/>
                        <a:t>Use Multi-Modal Sensors</a:t>
                      </a:r>
                      <a:endParaRPr sz="1000"/>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extLst>
                  <a:ext uri="{0D108BD9-81ED-4DB2-BD59-A6C34878D82A}">
                    <a16:rowId xmlns:a16="http://schemas.microsoft.com/office/drawing/2014/main" val="10003"/>
                  </a:ext>
                </a:extLst>
              </a:tr>
              <a:tr h="523600">
                <a:tc>
                  <a:txBody>
                    <a:bodyPr/>
                    <a:lstStyle/>
                    <a:p>
                      <a:pPr marL="0" lvl="0" indent="0" algn="l" rtl="0">
                        <a:spcBef>
                          <a:spcPts val="0"/>
                        </a:spcBef>
                        <a:spcAft>
                          <a:spcPts val="0"/>
                        </a:spcAft>
                        <a:buNone/>
                      </a:pPr>
                      <a:r>
                        <a:rPr lang="en-US" sz="1000"/>
                        <a:t>AI Model Inference API Access</a:t>
                      </a:r>
                      <a:endParaRPr sz="1000"/>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highlight>
                            <a:srgbClr val="FFFFFF"/>
                          </a:highlight>
                        </a:rPr>
                        <a:t>Adversaries may gain access to a model from the inference API and gather information, prepare attacks, or directly affect the system. Attackers can recover a functionally equivalent model by iteratively querying the model</a:t>
                      </a:r>
                      <a:endParaRPr sz="1000"/>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tc>
                  <a:txBody>
                    <a:bodyPr/>
                    <a:lstStyle/>
                    <a:p>
                      <a:pPr marL="457200" lvl="0" indent="-292100" algn="l" rtl="0">
                        <a:spcBef>
                          <a:spcPts val="0"/>
                        </a:spcBef>
                        <a:spcAft>
                          <a:spcPts val="0"/>
                        </a:spcAft>
                        <a:buSzPts val="1000"/>
                        <a:buChar char="-"/>
                      </a:pPr>
                      <a:r>
                        <a:rPr lang="en-US" sz="1000"/>
                        <a:t>Control Access to ML Models (e.g. authentication for API endpoints),</a:t>
                      </a:r>
                      <a:endParaRPr sz="1000"/>
                    </a:p>
                    <a:p>
                      <a:pPr marL="457200" lvl="0" indent="-292100" algn="l" rtl="0">
                        <a:spcBef>
                          <a:spcPts val="0"/>
                        </a:spcBef>
                        <a:spcAft>
                          <a:spcPts val="0"/>
                        </a:spcAft>
                        <a:buClr>
                          <a:schemeClr val="dk1"/>
                        </a:buClr>
                        <a:buSzPts val="1000"/>
                        <a:buChar char="-"/>
                      </a:pPr>
                      <a:r>
                        <a:rPr lang="en-US" sz="1000">
                          <a:solidFill>
                            <a:schemeClr val="dk1"/>
                          </a:solidFill>
                        </a:rPr>
                        <a:t>Restrict Number of ML Model Queries</a:t>
                      </a:r>
                      <a:endParaRPr sz="1000"/>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extLst>
                  <a:ext uri="{0D108BD9-81ED-4DB2-BD59-A6C34878D82A}">
                    <a16:rowId xmlns:a16="http://schemas.microsoft.com/office/drawing/2014/main" val="10004"/>
                  </a:ext>
                </a:extLst>
              </a:tr>
              <a:tr h="331125">
                <a:tc>
                  <a:txBody>
                    <a:bodyPr/>
                    <a:lstStyle/>
                    <a:p>
                      <a:pPr marL="0" lvl="0" indent="0" algn="l" rtl="0">
                        <a:spcBef>
                          <a:spcPts val="0"/>
                        </a:spcBef>
                        <a:spcAft>
                          <a:spcPts val="0"/>
                        </a:spcAft>
                        <a:buNone/>
                      </a:pPr>
                      <a:r>
                        <a:rPr lang="en-US" sz="1000"/>
                        <a:t>Full ML Model Access</a:t>
                      </a:r>
                      <a:endParaRPr sz="1000"/>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highlight>
                            <a:srgbClr val="FFFFFF"/>
                          </a:highlight>
                        </a:rPr>
                        <a:t>Adversaries may gain full white-box access to a machine learning model.</a:t>
                      </a:r>
                      <a:endParaRPr sz="1000">
                        <a:solidFill>
                          <a:schemeClr val="dk1"/>
                        </a:solidFill>
                        <a:highlight>
                          <a:srgbClr val="FFFFFF"/>
                        </a:highlight>
                      </a:endParaRPr>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tc>
                  <a:txBody>
                    <a:bodyPr/>
                    <a:lstStyle/>
                    <a:p>
                      <a:pPr marL="457200" lvl="0" indent="-292100" algn="l" rtl="0">
                        <a:spcBef>
                          <a:spcPts val="0"/>
                        </a:spcBef>
                        <a:spcAft>
                          <a:spcPts val="0"/>
                        </a:spcAft>
                        <a:buSzPts val="1000"/>
                        <a:buChar char="-"/>
                      </a:pPr>
                      <a:r>
                        <a:rPr lang="en-US" sz="1000"/>
                        <a:t>Model Distribution Methods</a:t>
                      </a:r>
                      <a:endParaRPr sz="1000"/>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extLst>
                  <a:ext uri="{0D108BD9-81ED-4DB2-BD59-A6C34878D82A}">
                    <a16:rowId xmlns:a16="http://schemas.microsoft.com/office/drawing/2014/main" val="10005"/>
                  </a:ext>
                </a:extLst>
              </a:tr>
              <a:tr h="350075">
                <a:tc>
                  <a:txBody>
                    <a:bodyPr/>
                    <a:lstStyle/>
                    <a:p>
                      <a:pPr marL="0" lvl="0" indent="0" algn="l" rtl="0">
                        <a:spcBef>
                          <a:spcPts val="0"/>
                        </a:spcBef>
                        <a:spcAft>
                          <a:spcPts val="0"/>
                        </a:spcAft>
                        <a:buNone/>
                      </a:pPr>
                      <a:r>
                        <a:rPr lang="en-US" sz="1000"/>
                        <a:t>Backdoor ML Model</a:t>
                      </a:r>
                      <a:endParaRPr sz="1000"/>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highlight>
                            <a:srgbClr val="FFFFFF"/>
                          </a:highlight>
                        </a:rPr>
                        <a:t>Adversaries may introduce a backdoor into a ML model. The model will produce the adversary’s desired output when a trigger is introduced to the input data.</a:t>
                      </a:r>
                      <a:endParaRPr sz="1000">
                        <a:solidFill>
                          <a:schemeClr val="dk1"/>
                        </a:solidFill>
                        <a:highlight>
                          <a:srgbClr val="FFFFFF"/>
                        </a:highlight>
                      </a:endParaRPr>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tc>
                  <a:txBody>
                    <a:bodyPr/>
                    <a:lstStyle/>
                    <a:p>
                      <a:pPr marL="457200" lvl="0" indent="-292100" algn="l" rtl="0">
                        <a:spcBef>
                          <a:spcPts val="0"/>
                        </a:spcBef>
                        <a:spcAft>
                          <a:spcPts val="0"/>
                        </a:spcAft>
                        <a:buSzPts val="1000"/>
                        <a:buChar char="-"/>
                      </a:pPr>
                      <a:r>
                        <a:rPr lang="en-US" sz="1000"/>
                        <a:t>Training Data Sanitization, </a:t>
                      </a:r>
                      <a:endParaRPr sz="1000"/>
                    </a:p>
                    <a:p>
                      <a:pPr marL="457200" lvl="0" indent="-292100" algn="l" rtl="0">
                        <a:spcBef>
                          <a:spcPts val="0"/>
                        </a:spcBef>
                        <a:spcAft>
                          <a:spcPts val="0"/>
                        </a:spcAft>
                        <a:buSzPts val="1000"/>
                        <a:buChar char="-"/>
                      </a:pPr>
                      <a:r>
                        <a:rPr lang="en-US" sz="1000"/>
                        <a:t>ML Model Validation</a:t>
                      </a:r>
                      <a:endParaRPr sz="1000"/>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extLst>
                  <a:ext uri="{0D108BD9-81ED-4DB2-BD59-A6C34878D82A}">
                    <a16:rowId xmlns:a16="http://schemas.microsoft.com/office/drawing/2014/main" val="10006"/>
                  </a:ext>
                </a:extLst>
              </a:tr>
              <a:tr h="891925">
                <a:tc>
                  <a:txBody>
                    <a:bodyPr/>
                    <a:lstStyle/>
                    <a:p>
                      <a:pPr marL="0" lvl="0" indent="0" algn="l" rtl="0">
                        <a:spcBef>
                          <a:spcPts val="0"/>
                        </a:spcBef>
                        <a:spcAft>
                          <a:spcPts val="0"/>
                        </a:spcAft>
                        <a:buNone/>
                      </a:pPr>
                      <a:r>
                        <a:rPr lang="en-US" sz="1000"/>
                        <a:t>Craft Adversarial Data</a:t>
                      </a:r>
                      <a:endParaRPr sz="1000"/>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highlight>
                            <a:srgbClr val="FFFFFF"/>
                          </a:highlight>
                        </a:rPr>
                        <a:t>Adversarial data are inputs intentionally modified to manipulate a machine learning model, causing it to produce the adversary's desired outcome, such as misclassifying an image or missing a detection.</a:t>
                      </a:r>
                      <a:endParaRPr sz="1000">
                        <a:solidFill>
                          <a:schemeClr val="dk1"/>
                        </a:solidFill>
                        <a:highlight>
                          <a:srgbClr val="FFFFFF"/>
                        </a:highlight>
                      </a:endParaRPr>
                    </a:p>
                    <a:p>
                      <a:pPr marL="457200" lvl="0" indent="-292100" algn="l" rtl="0">
                        <a:spcBef>
                          <a:spcPts val="0"/>
                        </a:spcBef>
                        <a:spcAft>
                          <a:spcPts val="0"/>
                        </a:spcAft>
                        <a:buClr>
                          <a:schemeClr val="dk1"/>
                        </a:buClr>
                        <a:buSzPts val="1000"/>
                        <a:buChar char="-"/>
                      </a:pPr>
                      <a:r>
                        <a:rPr lang="en-US" sz="1000">
                          <a:solidFill>
                            <a:schemeClr val="dk1"/>
                          </a:solidFill>
                          <a:highlight>
                            <a:srgbClr val="FFFFFF"/>
                          </a:highlight>
                        </a:rPr>
                        <a:t>White-Box Optimization</a:t>
                      </a:r>
                      <a:endParaRPr sz="1000">
                        <a:solidFill>
                          <a:schemeClr val="dk1"/>
                        </a:solidFill>
                        <a:highlight>
                          <a:srgbClr val="FFFFFF"/>
                        </a:highlight>
                      </a:endParaRPr>
                    </a:p>
                    <a:p>
                      <a:pPr marL="457200" lvl="0" indent="-292100" algn="l" rtl="0">
                        <a:spcBef>
                          <a:spcPts val="0"/>
                        </a:spcBef>
                        <a:spcAft>
                          <a:spcPts val="0"/>
                        </a:spcAft>
                        <a:buClr>
                          <a:schemeClr val="dk1"/>
                        </a:buClr>
                        <a:buSzPts val="1000"/>
                        <a:buChar char="-"/>
                      </a:pPr>
                      <a:r>
                        <a:rPr lang="en-US" sz="1000">
                          <a:solidFill>
                            <a:schemeClr val="dk1"/>
                          </a:solidFill>
                          <a:highlight>
                            <a:srgbClr val="FFFFFF"/>
                          </a:highlight>
                        </a:rPr>
                        <a:t>Black-Box Optimization &amp; </a:t>
                      </a:r>
                      <a:r>
                        <a:rPr lang="en-US" sz="1000">
                          <a:solidFill>
                            <a:schemeClr val="dk1"/>
                          </a:solidFill>
                          <a:highlight>
                            <a:schemeClr val="lt1"/>
                          </a:highlight>
                        </a:rPr>
                        <a:t>Transfer</a:t>
                      </a:r>
                      <a:endParaRPr sz="1000">
                        <a:solidFill>
                          <a:schemeClr val="dk1"/>
                        </a:solidFill>
                        <a:highlight>
                          <a:srgbClr val="FFFFFF"/>
                        </a:highlight>
                      </a:endParaRPr>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tc>
                  <a:txBody>
                    <a:bodyPr/>
                    <a:lstStyle/>
                    <a:p>
                      <a:pPr marL="457200" lvl="0" indent="-292100" algn="l" rtl="0">
                        <a:spcBef>
                          <a:spcPts val="0"/>
                        </a:spcBef>
                        <a:spcAft>
                          <a:spcPts val="0"/>
                        </a:spcAft>
                        <a:buSzPts val="1000"/>
                        <a:buChar char="-"/>
                      </a:pPr>
                      <a:r>
                        <a:rPr lang="en-US" sz="1000"/>
                        <a:t>Model Distribution Methods (for White-Box),</a:t>
                      </a:r>
                      <a:endParaRPr sz="1000"/>
                    </a:p>
                    <a:p>
                      <a:pPr marL="457200" lvl="0" indent="-292100" algn="l" rtl="0">
                        <a:spcBef>
                          <a:spcPts val="0"/>
                        </a:spcBef>
                        <a:spcAft>
                          <a:spcPts val="0"/>
                        </a:spcAft>
                        <a:buSzPts val="1000"/>
                        <a:buChar char="-"/>
                      </a:pPr>
                      <a:r>
                        <a:rPr lang="en-US" sz="1000"/>
                        <a:t>Restrict Number of ML Model Queries (for Black-Box),</a:t>
                      </a:r>
                      <a:endParaRPr sz="1000"/>
                    </a:p>
                    <a:p>
                      <a:pPr marL="457200" lvl="0" indent="-292100" algn="l" rtl="0">
                        <a:spcBef>
                          <a:spcPts val="0"/>
                        </a:spcBef>
                        <a:spcAft>
                          <a:spcPts val="0"/>
                        </a:spcAft>
                        <a:buSzPts val="1000"/>
                        <a:buChar char="-"/>
                      </a:pPr>
                      <a:r>
                        <a:rPr lang="en-US" sz="1000"/>
                        <a:t>Input Restoration</a:t>
                      </a:r>
                      <a:endParaRPr sz="1000"/>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extLst>
                  <a:ext uri="{0D108BD9-81ED-4DB2-BD59-A6C34878D82A}">
                    <a16:rowId xmlns:a16="http://schemas.microsoft.com/office/drawing/2014/main" val="10007"/>
                  </a:ext>
                </a:extLst>
              </a:tr>
              <a:tr h="481650">
                <a:tc>
                  <a:txBody>
                    <a:bodyPr/>
                    <a:lstStyle/>
                    <a:p>
                      <a:pPr marL="0" lvl="0" indent="0" algn="l" rtl="0">
                        <a:spcBef>
                          <a:spcPts val="0"/>
                        </a:spcBef>
                        <a:spcAft>
                          <a:spcPts val="0"/>
                        </a:spcAft>
                        <a:buNone/>
                      </a:pPr>
                      <a:r>
                        <a:rPr lang="en-US" sz="1000"/>
                        <a:t>Denial of ML Service</a:t>
                      </a:r>
                      <a:endParaRPr sz="1000"/>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highlight>
                            <a:srgbClr val="FFFFFF"/>
                          </a:highlight>
                        </a:rPr>
                        <a:t>Adversaries may target ML systems with a flood of requests for the purpose of degrading or shutting down the service</a:t>
                      </a:r>
                      <a:endParaRPr sz="600">
                        <a:solidFill>
                          <a:schemeClr val="dk1"/>
                        </a:solidFill>
                        <a:highlight>
                          <a:srgbClr val="FFFFFF"/>
                        </a:highlight>
                      </a:endParaRPr>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tc>
                  <a:txBody>
                    <a:bodyPr/>
                    <a:lstStyle/>
                    <a:p>
                      <a:pPr marL="457200" lvl="0" indent="-292100" algn="l" rtl="0">
                        <a:spcBef>
                          <a:spcPts val="0"/>
                        </a:spcBef>
                        <a:spcAft>
                          <a:spcPts val="0"/>
                        </a:spcAft>
                        <a:buClr>
                          <a:schemeClr val="dk1"/>
                        </a:buClr>
                        <a:buSzPts val="1000"/>
                        <a:buChar char="-"/>
                      </a:pPr>
                      <a:r>
                        <a:rPr lang="en-US" sz="1000">
                          <a:solidFill>
                            <a:schemeClr val="dk1"/>
                          </a:solidFill>
                        </a:rPr>
                        <a:t>Restrict Number of ML Model Queries,</a:t>
                      </a:r>
                      <a:endParaRPr sz="1000">
                        <a:solidFill>
                          <a:schemeClr val="dk1"/>
                        </a:solidFill>
                      </a:endParaRPr>
                    </a:p>
                    <a:p>
                      <a:pPr marL="457200" lvl="0" indent="-292100" algn="l" rtl="0">
                        <a:spcBef>
                          <a:spcPts val="0"/>
                        </a:spcBef>
                        <a:spcAft>
                          <a:spcPts val="0"/>
                        </a:spcAft>
                        <a:buClr>
                          <a:schemeClr val="dk1"/>
                        </a:buClr>
                        <a:buSzPts val="1000"/>
                        <a:buChar char="-"/>
                      </a:pPr>
                      <a:r>
                        <a:rPr lang="en-US" sz="1000">
                          <a:solidFill>
                            <a:schemeClr val="dk1"/>
                          </a:solidFill>
                        </a:rPr>
                        <a:t>Adversarial Input Detection</a:t>
                      </a:r>
                      <a:endParaRPr sz="1000">
                        <a:solidFill>
                          <a:schemeClr val="dk1"/>
                        </a:solidFill>
                      </a:endParaRPr>
                    </a:p>
                  </a:txBody>
                  <a:tcPr marL="91425" marR="91425" marT="91425" marB="91425">
                    <a:lnL w="19050" cap="flat" cmpd="sng">
                      <a:solidFill>
                        <a:srgbClr val="D9D9D9"/>
                      </a:solidFill>
                      <a:prstDash val="solid"/>
                      <a:round/>
                      <a:headEnd type="none" w="sm" len="sm"/>
                      <a:tailEnd type="none" w="sm" len="sm"/>
                    </a:lnL>
                    <a:lnR w="19050" cap="flat" cmpd="sng">
                      <a:solidFill>
                        <a:srgbClr val="D9D9D9"/>
                      </a:solidFill>
                      <a:prstDash val="solid"/>
                      <a:round/>
                      <a:headEnd type="none" w="sm" len="sm"/>
                      <a:tailEnd type="none" w="sm" len="sm"/>
                    </a:lnR>
                    <a:lnT w="19050" cap="flat" cmpd="sng">
                      <a:solidFill>
                        <a:srgbClr val="D9D9D9"/>
                      </a:solidFill>
                      <a:prstDash val="solid"/>
                      <a:round/>
                      <a:headEnd type="none" w="sm" len="sm"/>
                      <a:tailEnd type="none" w="sm" len="sm"/>
                    </a:lnT>
                    <a:lnB w="19050" cap="flat" cmpd="sng">
                      <a:solidFill>
                        <a:srgbClr val="D9D9D9"/>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31f9bbed2c6_0_16"/>
          <p:cNvSpPr txBox="1">
            <a:spLocks noGrp="1"/>
          </p:cNvSpPr>
          <p:nvPr>
            <p:ph type="title"/>
          </p:nvPr>
        </p:nvSpPr>
        <p:spPr>
          <a:xfrm>
            <a:off x="838200" y="442650"/>
            <a:ext cx="10515600" cy="13257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4761"/>
              <a:buFont typeface="Arial"/>
              <a:buNone/>
            </a:pPr>
            <a:r>
              <a:rPr lang="en-US" sz="4200"/>
              <a:t>ENISA</a:t>
            </a:r>
            <a:endParaRPr sz="4200"/>
          </a:p>
          <a:p>
            <a:pPr marL="457200" lvl="0" indent="-348615" algn="l" rtl="0">
              <a:lnSpc>
                <a:spcPct val="100000"/>
              </a:lnSpc>
              <a:spcBef>
                <a:spcPts val="0"/>
              </a:spcBef>
              <a:spcAft>
                <a:spcPts val="0"/>
              </a:spcAft>
              <a:buSzPct val="100000"/>
              <a:buChar char="-"/>
            </a:pPr>
            <a:r>
              <a:rPr lang="en-US" sz="2100"/>
              <a:t>ENISA THREAT LANDSCAPE 2024</a:t>
            </a:r>
            <a:endParaRPr sz="2100"/>
          </a:p>
          <a:p>
            <a:pPr marL="457200" lvl="0" indent="0" algn="l" rtl="0">
              <a:lnSpc>
                <a:spcPct val="90000"/>
              </a:lnSpc>
              <a:spcBef>
                <a:spcPts val="0"/>
              </a:spcBef>
              <a:spcAft>
                <a:spcPts val="0"/>
              </a:spcAft>
              <a:buNone/>
            </a:pPr>
            <a:endParaRPr/>
          </a:p>
        </p:txBody>
      </p:sp>
      <p:sp>
        <p:nvSpPr>
          <p:cNvPr id="191" name="Google Shape;191;g31f9bbed2c6_0_16"/>
          <p:cNvSpPr txBox="1"/>
          <p:nvPr/>
        </p:nvSpPr>
        <p:spPr>
          <a:xfrm>
            <a:off x="697725" y="2179325"/>
            <a:ext cx="11252700" cy="369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b="1">
                <a:solidFill>
                  <a:schemeClr val="dk1"/>
                </a:solidFill>
              </a:rPr>
              <a:t>Threats against Data:</a:t>
            </a:r>
            <a:endParaRPr sz="2000" b="1">
              <a:solidFill>
                <a:schemeClr val="dk1"/>
              </a:solidFill>
            </a:endParaRPr>
          </a:p>
          <a:p>
            <a:pPr marL="0" lvl="0" indent="0" algn="l" rtl="0">
              <a:spcBef>
                <a:spcPts val="0"/>
              </a:spcBef>
              <a:spcAft>
                <a:spcPts val="0"/>
              </a:spcAft>
              <a:buNone/>
            </a:pPr>
            <a:endParaRPr sz="1800">
              <a:solidFill>
                <a:schemeClr val="dk1"/>
              </a:solidFill>
            </a:endParaRPr>
          </a:p>
          <a:p>
            <a:pPr marL="457200" lvl="0" indent="-342900" algn="l" rtl="0">
              <a:spcBef>
                <a:spcPts val="0"/>
              </a:spcBef>
              <a:spcAft>
                <a:spcPts val="0"/>
              </a:spcAft>
              <a:buClr>
                <a:schemeClr val="dk1"/>
              </a:buClr>
              <a:buSzPts val="1800"/>
              <a:buChar char="●"/>
            </a:pPr>
            <a:r>
              <a:rPr lang="en-US" sz="1800">
                <a:solidFill>
                  <a:schemeClr val="dk1"/>
                </a:solidFill>
              </a:rPr>
              <a:t>Data Breach</a:t>
            </a:r>
            <a:endParaRPr sz="1800">
              <a:solidFill>
                <a:schemeClr val="dk1"/>
              </a:solidFill>
            </a:endParaRPr>
          </a:p>
          <a:p>
            <a:pPr marL="457200" lvl="0" indent="-342900" algn="l" rtl="0">
              <a:spcBef>
                <a:spcPts val="0"/>
              </a:spcBef>
              <a:spcAft>
                <a:spcPts val="0"/>
              </a:spcAft>
              <a:buClr>
                <a:schemeClr val="dk1"/>
              </a:buClr>
              <a:buSzPts val="1800"/>
              <a:buChar char="●"/>
            </a:pPr>
            <a:r>
              <a:rPr lang="en-US" sz="1800">
                <a:solidFill>
                  <a:schemeClr val="dk1"/>
                </a:solidFill>
              </a:rPr>
              <a:t>Data Leak</a:t>
            </a:r>
            <a:endParaRPr sz="1800">
              <a:solidFill>
                <a:schemeClr val="dk1"/>
              </a:solidFill>
            </a:endParaRPr>
          </a:p>
          <a:p>
            <a:pPr marL="457200" lvl="0" indent="-342900" algn="l" rtl="0">
              <a:spcBef>
                <a:spcPts val="0"/>
              </a:spcBef>
              <a:spcAft>
                <a:spcPts val="0"/>
              </a:spcAft>
              <a:buClr>
                <a:schemeClr val="dk1"/>
              </a:buClr>
              <a:buSzPts val="1800"/>
              <a:buChar char="●"/>
            </a:pPr>
            <a:r>
              <a:rPr lang="en-US" sz="1800">
                <a:solidFill>
                  <a:schemeClr val="dk1"/>
                </a:solidFill>
              </a:rPr>
              <a:t>Data Manipulation - Data Poisoning </a:t>
            </a:r>
            <a:endParaRPr sz="1800">
              <a:solidFill>
                <a:schemeClr val="dk1"/>
              </a:solidFill>
              <a:highlight>
                <a:srgbClr val="FFFF00"/>
              </a:highlight>
            </a:endParaRPr>
          </a:p>
          <a:p>
            <a:pPr marL="457200" lvl="0" indent="0" algn="l" rtl="0">
              <a:spcBef>
                <a:spcPts val="0"/>
              </a:spcBef>
              <a:spcAft>
                <a:spcPts val="0"/>
              </a:spcAft>
              <a:buNone/>
            </a:pPr>
            <a:endParaRPr sz="1800">
              <a:solidFill>
                <a:schemeClr val="dk1"/>
              </a:solidFill>
            </a:endParaRPr>
          </a:p>
          <a:p>
            <a:pPr marL="457200" lvl="0" indent="0" algn="l" rtl="0">
              <a:spcBef>
                <a:spcPts val="0"/>
              </a:spcBef>
              <a:spcAft>
                <a:spcPts val="0"/>
              </a:spcAft>
              <a:buNone/>
            </a:pPr>
            <a:endParaRPr sz="1800" b="1">
              <a:solidFill>
                <a:schemeClr val="dk1"/>
              </a:solidFill>
            </a:endParaRPr>
          </a:p>
          <a:p>
            <a:pPr marL="0" lvl="0" indent="0" algn="l" rtl="0">
              <a:spcBef>
                <a:spcPts val="0"/>
              </a:spcBef>
              <a:spcAft>
                <a:spcPts val="0"/>
              </a:spcAft>
              <a:buNone/>
            </a:pPr>
            <a:r>
              <a:rPr lang="en-US" sz="2000" b="1">
                <a:solidFill>
                  <a:schemeClr val="dk1"/>
                </a:solidFill>
              </a:rPr>
              <a:t>Threats against Availability:</a:t>
            </a:r>
            <a:endParaRPr sz="2000" b="1">
              <a:solidFill>
                <a:schemeClr val="dk1"/>
              </a:solidFill>
            </a:endParaRPr>
          </a:p>
          <a:p>
            <a:pPr marL="0" lvl="0" indent="0" algn="l" rtl="0">
              <a:spcBef>
                <a:spcPts val="0"/>
              </a:spcBef>
              <a:spcAft>
                <a:spcPts val="0"/>
              </a:spcAft>
              <a:buNone/>
            </a:pPr>
            <a:endParaRPr sz="1800">
              <a:solidFill>
                <a:schemeClr val="dk1"/>
              </a:solidFill>
            </a:endParaRPr>
          </a:p>
          <a:p>
            <a:pPr marL="457200" lvl="0" indent="-342900" algn="l" rtl="0">
              <a:spcBef>
                <a:spcPts val="0"/>
              </a:spcBef>
              <a:spcAft>
                <a:spcPts val="0"/>
              </a:spcAft>
              <a:buClr>
                <a:schemeClr val="dk1"/>
              </a:buClr>
              <a:buSzPts val="1800"/>
              <a:buChar char="●"/>
            </a:pPr>
            <a:r>
              <a:rPr lang="en-US" sz="1800">
                <a:solidFill>
                  <a:schemeClr val="dk1"/>
                </a:solidFill>
              </a:rPr>
              <a:t>Denial of Service  </a:t>
            </a:r>
            <a:endParaRPr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31fec4b975f_0_3"/>
          <p:cNvSpPr txBox="1">
            <a:spLocks noGrp="1"/>
          </p:cNvSpPr>
          <p:nvPr>
            <p:ph type="title"/>
          </p:nvPr>
        </p:nvSpPr>
        <p:spPr>
          <a:xfrm>
            <a:off x="838200" y="442650"/>
            <a:ext cx="10515600" cy="13257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4761"/>
              <a:buFont typeface="Arial"/>
              <a:buNone/>
            </a:pPr>
            <a:r>
              <a:rPr lang="en-US" sz="4200"/>
              <a:t>ENISA</a:t>
            </a:r>
            <a:endParaRPr sz="4200"/>
          </a:p>
          <a:p>
            <a:pPr marL="457200" lvl="0" indent="-348615" algn="l" rtl="0">
              <a:lnSpc>
                <a:spcPct val="100000"/>
              </a:lnSpc>
              <a:spcBef>
                <a:spcPts val="0"/>
              </a:spcBef>
              <a:spcAft>
                <a:spcPts val="0"/>
              </a:spcAft>
              <a:buSzPct val="100000"/>
              <a:buChar char="-"/>
            </a:pPr>
            <a:r>
              <a:rPr lang="en-US" sz="2100"/>
              <a:t>ENISA AI CYBERSECURITY CHALLENGES 2020</a:t>
            </a:r>
            <a:endParaRPr sz="2100"/>
          </a:p>
          <a:p>
            <a:pPr marL="457200" lvl="0" indent="0" algn="l" rtl="0">
              <a:lnSpc>
                <a:spcPct val="90000"/>
              </a:lnSpc>
              <a:spcBef>
                <a:spcPts val="0"/>
              </a:spcBef>
              <a:spcAft>
                <a:spcPts val="0"/>
              </a:spcAft>
              <a:buNone/>
            </a:pPr>
            <a:endParaRPr/>
          </a:p>
        </p:txBody>
      </p:sp>
      <p:graphicFrame>
        <p:nvGraphicFramePr>
          <p:cNvPr id="197" name="Google Shape;197;g31fec4b975f_0_3"/>
          <p:cNvGraphicFramePr/>
          <p:nvPr/>
        </p:nvGraphicFramePr>
        <p:xfrm>
          <a:off x="1553800" y="1768350"/>
          <a:ext cx="9232975" cy="4987850"/>
        </p:xfrm>
        <a:graphic>
          <a:graphicData uri="http://schemas.openxmlformats.org/drawingml/2006/table">
            <a:tbl>
              <a:tblPr>
                <a:noFill/>
                <a:tableStyleId>{FBCF67F5-B843-4012-9C7D-3BE28EE58C03}</a:tableStyleId>
              </a:tblPr>
              <a:tblGrid>
                <a:gridCol w="1775825">
                  <a:extLst>
                    <a:ext uri="{9D8B030D-6E8A-4147-A177-3AD203B41FA5}">
                      <a16:colId xmlns:a16="http://schemas.microsoft.com/office/drawing/2014/main" val="20000"/>
                    </a:ext>
                  </a:extLst>
                </a:gridCol>
                <a:gridCol w="3963175">
                  <a:extLst>
                    <a:ext uri="{9D8B030D-6E8A-4147-A177-3AD203B41FA5}">
                      <a16:colId xmlns:a16="http://schemas.microsoft.com/office/drawing/2014/main" val="20001"/>
                    </a:ext>
                  </a:extLst>
                </a:gridCol>
                <a:gridCol w="1732550">
                  <a:extLst>
                    <a:ext uri="{9D8B030D-6E8A-4147-A177-3AD203B41FA5}">
                      <a16:colId xmlns:a16="http://schemas.microsoft.com/office/drawing/2014/main" val="20002"/>
                    </a:ext>
                  </a:extLst>
                </a:gridCol>
                <a:gridCol w="1761425">
                  <a:extLst>
                    <a:ext uri="{9D8B030D-6E8A-4147-A177-3AD203B41FA5}">
                      <a16:colId xmlns:a16="http://schemas.microsoft.com/office/drawing/2014/main" val="20003"/>
                    </a:ext>
                  </a:extLst>
                </a:gridCol>
              </a:tblGrid>
              <a:tr h="294350">
                <a:tc>
                  <a:txBody>
                    <a:bodyPr/>
                    <a:lstStyle/>
                    <a:p>
                      <a:pPr marL="0" lvl="0" indent="0" algn="ctr" rtl="0">
                        <a:spcBef>
                          <a:spcPts val="0"/>
                        </a:spcBef>
                        <a:spcAft>
                          <a:spcPts val="0"/>
                        </a:spcAft>
                        <a:buNone/>
                      </a:pPr>
                      <a:r>
                        <a:rPr lang="en-US" sz="1200" b="1">
                          <a:latin typeface="Calibri"/>
                          <a:ea typeface="Calibri"/>
                          <a:cs typeface="Calibri"/>
                          <a:sym typeface="Calibri"/>
                        </a:rPr>
                        <a:t>Threat</a:t>
                      </a:r>
                      <a:endParaRPr sz="1200" b="1">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en-US" sz="1200" b="1">
                          <a:latin typeface="Calibri"/>
                          <a:ea typeface="Calibri"/>
                          <a:cs typeface="Calibri"/>
                          <a:sym typeface="Calibri"/>
                        </a:rPr>
                        <a:t>Description</a:t>
                      </a:r>
                      <a:endParaRPr sz="1200" b="1">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en-US" sz="1200" b="1">
                          <a:latin typeface="Calibri"/>
                          <a:ea typeface="Calibri"/>
                          <a:cs typeface="Calibri"/>
                          <a:sym typeface="Calibri"/>
                        </a:rPr>
                        <a:t>Potential Impact</a:t>
                      </a:r>
                      <a:endParaRPr sz="1200" b="1">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en-US" sz="1200" b="1">
                          <a:latin typeface="Calibri"/>
                          <a:ea typeface="Calibri"/>
                          <a:cs typeface="Calibri"/>
                          <a:sym typeface="Calibri"/>
                        </a:rPr>
                        <a:t>Affected Assets</a:t>
                      </a:r>
                      <a:endParaRPr sz="1200" b="1">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0"/>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Adversarial Examples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Targeting the inference phase to affect model performance and effectiveness.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Integrity, Availability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Model, Data</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1"/>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Backdoor / Insert Attacks (Training)</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Introducing trigger patterns in training data to cause misclassifications at Inference.</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Integrity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Data</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2"/>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Data Manipulation (Training)</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Bias in data, label manipulation, and inserting poisoned data in augmented sets.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Integrity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Data</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3"/>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Algorithm Compromise</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Targeting ML algorithms to degrade accuracy or availability.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Integrity, Availability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Model</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4"/>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Augmented Data Issues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Noise or irrelevant patterns in automatically generated datasets.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Integrity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Data</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5"/>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Compromised Data Providers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Manipulation of data by brokers/providers (e.g., poisoning, deletion).</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Integrity, Availability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Actor</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6"/>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Framework Misconfigurations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Vulnerabilities due to complex model frameworks.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Integrity, Availability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Artifacts, Environment/Tools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7"/>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Data Poisoning</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Tampered data injected into training/validation sets.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Availability, Integrity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Process, Environment/Tools, Model</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8"/>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Data Tampering</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Manipulation by actors (e.g AI engineers)  during storage or processes like feature selection.</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Availability, Integrity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Process, Environment/Tools, Model</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9"/>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Distributed DoS Attacks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Availability disruption of online IT Systems used to support AI systems (e.g. cloud storage)</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Availability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Environment/Tools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10"/>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Elevation-of-Privilege</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Exploiting  trained models to gain access to parameters used  or dataset details (e.g. MI)</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Confidentiality, Availability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Model, Data</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11"/>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Insider Threats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Deliberate exposure of sensitive data or models.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Confidentiality, Integrity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Actors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12"/>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Selection Bias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Purposeful introduction of bias in raw datasets.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Integrity, Availability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Data</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13"/>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Label Manipulation</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Modifying or weakening training labels.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Availability, Integrity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Processes, Data</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14"/>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Data Transfer/Storage Manipulation</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Tampering during data transfer or in third-party storage.</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Confidentiality, Integrity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Environment/Tools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15"/>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Hyper-parameter Manipulation</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Adversaries influencing behavior through parameter tuning.</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Integrity, Availability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Process, Model</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16"/>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Optimization Algorithm Abuse</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Erroneous model tuning through malicious algorithm use.</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Availability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Model</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17"/>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Model Confidentiality Exploits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Leaking internal parameters or sensitive model information.</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Confidentiality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Model</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18"/>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Model Backdoors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Hidden vulnerabilities or malicious code in models during development.</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Integrity, Availability, Confidentiality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Process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19"/>
                  </a:ext>
                </a:extLst>
              </a:tr>
              <a:tr h="234675">
                <a:tc>
                  <a:txBody>
                    <a:bodyPr/>
                    <a:lstStyle/>
                    <a:p>
                      <a:pPr marL="0" lvl="0" indent="0" algn="l" rtl="0">
                        <a:spcBef>
                          <a:spcPts val="0"/>
                        </a:spcBef>
                        <a:spcAft>
                          <a:spcPts val="0"/>
                        </a:spcAft>
                        <a:buNone/>
                      </a:pPr>
                      <a:r>
                        <a:rPr lang="en-US" sz="800">
                          <a:latin typeface="Calibri"/>
                          <a:ea typeface="Calibri"/>
                          <a:cs typeface="Calibri"/>
                          <a:sym typeface="Calibri"/>
                        </a:rPr>
                        <a:t>Adversarial Attack Transferability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Adversarial examples applied across applications.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Integrity</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sz="800">
                          <a:latin typeface="Calibri"/>
                          <a:ea typeface="Calibri"/>
                          <a:cs typeface="Calibri"/>
                          <a:sym typeface="Calibri"/>
                        </a:rPr>
                        <a:t>Process, Environment/Tools</a:t>
                      </a:r>
                      <a:endParaRPr sz="800">
                        <a:latin typeface="Calibri"/>
                        <a:ea typeface="Calibri"/>
                        <a:cs typeface="Calibri"/>
                        <a:sym typeface="Calibri"/>
                      </a:endParaRPr>
                    </a:p>
                  </a:txBody>
                  <a:tcPr marL="9525" marR="9525" marT="9525" marB="91425"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2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2_Front pag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4_Agend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Θέμα του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608b43f-bfac-4116-ae2f-2654f04dc4f2">
      <Terms xmlns="http://schemas.microsoft.com/office/infopath/2007/PartnerControls"/>
    </lcf76f155ced4ddcb4097134ff3c332f>
    <TaxCatchAll xmlns="f05f1c5d-c52e-4d54-83d1-a52e4aeefd5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14F42BB571C174A8CFFD983452FCC05" ma:contentTypeVersion="12" ma:contentTypeDescription="Create a new document." ma:contentTypeScope="" ma:versionID="be7498dd9c4512a837f461ead69e4c34">
  <xsd:schema xmlns:xsd="http://www.w3.org/2001/XMLSchema" xmlns:xs="http://www.w3.org/2001/XMLSchema" xmlns:p="http://schemas.microsoft.com/office/2006/metadata/properties" xmlns:ns2="d608b43f-bfac-4116-ae2f-2654f04dc4f2" xmlns:ns3="f05f1c5d-c52e-4d54-83d1-a52e4aeefd52" targetNamespace="http://schemas.microsoft.com/office/2006/metadata/properties" ma:root="true" ma:fieldsID="07f14bcc0f87e48c34d5d33dedee0072" ns2:_="" ns3:_="">
    <xsd:import namespace="d608b43f-bfac-4116-ae2f-2654f04dc4f2"/>
    <xsd:import namespace="f05f1c5d-c52e-4d54-83d1-a52e4aeefd5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08b43f-bfac-4116-ae2f-2654f04dc4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1a16348-86a9-4153-a534-716e536704a6"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5f1c5d-c52e-4d54-83d1-a52e4aeefd5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be773a3-2a48-487a-a9d1-73543309e2e9}" ma:internalName="TaxCatchAll" ma:showField="CatchAllData" ma:web="f05f1c5d-c52e-4d54-83d1-a52e4aeefd5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1E25CC-ECC0-4EC5-A31C-2C11B6AFECF6}">
  <ds:schemaRefs>
    <ds:schemaRef ds:uri="http://schemas.microsoft.com/office/2006/metadata/properties"/>
    <ds:schemaRef ds:uri="http://schemas.microsoft.com/office/infopath/2007/PartnerControls"/>
    <ds:schemaRef ds:uri="d608b43f-bfac-4116-ae2f-2654f04dc4f2"/>
    <ds:schemaRef ds:uri="f05f1c5d-c52e-4d54-83d1-a52e4aeefd52"/>
  </ds:schemaRefs>
</ds:datastoreItem>
</file>

<file path=customXml/itemProps2.xml><?xml version="1.0" encoding="utf-8"?>
<ds:datastoreItem xmlns:ds="http://schemas.openxmlformats.org/officeDocument/2006/customXml" ds:itemID="{9269F4A0-6C23-4043-9EE0-4B49707EA94B}">
  <ds:schemaRefs>
    <ds:schemaRef ds:uri="http://schemas.microsoft.com/sharepoint/v3/contenttype/forms"/>
  </ds:schemaRefs>
</ds:datastoreItem>
</file>

<file path=customXml/itemProps3.xml><?xml version="1.0" encoding="utf-8"?>
<ds:datastoreItem xmlns:ds="http://schemas.openxmlformats.org/officeDocument/2006/customXml" ds:itemID="{8ADEC367-FF7F-479E-88E7-D0A1D3E8F7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608b43f-bfac-4116-ae2f-2654f04dc4f2"/>
    <ds:schemaRef ds:uri="f05f1c5d-c52e-4d54-83d1-a52e4aeefd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10</Notes>
  <HiddenSlides>0</HiddenSlides>
  <ScaleCrop>false</ScaleCrop>
  <HeadingPairs>
    <vt:vector size="4" baseType="variant">
      <vt:variant>
        <vt:lpstr>Theme</vt:lpstr>
      </vt:variant>
      <vt:variant>
        <vt:i4>3</vt:i4>
      </vt:variant>
      <vt:variant>
        <vt:lpstr>Slide Titles</vt:lpstr>
      </vt:variant>
      <vt:variant>
        <vt:i4>10</vt:i4>
      </vt:variant>
    </vt:vector>
  </HeadingPairs>
  <TitlesOfParts>
    <vt:vector size="13" baseType="lpstr">
      <vt:lpstr>2_Front page</vt:lpstr>
      <vt:lpstr>4_Agenda</vt:lpstr>
      <vt:lpstr>Θέμα του Office</vt:lpstr>
      <vt:lpstr>Task 3.1 State-of-the-Art, Threat model and Technical Specifications</vt:lpstr>
      <vt:lpstr>Outline</vt:lpstr>
      <vt:lpstr>Overview</vt:lpstr>
      <vt:lpstr>MITRE ATLAS - Path of Attack</vt:lpstr>
      <vt:lpstr>MITRE ATLAS - Tactics</vt:lpstr>
      <vt:lpstr>MITRE ATLAS - Techniques</vt:lpstr>
      <vt:lpstr>MITRE ATLAS - Techniques</vt:lpstr>
      <vt:lpstr>ENISA ENISA THREAT LANDSCAPE 2024 </vt:lpstr>
      <vt:lpstr>ENISA ENISA AI CYBERSECURITY CHALLENGES 2020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ASTERIOS STROUMPOULIS</dc:creator>
  <cp:revision>2</cp:revision>
  <dcterms:created xsi:type="dcterms:W3CDTF">2024-04-26T17:52:46Z</dcterms:created>
  <dcterms:modified xsi:type="dcterms:W3CDTF">2025-01-16T12:12:52Z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0x010100314F42BB571C174A8CFFD983452FCC05</vt:lpwstr>
  </property>
  <property fmtid="{D5CDD505-2E9C-101B-9397-08002B2CF9AE}" pid="3" name="MediaServiceImageTags">
    <vt:lpwstr/>
  </property>
</Properties>
</file>