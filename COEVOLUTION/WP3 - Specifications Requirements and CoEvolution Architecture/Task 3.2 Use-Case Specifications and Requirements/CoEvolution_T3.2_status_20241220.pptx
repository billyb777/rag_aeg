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54" r:id="rId5"/>
  </p:sldMasterIdLst>
  <p:notesMasterIdLst>
    <p:notesMasterId r:id="rId14"/>
  </p:notesMasterIdLst>
  <p:sldIdLst>
    <p:sldId id="256" r:id="rId6"/>
    <p:sldId id="259" r:id="rId7"/>
    <p:sldId id="262" r:id="rId8"/>
    <p:sldId id="265" r:id="rId9"/>
    <p:sldId id="266" r:id="rId10"/>
    <p:sldId id="268" r:id="rId11"/>
    <p:sldId id="261" r:id="rId12"/>
    <p:sldId id="269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hzUo9/Mq5C9LLPzUwJ0qEC6lN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8279244-2D82-470C-0078-416CA008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E7B37074-7D9F-AB1C-D1E7-1CB612E56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8C7DB273-EA24-D825-EE07-0978CA6CF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6411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EA9462A3-3CE5-B440-1814-163CF45B1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1D508218-7098-799B-AAA7-DEF4736D2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9E2DB95E-CD28-6BC6-9853-4AD727263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3575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0CEC564-A266-E61E-105F-33DDC458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39629E8D-2316-C7E7-BF3D-9F3647175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843E88BD-B2CB-B667-1663-4A175CA3F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616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055F2B12-31AF-D685-1B52-079BED45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544268E8-F881-099C-4EDB-263BFFC8C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5980E3E5-5563-F13E-3438-48124DF23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5884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A497ACDE-4114-6B5D-667F-A564AD1C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>
            <a:extLst>
              <a:ext uri="{FF2B5EF4-FFF2-40B4-BE49-F238E27FC236}">
                <a16:creationId xmlns:a16="http://schemas.microsoft.com/office/drawing/2014/main" id="{EC991AE2-6165-7262-E836-9A669B8BF5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5DF5613D-60B7-D220-9AED-BC96C5F3E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852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Προσαρμοσμένη διάταξη">
  <p:cSld name="Προσαρμοσμένη διάταξη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838199" y="320450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2886868" y="4865060"/>
            <a:ext cx="6418263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2"/>
          </p:nvPr>
        </p:nvSpPr>
        <p:spPr>
          <a:xfrm>
            <a:off x="266700" y="1983447"/>
            <a:ext cx="22860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54A2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2154A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ύο περιεχόμενα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638306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 descr="Χειραψία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6091652" y="5984679"/>
            <a:ext cx="6028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050"/>
              <a:buFont typeface="Calibri"/>
              <a:buNone/>
            </a:pPr>
            <a:r>
              <a:rPr lang="en-US" sz="950" i="0" u="none" strike="noStrike" cap="none" dirty="0">
                <a:solidFill>
                  <a:srgbClr val="757070"/>
                </a:solidFill>
              </a:rPr>
              <a:t>The work described in this presentation has been conducted within the project </a:t>
            </a:r>
            <a:r>
              <a:rPr lang="en-US" sz="950" dirty="0" err="1">
                <a:solidFill>
                  <a:srgbClr val="757070"/>
                </a:solidFill>
              </a:rPr>
              <a:t>CoEvolution</a:t>
            </a:r>
            <a:r>
              <a:rPr lang="en-US" sz="950" i="0" u="none" strike="noStrike" cap="none" dirty="0">
                <a:solidFill>
                  <a:srgbClr val="757070"/>
                </a:solidFill>
              </a:rPr>
              <a:t>. This project has received funding </a:t>
            </a:r>
            <a:r>
              <a:rPr lang="en-US" sz="950" dirty="0">
                <a:solidFill>
                  <a:srgbClr val="757070"/>
                </a:solidFill>
              </a:rPr>
              <a:t>from</a:t>
            </a:r>
            <a:r>
              <a:rPr lang="en-US" sz="950" i="0" u="none" strike="noStrike" cap="none" dirty="0">
                <a:solidFill>
                  <a:srgbClr val="757070"/>
                </a:solidFill>
              </a:rPr>
              <a:t> the European Union’s Horizon Europe Framework </a:t>
            </a:r>
            <a:r>
              <a:rPr lang="en-US" sz="950" i="0" u="none" strike="noStrike" cap="none" dirty="0" err="1">
                <a:solidFill>
                  <a:srgbClr val="757070"/>
                </a:solidFill>
              </a:rPr>
              <a:t>Programme</a:t>
            </a:r>
            <a:r>
              <a:rPr lang="en-US" sz="950" i="0" u="none" strike="noStrike" cap="none" dirty="0">
                <a:solidFill>
                  <a:srgbClr val="757070"/>
                </a:solidFill>
              </a:rPr>
              <a:t> (Horizon) under Grant Agreement No </a:t>
            </a:r>
            <a:r>
              <a:rPr lang="en-US" sz="950" dirty="0">
                <a:solidFill>
                  <a:srgbClr val="757070"/>
                </a:solidFill>
              </a:rPr>
              <a:t>101168560</a:t>
            </a:r>
            <a:r>
              <a:rPr lang="en-US" sz="950" i="0" u="none" strike="noStrike" cap="none" dirty="0">
                <a:solidFill>
                  <a:srgbClr val="757070"/>
                </a:solidFill>
              </a:rPr>
              <a:t>. This document does not represent the opinion of the European Union, and the European Union is not responsible for any use that might be made of this content.</a:t>
            </a:r>
            <a:endParaRPr sz="1300" dirty="0"/>
          </a:p>
        </p:txBody>
      </p:sp>
      <p:sp>
        <p:nvSpPr>
          <p:cNvPr id="75" name="Google Shape;75;p16"/>
          <p:cNvSpPr txBox="1"/>
          <p:nvPr/>
        </p:nvSpPr>
        <p:spPr>
          <a:xfrm>
            <a:off x="6501028" y="234378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44546A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ιαφάνεια τίτλου" type="title">
  <p:cSld name="TITL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582" y="57356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9982200" y="6254175"/>
            <a:ext cx="20383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The project has received funding form the European Union’s Horizon Europe Framework </a:t>
            </a:r>
            <a:r>
              <a:rPr lang="en-US" sz="800" b="0" i="0" u="none" strike="noStrike" cap="none" dirty="0" err="1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Programme</a:t>
            </a:r>
            <a:r>
              <a:rPr lang="en-US" sz="8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 (Horizon) under grant agreement No 101135775</a:t>
            </a:r>
            <a:endParaRPr sz="800" b="0" i="0" u="none" strike="noStrike" cap="none" dirty="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περιεχόμενο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φαλίδα ενότητας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Σύγκριση" type="twoTxTwoObj">
  <p:cSld name="TWO_OBJECTS_WITH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Μόνο τίτλος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νό">
  <p:cSld name="Κενό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Εικόνα με λεζάντα" type="picTx">
  <p:cSld name="PICTURE_WITH_CAPTIO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ατακόρυφο κείμενο" type="vertTx">
  <p:cSld name="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0" y="0"/>
            <a:ext cx="12192000" cy="1646238"/>
          </a:xfrm>
          <a:prstGeom prst="rect">
            <a:avLst/>
          </a:prstGeom>
          <a:solidFill>
            <a:srgbClr val="0A304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8074325" y="0"/>
            <a:ext cx="4117675" cy="1646238"/>
          </a:xfrm>
          <a:prstGeom prst="rect">
            <a:avLst/>
          </a:prstGeom>
          <a:gradFill>
            <a:gsLst>
              <a:gs pos="0">
                <a:srgbClr val="042A3B"/>
              </a:gs>
              <a:gs pos="50000">
                <a:srgbClr val="063E56"/>
              </a:gs>
              <a:gs pos="100000">
                <a:srgbClr val="084A67"/>
              </a:gs>
            </a:gsLst>
            <a:lin ang="13500000" scaled="0"/>
          </a:gra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10149" y="6454775"/>
            <a:ext cx="548425" cy="3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ατακόρυφος τίτλος και Κείμενο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4982" y="5739837"/>
            <a:ext cx="77293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/>
          <p:nvPr/>
        </p:nvSpPr>
        <p:spPr>
          <a:xfrm>
            <a:off x="9982200" y="6254175"/>
            <a:ext cx="2038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800"/>
              <a:buFont typeface="Calibri"/>
              <a:buNone/>
            </a:pPr>
            <a:r>
              <a:rPr lang="en-US" sz="800" i="0" u="none" strike="noStrike" cap="none" dirty="0">
                <a:solidFill>
                  <a:srgbClr val="757070"/>
                </a:solidFill>
              </a:rPr>
              <a:t>The project has received funding </a:t>
            </a:r>
            <a:r>
              <a:rPr lang="en-US" sz="800" dirty="0">
                <a:solidFill>
                  <a:srgbClr val="757070"/>
                </a:solidFill>
              </a:rPr>
              <a:t>from</a:t>
            </a:r>
            <a:r>
              <a:rPr lang="en-US" sz="800" i="0" u="none" strike="noStrike" cap="none" dirty="0">
                <a:solidFill>
                  <a:srgbClr val="757070"/>
                </a:solidFill>
              </a:rPr>
              <a:t> the European Union’s Horizon Europe Framework </a:t>
            </a:r>
            <a:r>
              <a:rPr lang="en-US" sz="800" i="0" u="none" strike="noStrike" cap="none" dirty="0" err="1">
                <a:solidFill>
                  <a:srgbClr val="757070"/>
                </a:solidFill>
              </a:rPr>
              <a:t>Programme</a:t>
            </a:r>
            <a:r>
              <a:rPr lang="en-US" sz="800" i="0" u="none" strike="noStrike" cap="none" dirty="0">
                <a:solidFill>
                  <a:srgbClr val="757070"/>
                </a:solidFill>
              </a:rPr>
              <a:t> (Horizon) under grant agreement No </a:t>
            </a:r>
            <a:r>
              <a:rPr lang="en-US" sz="800" dirty="0">
                <a:solidFill>
                  <a:srgbClr val="757070"/>
                </a:solidFill>
              </a:rPr>
              <a:t>101168560</a:t>
            </a:r>
            <a:endParaRPr sz="800" i="0" u="none" strike="noStrike" cap="none" dirty="0">
              <a:solidFill>
                <a:srgbClr val="757070"/>
              </a:solidFill>
            </a:endParaRPr>
          </a:p>
        </p:txBody>
      </p:sp>
      <p:pic>
        <p:nvPicPr>
          <p:cNvPr id="12" name="Google Shape;1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038" y="100275"/>
            <a:ext cx="3017923" cy="18184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246900" y="33425"/>
            <a:ext cx="1911675" cy="2791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title"/>
          </p:nvPr>
        </p:nvSpPr>
        <p:spPr>
          <a:xfrm>
            <a:off x="838199" y="320450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800" dirty="0"/>
              <a:t>T3.2</a:t>
            </a:r>
            <a:endParaRPr sz="3800" dirty="0"/>
          </a:p>
        </p:txBody>
      </p:sp>
      <p:sp>
        <p:nvSpPr>
          <p:cNvPr id="149" name="Google Shape;149;p1"/>
          <p:cNvSpPr txBox="1">
            <a:spLocks noGrp="1"/>
          </p:cNvSpPr>
          <p:nvPr>
            <p:ph type="body" idx="1"/>
          </p:nvPr>
        </p:nvSpPr>
        <p:spPr>
          <a:xfrm>
            <a:off x="2886868" y="4865060"/>
            <a:ext cx="6418263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4A2"/>
              </a:buClr>
              <a:buSzPts val="2800"/>
              <a:buNone/>
            </a:pPr>
            <a:r>
              <a:rPr lang="en-US" sz="2600" dirty="0"/>
              <a:t>BEVD</a:t>
            </a:r>
            <a:endParaRPr sz="2600" dirty="0"/>
          </a:p>
        </p:txBody>
      </p:sp>
      <p:sp>
        <p:nvSpPr>
          <p:cNvPr id="150" name="Google Shape;150;p1"/>
          <p:cNvSpPr txBox="1">
            <a:spLocks noGrp="1"/>
          </p:cNvSpPr>
          <p:nvPr>
            <p:ph type="body" idx="2"/>
          </p:nvPr>
        </p:nvSpPr>
        <p:spPr>
          <a:xfrm>
            <a:off x="259750" y="2191672"/>
            <a:ext cx="4483700" cy="542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4A2"/>
              </a:buClr>
              <a:buSzPts val="2800"/>
              <a:buNone/>
            </a:pPr>
            <a:r>
              <a:rPr lang="en-US" sz="2600" dirty="0"/>
              <a:t>WP3 meeting – online 20/12/2024</a:t>
            </a:r>
            <a:endParaRPr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 dirty="0"/>
              <a:t>Issues / Challenges</a:t>
            </a:r>
            <a:endParaRPr dirty="0"/>
          </a:p>
        </p:txBody>
      </p:sp>
      <p:sp>
        <p:nvSpPr>
          <p:cNvPr id="171" name="Google Shape;17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800" dirty="0"/>
              <a:t>ISSUE:</a:t>
            </a:r>
          </a:p>
          <a:p>
            <a:pPr marL="520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GB" sz="1800" dirty="0"/>
              <a:t>The algorithms and tools from other partners – some of the providers have no PMs in T3.2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GB" sz="1800" dirty="0"/>
              <a:t>Pilot/UC specification and requirements needed to define other (component) requirements</a:t>
            </a:r>
            <a:endParaRPr sz="1800" dirty="0"/>
          </a:p>
        </p:txBody>
      </p:sp>
      <p:sp>
        <p:nvSpPr>
          <p:cNvPr id="172" name="Google Shape;172;p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1800" dirty="0"/>
              <a:t>ACTION(s):</a:t>
            </a:r>
          </a:p>
          <a:p>
            <a:pPr marL="520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GB" sz="1800" dirty="0"/>
              <a:t>Regular alignment with T3.1 and T3.3 needed: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1800" dirty="0"/>
          </a:p>
          <a:p>
            <a:pPr marL="1092200" lvl="1" indent="-457200">
              <a:spcBef>
                <a:spcPts val="0"/>
              </a:spcBef>
              <a:buSzPct val="100000"/>
              <a:buFont typeface="+mj-lt"/>
              <a:buAutoNum type="alphaLcPeriod"/>
            </a:pPr>
            <a:r>
              <a:rPr lang="en-GB" sz="1800" dirty="0"/>
              <a:t>perform this alignment within WP3meetings</a:t>
            </a:r>
          </a:p>
          <a:p>
            <a:pPr marL="1092200" lvl="1" indent="-457200">
              <a:spcBef>
                <a:spcPts val="0"/>
              </a:spcBef>
              <a:buSzPct val="100000"/>
              <a:buFont typeface="+mj-lt"/>
              <a:buAutoNum type="alphaLcPeriod"/>
            </a:pPr>
            <a:endParaRPr lang="en-GB" sz="1800" dirty="0"/>
          </a:p>
          <a:p>
            <a:pPr marL="1092200" lvl="1" indent="-457200">
              <a:spcBef>
                <a:spcPts val="0"/>
              </a:spcBef>
              <a:buSzPct val="100000"/>
              <a:buFont typeface="+mj-lt"/>
              <a:buAutoNum type="alphaLcPeriod"/>
            </a:pPr>
            <a:r>
              <a:rPr lang="en-GB" sz="1800" dirty="0"/>
              <a:t>If needed, also specific meetings</a:t>
            </a:r>
          </a:p>
          <a:p>
            <a:pPr marL="1092200" lvl="1" indent="-457200">
              <a:spcBef>
                <a:spcPts val="0"/>
              </a:spcBef>
              <a:buSzPct val="100000"/>
              <a:buFont typeface="+mj-lt"/>
              <a:buAutoNum type="alphaLcPeriod"/>
            </a:pPr>
            <a:endParaRPr lang="en-GB" sz="1800" dirty="0"/>
          </a:p>
          <a:p>
            <a:pPr marL="1092200" lvl="1" indent="-457200">
              <a:spcBef>
                <a:spcPts val="0"/>
              </a:spcBef>
              <a:buSzPct val="100000"/>
              <a:buFont typeface="+mj-lt"/>
              <a:buAutoNum type="alphaLcPeriod"/>
            </a:pPr>
            <a:endParaRPr lang="en-GB" sz="1800" dirty="0"/>
          </a:p>
          <a:p>
            <a:pPr marL="1092200" lvl="1" indent="-457200">
              <a:spcBef>
                <a:spcPts val="0"/>
              </a:spcBef>
              <a:buSzPct val="100000"/>
              <a:buFont typeface="+mj-lt"/>
              <a:buAutoNum type="alphaLcPeriod"/>
            </a:pPr>
            <a:endParaRPr lang="en-GB" sz="1800" dirty="0"/>
          </a:p>
          <a:p>
            <a:pPr marL="635000" indent="-4572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GB" sz="1800" dirty="0"/>
              <a:t>Check timeline in the later slide – (levels: organisation </a:t>
            </a:r>
            <a:r>
              <a:rPr lang="en-GB" sz="1800" dirty="0">
                <a:sym typeface="Wingdings" panose="05000000000000000000" pitchFamily="2" charset="2"/>
              </a:rPr>
              <a:t> task  all parties concerned)</a:t>
            </a:r>
            <a:endParaRPr lang="en-GB" sz="1800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61B7D5B-6D6E-8F25-0E65-BAB8A0FD0278}"/>
              </a:ext>
            </a:extLst>
          </p:cNvPr>
          <p:cNvSpPr/>
          <p:nvPr/>
        </p:nvSpPr>
        <p:spPr>
          <a:xfrm>
            <a:off x="5705475" y="3629819"/>
            <a:ext cx="628650" cy="742950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45124F8B-24DA-D503-FB81-FBC5AE98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E2E774E7-79F5-4976-4D4B-D4CAA12C3C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 dirty="0"/>
              <a:t>Steps - overview</a:t>
            </a:r>
            <a:endParaRPr dirty="0"/>
          </a:p>
        </p:txBody>
      </p:sp>
      <p:sp>
        <p:nvSpPr>
          <p:cNvPr id="171" name="Google Shape;171;p4">
            <a:extLst>
              <a:ext uri="{FF2B5EF4-FFF2-40B4-BE49-F238E27FC236}">
                <a16:creationId xmlns:a16="http://schemas.microsoft.com/office/drawing/2014/main" id="{CEE615EF-9E16-53C2-14CA-CD76FB28E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GB" sz="2000" dirty="0"/>
              <a:t>Link to T3.1 BUT focus on UC associated threats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2000" dirty="0"/>
          </a:p>
          <a:p>
            <a:pPr marL="635000" indent="-4572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GB" sz="2000" dirty="0"/>
              <a:t>Collect concrete UC specification asap (keep an eye on possible creation of threat models for the UCs)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GB" sz="2000" dirty="0"/>
              <a:t>Update UC spec at M12 (for delivery)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GB" sz="2000" dirty="0"/>
              <a:t>Connect spec/</a:t>
            </a:r>
            <a:r>
              <a:rPr lang="en-GB" sz="2000" dirty="0" err="1"/>
              <a:t>req</a:t>
            </a:r>
            <a:r>
              <a:rPr lang="en-GB" sz="2000" dirty="0"/>
              <a:t> to the AI act requirements (active now – should be done in T3.1 as well)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GB" sz="2000" dirty="0">
                <a:solidFill>
                  <a:srgbClr val="C00000"/>
                </a:solidFill>
              </a:rPr>
              <a:t>ADD-ON</a:t>
            </a:r>
            <a:r>
              <a:rPr lang="en-GB" sz="2000" dirty="0"/>
              <a:t> - rudimentary (primitive version) of evaluation “requirements” </a:t>
            </a:r>
          </a:p>
        </p:txBody>
      </p:sp>
    </p:spTree>
    <p:extLst>
      <p:ext uri="{BB962C8B-B14F-4D97-AF65-F5344CB8AC3E}">
        <p14:creationId xmlns:p14="http://schemas.microsoft.com/office/powerpoint/2010/main" val="195876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24747B2-20F7-B2E9-04D9-0BF69B82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DF347B24-B209-4598-1768-587145F981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 dirty="0"/>
              <a:t>Pilot1 - INDUSTRIAL/manufacturing</a:t>
            </a:r>
            <a:endParaRPr dirty="0"/>
          </a:p>
        </p:txBody>
      </p:sp>
      <p:sp>
        <p:nvSpPr>
          <p:cNvPr id="171" name="Google Shape;171;p4">
            <a:extLst>
              <a:ext uri="{FF2B5EF4-FFF2-40B4-BE49-F238E27FC236}">
                <a16:creationId xmlns:a16="http://schemas.microsoft.com/office/drawing/2014/main" id="{A8CD4487-9A0C-DB81-0300-544339C1C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1825625"/>
            <a:ext cx="5867400" cy="490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000" dirty="0"/>
              <a:t>UC 1.1: </a:t>
            </a:r>
            <a:r>
              <a:rPr lang="en-GB" sz="2000" b="1" dirty="0"/>
              <a:t>AI-based localisation </a:t>
            </a:r>
            <a:r>
              <a:rPr lang="en-GB" sz="2000" dirty="0"/>
              <a:t>in industrial environment</a:t>
            </a:r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Have UWB anchors to localise assts in an industrial plant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The tag sends certain signals, which are received by the anchors (expect difficulties when the tag is not in direct line of sight with the anchor)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Filter out signals and detect peaks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The signal is in the edge device and then AI is used to go through signals and improve the signal accuracy</a:t>
            </a:r>
            <a:endParaRPr sz="2000" dirty="0"/>
          </a:p>
        </p:txBody>
      </p:sp>
      <p:sp>
        <p:nvSpPr>
          <p:cNvPr id="172" name="Google Shape;172;p4">
            <a:extLst>
              <a:ext uri="{FF2B5EF4-FFF2-40B4-BE49-F238E27FC236}">
                <a16:creationId xmlns:a16="http://schemas.microsoft.com/office/drawing/2014/main" id="{6B361F3C-2A31-72DD-D5A2-81EC721A944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72199" y="1825624"/>
            <a:ext cx="5867400" cy="490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000" dirty="0"/>
              <a:t>UC 1.2:  AI-based </a:t>
            </a:r>
            <a:r>
              <a:rPr lang="en-GB" sz="2000" b="1" dirty="0"/>
              <a:t>edge/network management</a:t>
            </a:r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Aim: allocate the apps (downloaded from the industrial edge market-place) e.g., anomaly detection app, machine monitoring app, comms protocols etc.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AI's role: use statistics from running infrastructure to optimise the usage of apps.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Also add failure prediction if expecting an issue on the device if the installed apps remain the same. </a:t>
            </a:r>
            <a:endParaRPr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E2793-AF26-26E6-8730-3F256CD904A3}"/>
              </a:ext>
            </a:extLst>
          </p:cNvPr>
          <p:cNvSpPr txBox="1"/>
          <p:nvPr/>
        </p:nvSpPr>
        <p:spPr>
          <a:xfrm>
            <a:off x="152400" y="6426396"/>
            <a:ext cx="11887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C00000"/>
                </a:solidFill>
              </a:rPr>
              <a:t>Tech challenge: Assume the UCs have a starting AI model - continue training and see how the AI performs then</a:t>
            </a:r>
          </a:p>
        </p:txBody>
      </p:sp>
    </p:spTree>
    <p:extLst>
      <p:ext uri="{BB962C8B-B14F-4D97-AF65-F5344CB8AC3E}">
        <p14:creationId xmlns:p14="http://schemas.microsoft.com/office/powerpoint/2010/main" val="311782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F7F1394A-6BFB-3484-DE28-93785F08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6A9AE981-839A-EDBA-58F2-9F8CE6B61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 dirty="0"/>
              <a:t>Pilot2 - AUTOMOTIVE</a:t>
            </a:r>
            <a:endParaRPr dirty="0"/>
          </a:p>
        </p:txBody>
      </p:sp>
      <p:sp>
        <p:nvSpPr>
          <p:cNvPr id="171" name="Google Shape;171;p4">
            <a:extLst>
              <a:ext uri="{FF2B5EF4-FFF2-40B4-BE49-F238E27FC236}">
                <a16:creationId xmlns:a16="http://schemas.microsoft.com/office/drawing/2014/main" id="{A28909F9-85E2-0B47-730F-5D62FB8FA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1825625"/>
            <a:ext cx="5867400" cy="490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000" dirty="0"/>
              <a:t>UC 2.1: PERCEPTION (AVI)</a:t>
            </a:r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UC2.1a - </a:t>
            </a:r>
            <a:r>
              <a:rPr lang="en-GB" sz="2000" b="1" dirty="0"/>
              <a:t>Provide a full simulation platform </a:t>
            </a:r>
            <a:r>
              <a:rPr lang="en-GB" sz="2000" dirty="0"/>
              <a:t>for development, validation and testing of adversarial attacks (LiDAR, GPS) and defence mechanisms in Collaborative Perception, enabling also fleets of collaborating autonomous vehicles via V2X links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UC2.1b - </a:t>
            </a:r>
            <a:r>
              <a:rPr lang="en-GB" sz="2000" b="1" dirty="0"/>
              <a:t>Explore defence mechanisms </a:t>
            </a:r>
            <a:r>
              <a:rPr lang="en-GB" sz="2000" dirty="0"/>
              <a:t>to increase adversarial robustness of LiDAR Based SLAM and Multi-object Tracking (e.g., model-based Deep unrolling)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UC2.1c - </a:t>
            </a:r>
            <a:r>
              <a:rPr lang="en-GB" sz="2000" b="1" dirty="0"/>
              <a:t>Implement robust optimisation processing</a:t>
            </a:r>
            <a:r>
              <a:rPr lang="en-GB" sz="2000" dirty="0"/>
              <a:t> for robust localisation via fusion of multi modal, multi agent data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2000" dirty="0"/>
              <a:t>UC2.1d - </a:t>
            </a:r>
            <a:r>
              <a:rPr lang="en-GB" sz="2000" b="1" dirty="0"/>
              <a:t>Examine the impact of enhanced privacy-preserving FL frameworks </a:t>
            </a:r>
            <a:r>
              <a:rPr lang="en-GB" sz="2000" dirty="0"/>
              <a:t>in the aforementioned collaborative perception applications </a:t>
            </a:r>
            <a:endParaRPr sz="2000" dirty="0"/>
          </a:p>
        </p:txBody>
      </p:sp>
      <p:sp>
        <p:nvSpPr>
          <p:cNvPr id="172" name="Google Shape;172;p4">
            <a:extLst>
              <a:ext uri="{FF2B5EF4-FFF2-40B4-BE49-F238E27FC236}">
                <a16:creationId xmlns:a16="http://schemas.microsoft.com/office/drawing/2014/main" id="{D6AC66C5-5C0F-FF08-716F-C23B1C3C1A1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172199" y="1825624"/>
            <a:ext cx="5867400" cy="490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000" dirty="0"/>
              <a:t>UC 2.2:  CONTROL/teleoperation (AVL)</a:t>
            </a:r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GB" sz="2000" dirty="0"/>
          </a:p>
          <a:p>
            <a:pPr marL="520700">
              <a:spcBef>
                <a:spcPts val="0"/>
              </a:spcBef>
              <a:buSzPts val="2800"/>
            </a:pPr>
            <a:r>
              <a:rPr lang="en-GB" sz="2000" dirty="0"/>
              <a:t>UC2.2a: Vehicle ADAS/AD </a:t>
            </a:r>
            <a:r>
              <a:rPr lang="en-GB" sz="2000" b="1" dirty="0"/>
              <a:t>Functionality Extension</a:t>
            </a:r>
            <a:r>
              <a:rPr lang="en-GB" sz="2000" dirty="0"/>
              <a:t>, Change or Update</a:t>
            </a:r>
          </a:p>
          <a:p>
            <a:pPr marL="920750" lvl="1" indent="-285750">
              <a:spcBef>
                <a:spcPts val="0"/>
              </a:spcBef>
              <a:buSzPts val="2800"/>
            </a:pPr>
            <a:r>
              <a:rPr lang="en-GB" sz="1600" dirty="0"/>
              <a:t>TARGET: regularly update the AI/ML models </a:t>
            </a:r>
          </a:p>
          <a:p>
            <a:pPr marL="520700">
              <a:spcBef>
                <a:spcPts val="0"/>
              </a:spcBef>
              <a:buSzPts val="2800"/>
            </a:pPr>
            <a:endParaRPr lang="en-GB" sz="2000" dirty="0"/>
          </a:p>
          <a:p>
            <a:pPr marL="520700">
              <a:spcBef>
                <a:spcPts val="0"/>
              </a:spcBef>
              <a:buSzPts val="2800"/>
            </a:pPr>
            <a:r>
              <a:rPr lang="en-GB" sz="2000" dirty="0"/>
              <a:t>UC2.2b: AI/ML </a:t>
            </a:r>
            <a:r>
              <a:rPr lang="en-GB" sz="2000" b="1" dirty="0"/>
              <a:t>Models distribution </a:t>
            </a:r>
            <a:r>
              <a:rPr lang="en-GB" sz="2000" dirty="0"/>
              <a:t>over a network</a:t>
            </a:r>
          </a:p>
          <a:p>
            <a:pPr marL="977900" lvl="1">
              <a:spcBef>
                <a:spcPts val="0"/>
              </a:spcBef>
              <a:buSzPts val="2800"/>
            </a:pPr>
            <a:r>
              <a:rPr lang="en-GB" sz="1600" dirty="0"/>
              <a:t>TARGET: Operator needs to adapt cloud instance for roll out</a:t>
            </a:r>
          </a:p>
          <a:p>
            <a:pPr marL="520700">
              <a:spcBef>
                <a:spcPts val="0"/>
              </a:spcBef>
              <a:buSzPts val="2800"/>
            </a:pPr>
            <a:endParaRPr lang="en-GB" sz="2000" dirty="0"/>
          </a:p>
          <a:p>
            <a:pPr marL="520700">
              <a:spcBef>
                <a:spcPts val="0"/>
              </a:spcBef>
              <a:buSzPts val="2800"/>
            </a:pPr>
            <a:r>
              <a:rPr lang="en-GB" sz="2000" dirty="0"/>
              <a:t>UC2.2c: Customer AI/ML </a:t>
            </a:r>
            <a:r>
              <a:rPr lang="en-GB" sz="2000" b="1" dirty="0"/>
              <a:t>model selection</a:t>
            </a:r>
          </a:p>
          <a:p>
            <a:pPr marL="977900" lvl="1">
              <a:spcBef>
                <a:spcPts val="0"/>
              </a:spcBef>
              <a:buSzPts val="2800"/>
            </a:pPr>
            <a:r>
              <a:rPr lang="en-GB" sz="1600" dirty="0"/>
              <a:t>TARGET: tracked installation of customer installed models (transparent history)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FC216-EEC4-45DE-CFE9-F37474705738}"/>
              </a:ext>
            </a:extLst>
          </p:cNvPr>
          <p:cNvSpPr txBox="1"/>
          <p:nvPr/>
        </p:nvSpPr>
        <p:spPr>
          <a:xfrm>
            <a:off x="152400" y="6580284"/>
            <a:ext cx="11887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C00000"/>
                </a:solidFill>
              </a:rPr>
              <a:t>Integration challenge: Link two UCs towards the end to demonstrate robustness</a:t>
            </a:r>
          </a:p>
        </p:txBody>
      </p:sp>
    </p:spTree>
    <p:extLst>
      <p:ext uri="{BB962C8B-B14F-4D97-AF65-F5344CB8AC3E}">
        <p14:creationId xmlns:p14="http://schemas.microsoft.com/office/powerpoint/2010/main" val="429361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65610A7-BD68-F479-CABB-8F63067D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8B369696-0356-0B91-122A-A2C3ABA7B7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 dirty="0"/>
              <a:t>Timeline (update)</a:t>
            </a:r>
            <a:endParaRPr dirty="0"/>
          </a:p>
        </p:txBody>
      </p:sp>
      <p:sp>
        <p:nvSpPr>
          <p:cNvPr id="171" name="Google Shape;171;p4">
            <a:extLst>
              <a:ext uri="{FF2B5EF4-FFF2-40B4-BE49-F238E27FC236}">
                <a16:creationId xmlns:a16="http://schemas.microsoft.com/office/drawing/2014/main" id="{92E0A3A7-DE06-1EE1-AD1E-D62A682EE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858500" cy="503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GB" b="1" dirty="0"/>
              <a:t>High-level UC ideas </a:t>
            </a:r>
            <a:r>
              <a:rPr lang="en-GB" dirty="0"/>
              <a:t>– already available (per UC lead partner)</a:t>
            </a:r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endParaRPr lang="en-GB" dirty="0"/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GB" dirty="0"/>
              <a:t>Formulation of the UCs – what do you consider the threats to your UCs. What models and data are being used. (mid January)</a:t>
            </a:r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endParaRPr lang="en-GB" dirty="0"/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GB" dirty="0"/>
              <a:t>Define </a:t>
            </a:r>
            <a:r>
              <a:rPr lang="en-GB" b="1" dirty="0"/>
              <a:t>specific UC spec/requirements </a:t>
            </a:r>
            <a:r>
              <a:rPr lang="en-GB" dirty="0"/>
              <a:t>(SIE, AVI, AVL – end of January 2025). Also, include rudimentary evaluation description.</a:t>
            </a:r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endParaRPr lang="en-GB" dirty="0"/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GB" b="1" dirty="0"/>
              <a:t>Combined UC spec/requirements </a:t>
            </a:r>
            <a:r>
              <a:rPr lang="en-GB" dirty="0"/>
              <a:t>incorporating market needs (all Task partners – latest by the first week of February)</a:t>
            </a:r>
          </a:p>
          <a:p>
            <a:pPr marL="635000" indent="-457200">
              <a:spcBef>
                <a:spcPts val="0"/>
              </a:spcBef>
              <a:buSzPts val="2800"/>
              <a:buFont typeface="+mj-lt"/>
              <a:buAutoNum type="arabicPeriod"/>
            </a:pPr>
            <a:endParaRPr lang="en-GB" sz="2000" dirty="0"/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GB" dirty="0"/>
              <a:t>From that, provide </a:t>
            </a:r>
            <a:r>
              <a:rPr lang="en-GB" b="1" dirty="0"/>
              <a:t>Pilot/UC spec to component providers </a:t>
            </a:r>
            <a:r>
              <a:rPr lang="en-GB" dirty="0"/>
              <a:t>(latest mid Feb) - align with T3.1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/>
              <a:t>and T3.3</a:t>
            </a:r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endParaRPr lang="en-GB" dirty="0"/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GB" b="1" dirty="0"/>
              <a:t>Refine with Component providers </a:t>
            </a:r>
            <a:r>
              <a:rPr lang="en-GB" dirty="0"/>
              <a:t>(latest end-February)</a:t>
            </a:r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endParaRPr lang="en-GB" dirty="0"/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GB" dirty="0"/>
              <a:t>Discuss/approve in a plenary Workshop (start April – Cagliari)</a:t>
            </a:r>
          </a:p>
          <a:p>
            <a:pPr marL="177800" indent="0">
              <a:spcBef>
                <a:spcPts val="0"/>
              </a:spcBef>
              <a:buSzPts val="280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523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97372255-29F9-284B-6F38-628B225B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Right 7">
            <a:extLst>
              <a:ext uri="{FF2B5EF4-FFF2-40B4-BE49-F238E27FC236}">
                <a16:creationId xmlns:a16="http://schemas.microsoft.com/office/drawing/2014/main" id="{279129F7-40EE-7952-1075-8F3C3D8F8B60}"/>
              </a:ext>
            </a:extLst>
          </p:cNvPr>
          <p:cNvSpPr/>
          <p:nvPr/>
        </p:nvSpPr>
        <p:spPr>
          <a:xfrm>
            <a:off x="4898153" y="2022230"/>
            <a:ext cx="2833635" cy="14067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Architecture T3.3</a:t>
            </a:r>
          </a:p>
        </p:txBody>
      </p:sp>
      <p:sp>
        <p:nvSpPr>
          <p:cNvPr id="170" name="Google Shape;170;p4">
            <a:extLst>
              <a:ext uri="{FF2B5EF4-FFF2-40B4-BE49-F238E27FC236}">
                <a16:creationId xmlns:a16="http://schemas.microsoft.com/office/drawing/2014/main" id="{025B0E73-2C84-7AA9-2D86-891730B9E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GB" dirty="0"/>
              <a:t>A rough (live) sketch – to be refined </a:t>
            </a:r>
            <a:endParaRPr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A3C28DA-9D09-6BF3-AC68-5EDBC32238FA}"/>
              </a:ext>
            </a:extLst>
          </p:cNvPr>
          <p:cNvSpPr/>
          <p:nvPr/>
        </p:nvSpPr>
        <p:spPr>
          <a:xfrm>
            <a:off x="1004835" y="3399274"/>
            <a:ext cx="2833635" cy="14067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Tech: what can be provided – other tasks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DBE5D31-193B-91EB-2C9D-BBBF7644807A}"/>
              </a:ext>
            </a:extLst>
          </p:cNvPr>
          <p:cNvSpPr/>
          <p:nvPr/>
        </p:nvSpPr>
        <p:spPr>
          <a:xfrm>
            <a:off x="1004835" y="1992504"/>
            <a:ext cx="2833635" cy="1406770"/>
          </a:xfrm>
          <a:prstGeom prst="rightArrow">
            <a:avLst>
              <a:gd name="adj1" fmla="val 67604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Treats (generic): T3.1+ tech spec (extract) for your solution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1902D8-AD6C-3A80-36A6-94C484A156AF}"/>
              </a:ext>
            </a:extLst>
          </p:cNvPr>
          <p:cNvSpPr/>
          <p:nvPr/>
        </p:nvSpPr>
        <p:spPr>
          <a:xfrm>
            <a:off x="3648075" y="1552889"/>
            <a:ext cx="1628775" cy="50265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SUM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9C0D424-1FC8-CE25-8C33-7224073B36C0}"/>
              </a:ext>
            </a:extLst>
          </p:cNvPr>
          <p:cNvSpPr/>
          <p:nvPr/>
        </p:nvSpPr>
        <p:spPr>
          <a:xfrm>
            <a:off x="1021478" y="4867903"/>
            <a:ext cx="2833635" cy="14067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Pilots/UCs T3.2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D238977-F320-AB3B-D16D-010B6F9CEFF5}"/>
              </a:ext>
            </a:extLst>
          </p:cNvPr>
          <p:cNvSpPr/>
          <p:nvPr/>
        </p:nvSpPr>
        <p:spPr>
          <a:xfrm>
            <a:off x="7574678" y="1992504"/>
            <a:ext cx="2833635" cy="14067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Data/test T3.4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E7EA4E7-8BC6-25DE-4698-F0802B6BC8C6}"/>
              </a:ext>
            </a:extLst>
          </p:cNvPr>
          <p:cNvCxnSpPr>
            <a:stCxn id="9" idx="2"/>
            <a:endCxn id="8" idx="2"/>
          </p:cNvCxnSpPr>
          <p:nvPr/>
        </p:nvCxnSpPr>
        <p:spPr>
          <a:xfrm rot="5400000">
            <a:off x="8351803" y="2075875"/>
            <a:ext cx="29726" cy="2676525"/>
          </a:xfrm>
          <a:prstGeom prst="bentConnector3">
            <a:avLst>
              <a:gd name="adj1" fmla="val 8690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8B0A41-CD30-1FCF-B1DA-23C88039315F}"/>
              </a:ext>
            </a:extLst>
          </p:cNvPr>
          <p:cNvSpPr txBox="1"/>
          <p:nvPr/>
        </p:nvSpPr>
        <p:spPr>
          <a:xfrm>
            <a:off x="7957739" y="3744003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Refine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3A82FD-3DE6-4C43-FF4D-8ABCBE34DC88}"/>
              </a:ext>
            </a:extLst>
          </p:cNvPr>
          <p:cNvCxnSpPr>
            <a:stCxn id="9" idx="2"/>
            <a:endCxn id="6" idx="6"/>
          </p:cNvCxnSpPr>
          <p:nvPr/>
        </p:nvCxnSpPr>
        <p:spPr>
          <a:xfrm flipH="1">
            <a:off x="5276850" y="3399274"/>
            <a:ext cx="4428078" cy="666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F60294C-A09F-D8C7-3217-64A37AEC5636}"/>
              </a:ext>
            </a:extLst>
          </p:cNvPr>
          <p:cNvSpPr/>
          <p:nvPr/>
        </p:nvSpPr>
        <p:spPr>
          <a:xfrm>
            <a:off x="5276849" y="4147641"/>
            <a:ext cx="2833635" cy="14067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Demo… T6.3? </a:t>
            </a:r>
          </a:p>
        </p:txBody>
      </p:sp>
    </p:spTree>
    <p:extLst>
      <p:ext uri="{BB962C8B-B14F-4D97-AF65-F5344CB8AC3E}">
        <p14:creationId xmlns:p14="http://schemas.microsoft.com/office/powerpoint/2010/main" val="2387918363"/>
      </p:ext>
    </p:extLst>
  </p:cSld>
  <p:clrMapOvr>
    <a:masterClrMapping/>
  </p:clrMapOvr>
</p:sld>
</file>

<file path=ppt/theme/theme1.xml><?xml version="1.0" encoding="utf-8"?>
<a:theme xmlns:a="http://schemas.openxmlformats.org/drawingml/2006/main" name="2_Front pag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4F42BB571C174A8CFFD983452FCC05" ma:contentTypeVersion="12" ma:contentTypeDescription="Create a new document." ma:contentTypeScope="" ma:versionID="be7498dd9c4512a837f461ead69e4c34">
  <xsd:schema xmlns:xsd="http://www.w3.org/2001/XMLSchema" xmlns:xs="http://www.w3.org/2001/XMLSchema" xmlns:p="http://schemas.microsoft.com/office/2006/metadata/properties" xmlns:ns2="d608b43f-bfac-4116-ae2f-2654f04dc4f2" xmlns:ns3="f05f1c5d-c52e-4d54-83d1-a52e4aeefd52" targetNamespace="http://schemas.microsoft.com/office/2006/metadata/properties" ma:root="true" ma:fieldsID="07f14bcc0f87e48c34d5d33dedee0072" ns2:_="" ns3:_="">
    <xsd:import namespace="d608b43f-bfac-4116-ae2f-2654f04dc4f2"/>
    <xsd:import namespace="f05f1c5d-c52e-4d54-83d1-a52e4aeefd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8b43f-bfac-4116-ae2f-2654f04dc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1a16348-86a9-4153-a534-716e536704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f1c5d-c52e-4d54-83d1-a52e4aeefd5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be773a3-2a48-487a-a9d1-73543309e2e9}" ma:internalName="TaxCatchAll" ma:showField="CatchAllData" ma:web="f05f1c5d-c52e-4d54-83d1-a52e4aeefd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08b43f-bfac-4116-ae2f-2654f04dc4f2">
      <Terms xmlns="http://schemas.microsoft.com/office/infopath/2007/PartnerControls"/>
    </lcf76f155ced4ddcb4097134ff3c332f>
    <TaxCatchAll xmlns="f05f1c5d-c52e-4d54-83d1-a52e4aeefd5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9F842E-0721-4A0C-9613-9D84594571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08b43f-bfac-4116-ae2f-2654f04dc4f2"/>
    <ds:schemaRef ds:uri="f05f1c5d-c52e-4d54-83d1-a52e4aeefd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5CE71B-3D00-4AFA-88CF-EB81088C1908}">
  <ds:schemaRefs>
    <ds:schemaRef ds:uri="http://schemas.microsoft.com/office/2006/metadata/properties"/>
    <ds:schemaRef ds:uri="http://schemas.microsoft.com/office/infopath/2007/PartnerControls"/>
    <ds:schemaRef ds:uri="d608b43f-bfac-4116-ae2f-2654f04dc4f2"/>
    <ds:schemaRef ds:uri="f05f1c5d-c52e-4d54-83d1-a52e4aeefd52"/>
  </ds:schemaRefs>
</ds:datastoreItem>
</file>

<file path=customXml/itemProps3.xml><?xml version="1.0" encoding="utf-8"?>
<ds:datastoreItem xmlns:ds="http://schemas.openxmlformats.org/officeDocument/2006/customXml" ds:itemID="{8C287254-87EB-44FE-8FF1-B8221E7104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Widescreen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Wingdings</vt:lpstr>
      <vt:lpstr>2_Front page</vt:lpstr>
      <vt:lpstr>Θέμα του Office</vt:lpstr>
      <vt:lpstr>T3.2</vt:lpstr>
      <vt:lpstr>Issues / Challenges</vt:lpstr>
      <vt:lpstr>Steps - overview</vt:lpstr>
      <vt:lpstr>Pilot1 - INDUSTRIAL/manufacturing</vt:lpstr>
      <vt:lpstr>Pilot2 - AUTOMOTIVE</vt:lpstr>
      <vt:lpstr>Timeline (update)</vt:lpstr>
      <vt:lpstr>PowerPoint Presentation</vt:lpstr>
      <vt:lpstr>A rough (live) sketch – to be refined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ASTERIOS STROUMPOULIS</dc:creator>
  <cp:lastModifiedBy>Omar Veledar</cp:lastModifiedBy>
  <cp:revision>20</cp:revision>
  <dcterms:created xsi:type="dcterms:W3CDTF">2024-04-26T17:52:46Z</dcterms:created>
  <dcterms:modified xsi:type="dcterms:W3CDTF">2024-12-20T10:18:50Z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0x010100314F42BB571C174A8CFFD983452FCC05</vt:lpwstr>
  </property>
  <property fmtid="{D5CDD505-2E9C-101B-9397-08002B2CF9AE}" pid="3" name="MediaServiceImageTags">
    <vt:lpwstr/>
  </property>
</Properties>
</file>