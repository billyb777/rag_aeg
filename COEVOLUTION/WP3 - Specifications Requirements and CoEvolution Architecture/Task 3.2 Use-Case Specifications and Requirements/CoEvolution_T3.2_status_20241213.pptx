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54" r:id="rId5"/>
  </p:sldMasterIdLst>
  <p:notesMasterIdLst>
    <p:notesMasterId r:id="rId15"/>
  </p:notesMasterIdLst>
  <p:sldIdLst>
    <p:sldId id="256" r:id="rId6"/>
    <p:sldId id="264" r:id="rId7"/>
    <p:sldId id="262" r:id="rId8"/>
    <p:sldId id="259" r:id="rId9"/>
    <p:sldId id="265" r:id="rId10"/>
    <p:sldId id="267" r:id="rId11"/>
    <p:sldId id="266" r:id="rId12"/>
    <p:sldId id="268" r:id="rId13"/>
    <p:sldId id="261"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ghzUo9/Mq5C9LLPzUwJ0qEC6lN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2DAC73-3452-8370-6FE7-5AF06B69C658}" v="8" dt="2024-11-27T13:43:00.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C22DAC73-3452-8370-6FE7-5AF06B69C658}"/>
    <pc:docChg chg="addSld delSld modSld">
      <pc:chgData name="Αντωνιος Μακρης" userId="S::antoniosmakris@ntua.gr::eea0bc52-0833-4d66-a611-1693fee57a2c" providerId="AD" clId="Web-{C22DAC73-3452-8370-6FE7-5AF06B69C658}" dt="2024-11-27T13:43:00.355" v="7"/>
      <pc:docMkLst>
        <pc:docMk/>
      </pc:docMkLst>
      <pc:sldChg chg="addSp delSp modSp new del mod modClrScheme chgLayout">
        <pc:chgData name="Αντωνιος Μακρης" userId="S::antoniosmakris@ntua.gr::eea0bc52-0833-4d66-a611-1693fee57a2c" providerId="AD" clId="Web-{C22DAC73-3452-8370-6FE7-5AF06B69C658}" dt="2024-11-27T13:43:00.355" v="7"/>
        <pc:sldMkLst>
          <pc:docMk/>
          <pc:sldMk cId="4083399242" sldId="262"/>
        </pc:sldMkLst>
        <pc:spChg chg="mod ord">
          <ac:chgData name="Αντωνιος Μακρης" userId="S::antoniosmakris@ntua.gr::eea0bc52-0833-4d66-a611-1693fee57a2c" providerId="AD" clId="Web-{C22DAC73-3452-8370-6FE7-5AF06B69C658}" dt="2024-11-27T13:42:47.370" v="6"/>
          <ac:spMkLst>
            <pc:docMk/>
            <pc:sldMk cId="4083399242" sldId="262"/>
            <ac:spMk id="2" creationId="{35B027C8-5162-9E3C-4429-28F7876CFCEE}"/>
          </ac:spMkLst>
        </pc:spChg>
        <pc:spChg chg="del mod ord">
          <ac:chgData name="Αντωνιος Μακρης" userId="S::antoniosmakris@ntua.gr::eea0bc52-0833-4d66-a611-1693fee57a2c" providerId="AD" clId="Web-{C22DAC73-3452-8370-6FE7-5AF06B69C658}" dt="2024-11-27T13:42:47.370" v="6"/>
          <ac:spMkLst>
            <pc:docMk/>
            <pc:sldMk cId="4083399242" sldId="262"/>
            <ac:spMk id="3" creationId="{81ABE09B-C8EC-5903-B23F-93FBCBBF53B4}"/>
          </ac:spMkLst>
        </pc:spChg>
        <pc:spChg chg="del mod ord">
          <ac:chgData name="Αντωνιος Μακρης" userId="S::antoniosmakris@ntua.gr::eea0bc52-0833-4d66-a611-1693fee57a2c" providerId="AD" clId="Web-{C22DAC73-3452-8370-6FE7-5AF06B69C658}" dt="2024-11-27T13:42:15.650" v="2"/>
          <ac:spMkLst>
            <pc:docMk/>
            <pc:sldMk cId="4083399242" sldId="262"/>
            <ac:spMk id="4" creationId="{DB4F25AC-F7D3-B7F8-A785-7312A0B28859}"/>
          </ac:spMkLst>
        </pc:spChg>
        <pc:spChg chg="add del mod ord">
          <ac:chgData name="Αντωνιος Μακρης" userId="S::antoniosmakris@ntua.gr::eea0bc52-0833-4d66-a611-1693fee57a2c" providerId="AD" clId="Web-{C22DAC73-3452-8370-6FE7-5AF06B69C658}" dt="2024-11-27T13:42:20.384" v="3"/>
          <ac:spMkLst>
            <pc:docMk/>
            <pc:sldMk cId="4083399242" sldId="262"/>
            <ac:spMk id="5" creationId="{0D2C08A7-D652-63F2-65CB-703A122360A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247147EE-CDD8-E624-4EFB-570DCCB179EE}"/>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07131EF8-3768-B5D1-C4D3-DDF7193B560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F213658D-5737-9AE9-7E13-0E0C4622FF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857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C8279244-2D82-470C-0078-416CA0080D5C}"/>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E7B37074-7D9F-AB1C-D1E7-1CB612E56B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8C7DB273-EA24-D825-EE07-0978CA6CFB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411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EA9462A3-3CE5-B440-1814-163CF45B112A}"/>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1D508218-7098-799B-AAA7-DEF4736D2B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9E2DB95E-CD28-6BC6-9853-4AD727263E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3575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74E4524D-B634-727E-3A12-DD2CA3EF4994}"/>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A2EEF0C3-125E-78E9-7AC5-417DE27978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E2C05FA0-D58F-6B89-33EA-C28DF711C2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9968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D0CEC564-A266-E61E-105F-33DDC458640A}"/>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39629E8D-2316-C7E7-BF3D-9F3647175A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843E88BD-B2CB-B667-1663-4A175CA3F4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2616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055F2B12-31AF-D685-1B52-079BED451728}"/>
            </a:ext>
          </a:extLst>
        </p:cNvPr>
        <p:cNvGrpSpPr/>
        <p:nvPr/>
      </p:nvGrpSpPr>
      <p:grpSpPr>
        <a:xfrm>
          <a:off x="0" y="0"/>
          <a:ext cx="0" cy="0"/>
          <a:chOff x="0" y="0"/>
          <a:chExt cx="0" cy="0"/>
        </a:xfrm>
      </p:grpSpPr>
      <p:sp>
        <p:nvSpPr>
          <p:cNvPr id="167" name="Google Shape;167;p4:notes">
            <a:extLst>
              <a:ext uri="{FF2B5EF4-FFF2-40B4-BE49-F238E27FC236}">
                <a16:creationId xmlns:a16="http://schemas.microsoft.com/office/drawing/2014/main" id="{544268E8-F881-099C-4EDB-263BFFC8C95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a:extLst>
              <a:ext uri="{FF2B5EF4-FFF2-40B4-BE49-F238E27FC236}">
                <a16:creationId xmlns:a16="http://schemas.microsoft.com/office/drawing/2014/main" id="{5980E3E5-5563-F13E-3438-48124DF232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5884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838199" y="3204504"/>
            <a:ext cx="10515600" cy="13255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400"/>
              <a:buNone/>
              <a:defRPr sz="4400" i="0" u="none" strike="noStrike" cap="none">
                <a:solidFill>
                  <a:schemeClr val="dk1"/>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8"/>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8"/>
          <p:cNvSpPr txBox="1">
            <a:spLocks noGrp="1"/>
          </p:cNvSpPr>
          <p:nvPr>
            <p:ph type="body" idx="2"/>
          </p:nvPr>
        </p:nvSpPr>
        <p:spPr>
          <a:xfrm>
            <a:off x="266700" y="1983447"/>
            <a:ext cx="2286000" cy="63976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54"/>
        <p:cNvGrpSpPr/>
        <p:nvPr/>
      </p:nvGrpSpPr>
      <p:grpSpPr>
        <a:xfrm>
          <a:off x="0" y="0"/>
          <a:ext cx="0" cy="0"/>
          <a:chOff x="0" y="0"/>
          <a:chExt cx="0" cy="0"/>
        </a:xfrm>
      </p:grpSpPr>
      <p:sp>
        <p:nvSpPr>
          <p:cNvPr id="55" name="Google Shape;55;p1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 name="Google Shape;56;p1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 name="Google Shape;57;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3" name="Google Shape;63;p14"/>
          <p:cNvPicPr preferRelativeResize="0"/>
          <p:nvPr/>
        </p:nvPicPr>
        <p:blipFill>
          <a:blip r:embed="rId2">
            <a:alphaModFix/>
          </a:blip>
          <a:stretch>
            <a:fillRect/>
          </a:stretch>
        </p:blipFill>
        <p:spPr>
          <a:xfrm>
            <a:off x="11610149" y="6454775"/>
            <a:ext cx="548425" cy="3651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losing slide" type="blank">
  <p:cSld name="BLANK">
    <p:spTree>
      <p:nvGrpSpPr>
        <p:cNvPr id="1" name="Shape 71"/>
        <p:cNvGrpSpPr/>
        <p:nvPr/>
      </p:nvGrpSpPr>
      <p:grpSpPr>
        <a:xfrm>
          <a:off x="0" y="0"/>
          <a:ext cx="0" cy="0"/>
          <a:chOff x="0" y="0"/>
          <a:chExt cx="0" cy="0"/>
        </a:xfrm>
      </p:grpSpPr>
      <p:pic>
        <p:nvPicPr>
          <p:cNvPr id="72" name="Google Shape;72;p16"/>
          <p:cNvPicPr preferRelativeResize="0"/>
          <p:nvPr/>
        </p:nvPicPr>
        <p:blipFill rotWithShape="1">
          <a:blip r:embed="rId2">
            <a:alphaModFix/>
          </a:blip>
          <a:srcRect/>
          <a:stretch/>
        </p:blipFill>
        <p:spPr>
          <a:xfrm>
            <a:off x="0" y="0"/>
            <a:ext cx="6383069" cy="6858000"/>
          </a:xfrm>
          <a:prstGeom prst="rect">
            <a:avLst/>
          </a:prstGeom>
          <a:noFill/>
          <a:ln>
            <a:noFill/>
          </a:ln>
        </p:spPr>
      </p:pic>
      <p:pic>
        <p:nvPicPr>
          <p:cNvPr id="73" name="Google Shape;73;p16"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sp>
        <p:nvSpPr>
          <p:cNvPr id="74" name="Google Shape;74;p16"/>
          <p:cNvSpPr txBox="1"/>
          <p:nvPr/>
        </p:nvSpPr>
        <p:spPr>
          <a:xfrm>
            <a:off x="6091652" y="5984679"/>
            <a:ext cx="6028800" cy="677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1050"/>
              <a:buFont typeface="Calibri"/>
              <a:buNone/>
            </a:pPr>
            <a:r>
              <a:rPr lang="en-US" sz="950" i="0" u="none" strike="noStrike" cap="none">
                <a:solidFill>
                  <a:srgbClr val="757070"/>
                </a:solidFill>
              </a:rPr>
              <a:t>The work described in this presentation has been conducted within the project </a:t>
            </a:r>
            <a:r>
              <a:rPr lang="en-US" sz="950">
                <a:solidFill>
                  <a:srgbClr val="757070"/>
                </a:solidFill>
              </a:rPr>
              <a:t>CoEvolution</a:t>
            </a:r>
            <a:r>
              <a:rPr lang="en-US" sz="950" i="0" u="none" strike="noStrike" cap="none">
                <a:solidFill>
                  <a:srgbClr val="757070"/>
                </a:solidFill>
              </a:rPr>
              <a:t>. This project has received funding </a:t>
            </a:r>
            <a:r>
              <a:rPr lang="en-US" sz="950">
                <a:solidFill>
                  <a:srgbClr val="757070"/>
                </a:solidFill>
              </a:rPr>
              <a:t>from</a:t>
            </a:r>
            <a:r>
              <a:rPr lang="en-US" sz="950" i="0" u="none" strike="noStrike" cap="none">
                <a:solidFill>
                  <a:srgbClr val="757070"/>
                </a:solidFill>
              </a:rPr>
              <a:t> the European Union’s Horizon Europe Framework Programme (Horizon) under Grant Agreement No </a:t>
            </a:r>
            <a:r>
              <a:rPr lang="en-US" sz="950">
                <a:solidFill>
                  <a:srgbClr val="757070"/>
                </a:solidFill>
              </a:rPr>
              <a:t>101168560</a:t>
            </a:r>
            <a:r>
              <a:rPr lang="en-US" sz="950" i="0" u="none" strike="noStrike" cap="none">
                <a:solidFill>
                  <a:srgbClr val="757070"/>
                </a:solidFill>
              </a:rPr>
              <a:t>. This document does not represent the opinion of the European Union, and the European Union is not responsible for any use that might be made of this content.</a:t>
            </a:r>
            <a:endParaRPr sz="1300"/>
          </a:p>
        </p:txBody>
      </p:sp>
      <p:sp>
        <p:nvSpPr>
          <p:cNvPr id="75" name="Google Shape;75;p16"/>
          <p:cNvSpPr txBox="1"/>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4546A"/>
              </a:buClr>
              <a:buSzPts val="4000"/>
              <a:buFont typeface="Calibri"/>
              <a:buNone/>
            </a:pPr>
            <a:r>
              <a:rPr lang="en-US" sz="4000" b="1" i="0" u="none" strike="noStrike" cap="none">
                <a:solidFill>
                  <a:srgbClr val="44546A"/>
                </a:solidFill>
              </a:rPr>
              <a:t>Thank you!</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76"/>
        <p:cNvGrpSpPr/>
        <p:nvPr/>
      </p:nvGrpSpPr>
      <p:grpSpPr>
        <a:xfrm>
          <a:off x="0" y="0"/>
          <a:ext cx="0" cy="0"/>
          <a:chOff x="0" y="0"/>
          <a:chExt cx="0" cy="0"/>
        </a:xfrm>
      </p:grpSpPr>
      <p:sp>
        <p:nvSpPr>
          <p:cNvPr id="77" name="Google Shape;77;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9" name="Google Shape;7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1" name="Google Shape;81;p17"/>
          <p:cNvPicPr preferRelativeResize="0"/>
          <p:nvPr/>
        </p:nvPicPr>
        <p:blipFill rotWithShape="1">
          <a:blip r:embed="rId2">
            <a:alphaModFix/>
          </a:blip>
          <a:srcRect/>
          <a:stretch/>
        </p:blipFill>
        <p:spPr>
          <a:xfrm>
            <a:off x="10566582" y="5735637"/>
            <a:ext cx="772930" cy="514350"/>
          </a:xfrm>
          <a:prstGeom prst="rect">
            <a:avLst/>
          </a:prstGeom>
          <a:noFill/>
          <a:ln>
            <a:noFill/>
          </a:ln>
        </p:spPr>
      </p:pic>
      <p:sp>
        <p:nvSpPr>
          <p:cNvPr id="82" name="Google Shape;82;p17"/>
          <p:cNvSpPr txBox="1"/>
          <p:nvPr/>
        </p:nvSpPr>
        <p:spPr>
          <a:xfrm>
            <a:off x="9982200" y="6254175"/>
            <a:ext cx="203835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800"/>
              <a:buFont typeface="Arial"/>
              <a:buNone/>
            </a:pPr>
            <a:r>
              <a:rPr lang="en-US" sz="800" b="0" i="0" u="none" strike="noStrike" cap="none">
                <a:solidFill>
                  <a:srgbClr val="757070"/>
                </a:solidFill>
                <a:latin typeface="Arial"/>
                <a:ea typeface="Arial"/>
                <a:cs typeface="Arial"/>
                <a:sym typeface="Arial"/>
              </a:rPr>
              <a:t>The project has received funding form the European Union’s Horizon Europe Framework Programme (Horizon) under grant agreement No 101135775</a:t>
            </a:r>
            <a:endParaRPr sz="800"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83"/>
        <p:cNvGrpSpPr/>
        <p:nvPr/>
      </p:nvGrpSpPr>
      <p:grpSpPr>
        <a:xfrm>
          <a:off x="0" y="0"/>
          <a:ext cx="0" cy="0"/>
          <a:chOff x="0" y="0"/>
          <a:chExt cx="0" cy="0"/>
        </a:xfrm>
      </p:grpSpPr>
      <p:sp>
        <p:nvSpPr>
          <p:cNvPr id="84" name="Google Shape;84;p18"/>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 name="Google Shape;85;p18"/>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 name="Google Shape;8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1" name="Google Shape;91;p18"/>
          <p:cNvPicPr preferRelativeResize="0"/>
          <p:nvPr/>
        </p:nvPicPr>
        <p:blipFill>
          <a:blip r:embed="rId2">
            <a:alphaModFix/>
          </a:blip>
          <a:stretch>
            <a:fillRect/>
          </a:stretch>
        </p:blipFill>
        <p:spPr>
          <a:xfrm>
            <a:off x="11610149" y="6454775"/>
            <a:ext cx="548425" cy="3651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95" name="Google Shape;9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98"/>
        <p:cNvGrpSpPr/>
        <p:nvPr/>
      </p:nvGrpSpPr>
      <p:grpSpPr>
        <a:xfrm>
          <a:off x="0" y="0"/>
          <a:ext cx="0" cy="0"/>
          <a:chOff x="0" y="0"/>
          <a:chExt cx="0" cy="0"/>
        </a:xfrm>
      </p:grpSpPr>
      <p:sp>
        <p:nvSpPr>
          <p:cNvPr id="99" name="Google Shape;99;p20"/>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 name="Google Shape;100;p20"/>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 name="Google Shape;10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3" name="Google Shape;10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5" name="Google Shape;10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09" name="Google Shape;109;p20"/>
          <p:cNvPicPr preferRelativeResize="0"/>
          <p:nvPr/>
        </p:nvPicPr>
        <p:blipFill>
          <a:blip r:embed="rId2">
            <a:alphaModFix/>
          </a:blip>
          <a:stretch>
            <a:fillRect/>
          </a:stretch>
        </p:blipFill>
        <p:spPr>
          <a:xfrm>
            <a:off x="11610149" y="6454775"/>
            <a:ext cx="548425" cy="3651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110"/>
        <p:cNvGrpSpPr/>
        <p:nvPr/>
      </p:nvGrpSpPr>
      <p:grpSpPr>
        <a:xfrm>
          <a:off x="0" y="0"/>
          <a:ext cx="0" cy="0"/>
          <a:chOff x="0" y="0"/>
          <a:chExt cx="0" cy="0"/>
        </a:xfrm>
      </p:grpSpPr>
      <p:sp>
        <p:nvSpPr>
          <p:cNvPr id="111" name="Google Shape;111;p21"/>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 name="Google Shape;112;p21"/>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3" name="Google Shape;11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17" name="Google Shape;117;p21"/>
          <p:cNvPicPr preferRelativeResize="0"/>
          <p:nvPr/>
        </p:nvPicPr>
        <p:blipFill>
          <a:blip r:embed="rId2">
            <a:alphaModFix/>
          </a:blip>
          <a:stretch>
            <a:fillRect/>
          </a:stretch>
        </p:blipFill>
        <p:spPr>
          <a:xfrm>
            <a:off x="11610149" y="6454775"/>
            <a:ext cx="548425" cy="3651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Κενό">
  <p:cSld name="Κενό">
    <p:spTree>
      <p:nvGrpSpPr>
        <p:cNvPr id="1" name="Shape 118"/>
        <p:cNvGrpSpPr/>
        <p:nvPr/>
      </p:nvGrpSpPr>
      <p:grpSpPr>
        <a:xfrm>
          <a:off x="0" y="0"/>
          <a:ext cx="0" cy="0"/>
          <a:chOff x="0" y="0"/>
          <a:chExt cx="0" cy="0"/>
        </a:xfrm>
      </p:grpSpPr>
      <p:sp>
        <p:nvSpPr>
          <p:cNvPr id="119" name="Google Shape;11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23"/>
          <p:cNvSpPr>
            <a:spLocks noGrp="1"/>
          </p:cNvSpPr>
          <p:nvPr>
            <p:ph type="pic" idx="2"/>
          </p:nvPr>
        </p:nvSpPr>
        <p:spPr>
          <a:xfrm>
            <a:off x="5183188" y="987425"/>
            <a:ext cx="6172200" cy="4873625"/>
          </a:xfrm>
          <a:prstGeom prst="rect">
            <a:avLst/>
          </a:prstGeom>
          <a:noFill/>
          <a:ln>
            <a:noFill/>
          </a:ln>
        </p:spPr>
      </p:sp>
      <p:sp>
        <p:nvSpPr>
          <p:cNvPr id="125" name="Google Shape;12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6" name="Google Shape;12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129"/>
        <p:cNvGrpSpPr/>
        <p:nvPr/>
      </p:nvGrpSpPr>
      <p:grpSpPr>
        <a:xfrm>
          <a:off x="0" y="0"/>
          <a:ext cx="0" cy="0"/>
          <a:chOff x="0" y="0"/>
          <a:chExt cx="0" cy="0"/>
        </a:xfrm>
      </p:grpSpPr>
      <p:sp>
        <p:nvSpPr>
          <p:cNvPr id="130" name="Google Shape;130;p2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1" name="Google Shape;131;p2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2" name="Google Shape;13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37" name="Google Shape;137;p24"/>
          <p:cNvPicPr preferRelativeResize="0"/>
          <p:nvPr/>
        </p:nvPicPr>
        <p:blipFill>
          <a:blip r:embed="rId2">
            <a:alphaModFix/>
          </a:blip>
          <a:stretch>
            <a:fillRect/>
          </a:stretch>
        </p:blipFill>
        <p:spPr>
          <a:xfrm>
            <a:off x="11610149" y="6454775"/>
            <a:ext cx="548425" cy="36512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1" name="Google Shape;14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p:cNvPicPr preferRelativeResize="0"/>
          <p:nvPr/>
        </p:nvPicPr>
        <p:blipFill rotWithShape="1">
          <a:blip r:embed="rId3">
            <a:alphaModFix/>
          </a:blip>
          <a:srcRect/>
          <a:stretch/>
        </p:blipFill>
        <p:spPr>
          <a:xfrm>
            <a:off x="10614982" y="5739837"/>
            <a:ext cx="772930" cy="514350"/>
          </a:xfrm>
          <a:prstGeom prst="rect">
            <a:avLst/>
          </a:prstGeom>
          <a:noFill/>
          <a:ln>
            <a:noFill/>
          </a:ln>
        </p:spPr>
      </p:pic>
      <p:sp>
        <p:nvSpPr>
          <p:cNvPr id="11" name="Google Shape;11;p7"/>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57070"/>
              </a:buClr>
              <a:buSzPts val="800"/>
              <a:buFont typeface="Calibri"/>
              <a:buNone/>
            </a:pPr>
            <a:r>
              <a:rPr lang="en-US" sz="800" i="0" u="none" strike="noStrike" cap="none">
                <a:solidFill>
                  <a:srgbClr val="757070"/>
                </a:solidFill>
              </a:rPr>
              <a:t>The project has received funding </a:t>
            </a:r>
            <a:r>
              <a:rPr lang="en-US" sz="800">
                <a:solidFill>
                  <a:srgbClr val="757070"/>
                </a:solidFill>
              </a:rPr>
              <a:t>from</a:t>
            </a:r>
            <a:r>
              <a:rPr lang="en-US" sz="800" i="0" u="none" strike="noStrike" cap="none">
                <a:solidFill>
                  <a:srgbClr val="757070"/>
                </a:solidFill>
              </a:rPr>
              <a:t> the European Union’s Horizon Europe Framework Programme (Horizon) under grant agreement No </a:t>
            </a:r>
            <a:r>
              <a:rPr lang="en-US" sz="800">
                <a:solidFill>
                  <a:srgbClr val="757070"/>
                </a:solidFill>
              </a:rPr>
              <a:t>101168560</a:t>
            </a:r>
            <a:endParaRPr sz="800" i="0" u="none" strike="noStrike" cap="none">
              <a:solidFill>
                <a:srgbClr val="757070"/>
              </a:solidFill>
            </a:endParaRPr>
          </a:p>
        </p:txBody>
      </p:sp>
      <p:pic>
        <p:nvPicPr>
          <p:cNvPr id="12" name="Google Shape;12;p7"/>
          <p:cNvPicPr preferRelativeResize="0"/>
          <p:nvPr/>
        </p:nvPicPr>
        <p:blipFill>
          <a:blip r:embed="rId4">
            <a:alphaModFix/>
          </a:blip>
          <a:stretch>
            <a:fillRect/>
          </a:stretch>
        </p:blipFill>
        <p:spPr>
          <a:xfrm>
            <a:off x="4587038" y="100275"/>
            <a:ext cx="3017923" cy="18184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
        <p:cNvGrpSpPr/>
        <p:nvPr/>
      </p:nvGrpSpPr>
      <p:grpSpPr>
        <a:xfrm>
          <a:off x="0" y="0"/>
          <a:ext cx="0" cy="0"/>
          <a:chOff x="0" y="0"/>
          <a:chExt cx="0" cy="0"/>
        </a:xfrm>
      </p:grpSpPr>
      <p:sp>
        <p:nvSpPr>
          <p:cNvPr id="48" name="Google Shape;4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9" name="Google Shape;4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0" name="Google Shape;5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3"/>
          <p:cNvPicPr preferRelativeResize="0"/>
          <p:nvPr/>
        </p:nvPicPr>
        <p:blipFill>
          <a:blip r:embed="rId13">
            <a:alphaModFix/>
          </a:blip>
          <a:stretch>
            <a:fillRect/>
          </a:stretch>
        </p:blipFill>
        <p:spPr>
          <a:xfrm>
            <a:off x="10246900" y="33425"/>
            <a:ext cx="1911675" cy="279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5"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
          <p:cNvSpPr txBox="1">
            <a:spLocks noGrp="1"/>
          </p:cNvSpPr>
          <p:nvPr>
            <p:ph type="title"/>
          </p:nvPr>
        </p:nvSpPr>
        <p:spPr>
          <a:xfrm>
            <a:off x="838199" y="3204504"/>
            <a:ext cx="10515600" cy="1325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400"/>
              <a:buFont typeface="Calibri"/>
              <a:buNone/>
            </a:pPr>
            <a:r>
              <a:rPr lang="en-US" sz="3800" dirty="0"/>
              <a:t>T3.2</a:t>
            </a:r>
            <a:endParaRPr sz="3800" dirty="0"/>
          </a:p>
        </p:txBody>
      </p:sp>
      <p:sp>
        <p:nvSpPr>
          <p:cNvPr id="149" name="Google Shape;149;p1"/>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154A2"/>
              </a:buClr>
              <a:buSzPts val="2800"/>
              <a:buNone/>
            </a:pPr>
            <a:r>
              <a:rPr lang="en-US" sz="2600" dirty="0"/>
              <a:t>BEVD</a:t>
            </a:r>
            <a:endParaRPr sz="2600" dirty="0"/>
          </a:p>
        </p:txBody>
      </p:sp>
      <p:sp>
        <p:nvSpPr>
          <p:cNvPr id="150" name="Google Shape;150;p1"/>
          <p:cNvSpPr txBox="1">
            <a:spLocks noGrp="1"/>
          </p:cNvSpPr>
          <p:nvPr>
            <p:ph type="body" idx="2"/>
          </p:nvPr>
        </p:nvSpPr>
        <p:spPr>
          <a:xfrm>
            <a:off x="259750" y="2191672"/>
            <a:ext cx="4483700" cy="542003"/>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90000"/>
              </a:lnSpc>
              <a:spcBef>
                <a:spcPts val="0"/>
              </a:spcBef>
              <a:spcAft>
                <a:spcPts val="0"/>
              </a:spcAft>
              <a:buClr>
                <a:srgbClr val="2154A2"/>
              </a:buClr>
              <a:buSzPts val="2800"/>
              <a:buNone/>
            </a:pPr>
            <a:r>
              <a:rPr lang="en-US" sz="2600" dirty="0"/>
              <a:t>WP3 meeting – online 13/12/2024</a:t>
            </a:r>
            <a:endParaRPr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BF0227AB-77C4-23FC-DB01-8764776DC9C6}"/>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14C6D2C9-94A0-4C6E-053C-C77A64AB17CC}"/>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T3.2 description  </a:t>
            </a:r>
            <a:r>
              <a:rPr lang="en-GB" dirty="0">
                <a:sym typeface="Wingdings" panose="05000000000000000000" pitchFamily="2" charset="2"/>
              </a:rPr>
              <a:t> steps</a:t>
            </a:r>
            <a:endParaRPr dirty="0"/>
          </a:p>
        </p:txBody>
      </p:sp>
      <p:sp>
        <p:nvSpPr>
          <p:cNvPr id="171" name="Google Shape;171;p4">
            <a:extLst>
              <a:ext uri="{FF2B5EF4-FFF2-40B4-BE49-F238E27FC236}">
                <a16:creationId xmlns:a16="http://schemas.microsoft.com/office/drawing/2014/main" id="{F016C8DA-F561-4688-2C83-908F40F7A50F}"/>
              </a:ext>
            </a:extLst>
          </p:cNvPr>
          <p:cNvSpPr txBox="1">
            <a:spLocks noGrp="1"/>
          </p:cNvSpPr>
          <p:nvPr>
            <p:ph type="body" idx="1"/>
          </p:nvPr>
        </p:nvSpPr>
        <p:spPr>
          <a:xfrm>
            <a:off x="133350" y="1825625"/>
            <a:ext cx="5886450" cy="4927600"/>
          </a:xfrm>
          <a:prstGeom prst="rect">
            <a:avLst/>
          </a:prstGeom>
          <a:noFill/>
          <a:ln>
            <a:noFill/>
          </a:ln>
        </p:spPr>
        <p:txBody>
          <a:bodyPr spcFirstLastPara="1" wrap="square" lIns="91425" tIns="45700" rIns="91425" bIns="45700" anchor="t" anchorCtr="0">
            <a:noAutofit/>
          </a:bodyPr>
          <a:lstStyle/>
          <a:p>
            <a:pPr marL="114300" indent="0" algn="l">
              <a:buNone/>
            </a:pPr>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Task 3.2 - Use-Case Specifications and Requirements; [Leader: AVL; Participants: SIE, AEGIS, SLC, AVI; M01- M12]:</a:t>
            </a:r>
          </a:p>
          <a:p>
            <a:pPr marL="114300" indent="0" algn="just">
              <a:buNone/>
            </a:pPr>
            <a:r>
              <a:rPr lang="en-GB" sz="1800" i="0" u="none" strike="noStrike" baseline="0" dirty="0">
                <a:latin typeface="Calibri" panose="020F0502020204030204" pitchFamily="34" charset="0"/>
                <a:ea typeface="Calibri" panose="020F0502020204030204" pitchFamily="34" charset="0"/>
                <a:cs typeface="Calibri" panose="020F0502020204030204" pitchFamily="34" charset="0"/>
              </a:rPr>
              <a:t>This task is concerned with the collection of technological and industrial requirements and overall specifications for the proposed use cases. The requirements are to go beyond the specific sections of the AI supply chain and consider a holistic integration of the </a:t>
            </a:r>
            <a:r>
              <a:rPr lang="en-GB" sz="1800" i="0" u="none" strike="noStrike" baseline="0" dirty="0" err="1">
                <a:latin typeface="Calibri" panose="020F0502020204030204" pitchFamily="34" charset="0"/>
                <a:ea typeface="Calibri" panose="020F0502020204030204" pitchFamily="34" charset="0"/>
                <a:cs typeface="Calibri" panose="020F0502020204030204" pitchFamily="34" charset="0"/>
              </a:rPr>
              <a:t>CoEvolution</a:t>
            </a:r>
            <a:r>
              <a:rPr lang="en-GB" sz="1800" i="0" u="none" strike="noStrike" baseline="0" dirty="0">
                <a:latin typeface="Calibri" panose="020F0502020204030204" pitchFamily="34" charset="0"/>
                <a:ea typeface="Calibri" panose="020F0502020204030204" pitchFamily="34" charset="0"/>
                <a:cs typeface="Calibri" panose="020F0502020204030204" pitchFamily="34" charset="0"/>
              </a:rPr>
              <a:t> framework within the AI supply chain and automotive sector aimed at mitigating adversarial attacks, data poisoning and countering membership inference and evasion attacks to safeguard data privacy and model integrity, while also developing specific paradigms for context awareness. Special focus is dedicated to defining requirements and specifications for the interoperability, security, and data integrity of networked AI systems. Furthermore, AVL will introduce the process and tools for the continuous monitoring and updating of the use cases, maintaining the information in a “living” document until the final evaluation takes place.</a:t>
            </a:r>
            <a:endParaRPr lang="en-GB" sz="1800" dirty="0">
              <a:latin typeface="Calibri" panose="020F0502020204030204" pitchFamily="34" charset="0"/>
              <a:ea typeface="Calibri" panose="020F0502020204030204" pitchFamily="34" charset="0"/>
              <a:cs typeface="Calibri" panose="020F0502020204030204" pitchFamily="34" charset="0"/>
            </a:endParaRPr>
          </a:p>
        </p:txBody>
      </p:sp>
      <p:sp>
        <p:nvSpPr>
          <p:cNvPr id="172" name="Google Shape;172;p4">
            <a:extLst>
              <a:ext uri="{FF2B5EF4-FFF2-40B4-BE49-F238E27FC236}">
                <a16:creationId xmlns:a16="http://schemas.microsoft.com/office/drawing/2014/main" id="{FA9EF242-82F2-A57E-4B94-B094E16EE891}"/>
              </a:ext>
            </a:extLst>
          </p:cNvPr>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ALL (expected) STEPS:</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Arial" panose="020B0604020202020204" pitchFamily="34" charset="0"/>
              <a:buChar char="•"/>
            </a:pPr>
            <a:r>
              <a:rPr lang="en-GB" sz="2000" dirty="0"/>
              <a:t>Requirement collection</a:t>
            </a:r>
          </a:p>
          <a:p>
            <a:pPr marL="1092200" lvl="1" indent="-457200">
              <a:spcBef>
                <a:spcPts val="0"/>
              </a:spcBef>
              <a:buSzPts val="2800"/>
              <a:buFont typeface="Courier New" panose="02070309020205020404" pitchFamily="49" charset="0"/>
              <a:buChar char="o"/>
            </a:pPr>
            <a:endParaRPr lang="en-GB" sz="1600" dirty="0"/>
          </a:p>
          <a:p>
            <a:pPr marL="1092200" lvl="1" indent="-457200">
              <a:spcBef>
                <a:spcPts val="0"/>
              </a:spcBef>
              <a:buSzPts val="2800"/>
              <a:buFont typeface="Courier New" panose="02070309020205020404" pitchFamily="49" charset="0"/>
              <a:buChar char="o"/>
            </a:pPr>
            <a:r>
              <a:rPr lang="en-GB" sz="1600" dirty="0"/>
              <a:t>Include holistic integration</a:t>
            </a:r>
          </a:p>
          <a:p>
            <a:pPr marL="1092200" lvl="1" indent="-457200">
              <a:spcBef>
                <a:spcPts val="0"/>
              </a:spcBef>
              <a:buSzPts val="2800"/>
              <a:buFont typeface="Courier New" panose="02070309020205020404" pitchFamily="49" charset="0"/>
              <a:buChar char="o"/>
            </a:pPr>
            <a:endParaRPr lang="en-GB" sz="1600" dirty="0"/>
          </a:p>
          <a:p>
            <a:pPr marL="1092200" lvl="1" indent="-457200">
              <a:spcBef>
                <a:spcPts val="0"/>
              </a:spcBef>
              <a:buSzPts val="2800"/>
              <a:buFont typeface="Courier New" panose="02070309020205020404" pitchFamily="49" charset="0"/>
              <a:buChar char="o"/>
            </a:pPr>
            <a:r>
              <a:rPr lang="en-GB" sz="1600" dirty="0"/>
              <a:t>Mitigate attacks</a:t>
            </a:r>
          </a:p>
          <a:p>
            <a:pPr marL="1092200" lvl="1" indent="-457200">
              <a:spcBef>
                <a:spcPts val="0"/>
              </a:spcBef>
              <a:buSzPts val="2800"/>
              <a:buFont typeface="Courier New" panose="02070309020205020404" pitchFamily="49" charset="0"/>
              <a:buChar char="o"/>
            </a:pPr>
            <a:endParaRPr lang="en-GB" sz="1600" dirty="0"/>
          </a:p>
          <a:p>
            <a:pPr marL="1092200" lvl="1" indent="-457200">
              <a:spcBef>
                <a:spcPts val="0"/>
              </a:spcBef>
              <a:buSzPts val="2800"/>
              <a:buFont typeface="Courier New" panose="02070309020205020404" pitchFamily="49" charset="0"/>
              <a:buChar char="o"/>
            </a:pPr>
            <a:r>
              <a:rPr lang="en-GB" sz="1600" dirty="0"/>
              <a:t>Develop context awareness</a:t>
            </a:r>
          </a:p>
          <a:p>
            <a:pPr marL="1092200" lvl="1" indent="-457200">
              <a:spcBef>
                <a:spcPts val="0"/>
              </a:spcBef>
              <a:buSzPts val="2800"/>
              <a:buFont typeface="Courier New" panose="02070309020205020404" pitchFamily="49" charset="0"/>
              <a:buChar char="o"/>
            </a:pPr>
            <a:endParaRPr lang="en-GB" sz="1600" dirty="0"/>
          </a:p>
          <a:p>
            <a:pPr marL="1092200" lvl="1" indent="-457200">
              <a:spcBef>
                <a:spcPts val="0"/>
              </a:spcBef>
              <a:buSzPts val="2800"/>
              <a:buFont typeface="Courier New" panose="02070309020205020404" pitchFamily="49" charset="0"/>
              <a:buChar char="o"/>
            </a:pPr>
            <a:r>
              <a:rPr lang="en-GB" sz="1600" dirty="0"/>
              <a:t>Focus: interoperability, security, and data integrity of networked AI systems</a:t>
            </a:r>
          </a:p>
          <a:p>
            <a:pPr marL="1092200" lvl="1" indent="-457200">
              <a:spcBef>
                <a:spcPts val="0"/>
              </a:spcBef>
              <a:buSzPts val="2800"/>
              <a:buFont typeface="Courier New" panose="02070309020205020404" pitchFamily="49" charset="0"/>
              <a:buChar char="o"/>
            </a:pPr>
            <a:endParaRPr lang="en-GB" sz="1600" dirty="0"/>
          </a:p>
          <a:p>
            <a:pPr marL="635000" lvl="0" indent="-457200" algn="l" rtl="0">
              <a:lnSpc>
                <a:spcPct val="90000"/>
              </a:lnSpc>
              <a:spcBef>
                <a:spcPts val="0"/>
              </a:spcBef>
              <a:spcAft>
                <a:spcPts val="0"/>
              </a:spcAft>
              <a:buClr>
                <a:schemeClr val="dk1"/>
              </a:buClr>
              <a:buSzPts val="2800"/>
              <a:buFont typeface="Arial" panose="020B0604020202020204" pitchFamily="34" charset="0"/>
              <a:buChar char="•"/>
            </a:pPr>
            <a:r>
              <a:rPr lang="en-GB" sz="2000" dirty="0"/>
              <a:t>Specify Use Cases</a:t>
            </a:r>
          </a:p>
          <a:p>
            <a:pPr marL="635000" lvl="0" indent="-457200" algn="l" rtl="0">
              <a:lnSpc>
                <a:spcPct val="90000"/>
              </a:lnSpc>
              <a:spcBef>
                <a:spcPts val="0"/>
              </a:spcBef>
              <a:spcAft>
                <a:spcPts val="0"/>
              </a:spcAft>
              <a:buClr>
                <a:schemeClr val="dk1"/>
              </a:buClr>
              <a:buSzPts val="2800"/>
              <a:buFont typeface="Arial" panose="020B0604020202020204" pitchFamily="34" charset="0"/>
              <a:buChar char="•"/>
            </a:pPr>
            <a:endParaRPr lang="en-GB" sz="2000" dirty="0"/>
          </a:p>
          <a:p>
            <a:pPr marL="635000" lvl="0" indent="-457200" algn="l" rtl="0">
              <a:lnSpc>
                <a:spcPct val="90000"/>
              </a:lnSpc>
              <a:spcBef>
                <a:spcPts val="0"/>
              </a:spcBef>
              <a:spcAft>
                <a:spcPts val="0"/>
              </a:spcAft>
              <a:buClr>
                <a:schemeClr val="dk1"/>
              </a:buClr>
              <a:buSzPts val="2800"/>
              <a:buFont typeface="Arial" panose="020B0604020202020204" pitchFamily="34" charset="0"/>
              <a:buChar char="•"/>
            </a:pPr>
            <a:r>
              <a:rPr lang="en-GB" sz="2000" dirty="0"/>
              <a:t>Continuously monitor and update UCs</a:t>
            </a:r>
          </a:p>
        </p:txBody>
      </p:sp>
    </p:spTree>
    <p:extLst>
      <p:ext uri="{BB962C8B-B14F-4D97-AF65-F5344CB8AC3E}">
        <p14:creationId xmlns:p14="http://schemas.microsoft.com/office/powerpoint/2010/main" val="1390171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45124F8B-24DA-D503-FB81-FBC5AE987B06}"/>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E2E774E7-79F5-4976-4D4B-D4CAA12C3CC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Steps - overview</a:t>
            </a:r>
            <a:endParaRPr dirty="0"/>
          </a:p>
        </p:txBody>
      </p:sp>
      <p:sp>
        <p:nvSpPr>
          <p:cNvPr id="171" name="Google Shape;171;p4">
            <a:extLst>
              <a:ext uri="{FF2B5EF4-FFF2-40B4-BE49-F238E27FC236}">
                <a16:creationId xmlns:a16="http://schemas.microsoft.com/office/drawing/2014/main" id="{CEE615EF-9E16-53C2-14CA-CD76FB28E9D3}"/>
              </a:ext>
            </a:extLst>
          </p:cNvPr>
          <p:cNvSpPr txBox="1">
            <a:spLocks noGrp="1"/>
          </p:cNvSpPr>
          <p:nvPr>
            <p:ph type="body" idx="1"/>
          </p:nvPr>
        </p:nvSpPr>
        <p:spPr>
          <a:xfrm>
            <a:off x="838199" y="1825625"/>
            <a:ext cx="10515599" cy="4351338"/>
          </a:xfrm>
          <a:prstGeom prst="rect">
            <a:avLst/>
          </a:prstGeom>
          <a:noFill/>
          <a:ln>
            <a:noFill/>
          </a:ln>
        </p:spPr>
        <p:txBody>
          <a:bodyPr spcFirstLastPara="1" wrap="square" lIns="91425" tIns="45700" rIns="91425" bIns="45700" anchor="t" anchorCtr="0">
            <a:normAutofit/>
          </a:bodyPr>
          <a:lstStyle/>
          <a:p>
            <a:pPr marL="635000" lvl="0" indent="-457200" algn="l" rtl="0">
              <a:lnSpc>
                <a:spcPct val="90000"/>
              </a:lnSpc>
              <a:spcBef>
                <a:spcPts val="0"/>
              </a:spcBef>
              <a:spcAft>
                <a:spcPts val="0"/>
              </a:spcAft>
              <a:buClr>
                <a:schemeClr val="dk1"/>
              </a:buClr>
              <a:buSzPts val="2800"/>
              <a:buFont typeface="+mj-lt"/>
              <a:buAutoNum type="arabicPeriod"/>
            </a:pPr>
            <a:r>
              <a:rPr lang="en-GB" sz="2000" dirty="0"/>
              <a:t>Link to T3.1 BUT focus on UC associated threats</a:t>
            </a:r>
          </a:p>
          <a:p>
            <a:pPr marL="635000" lvl="0" indent="-457200" algn="l" rtl="0">
              <a:lnSpc>
                <a:spcPct val="90000"/>
              </a:lnSpc>
              <a:spcBef>
                <a:spcPts val="0"/>
              </a:spcBef>
              <a:spcAft>
                <a:spcPts val="0"/>
              </a:spcAft>
              <a:buClr>
                <a:schemeClr val="dk1"/>
              </a:buClr>
              <a:buSzPts val="2800"/>
              <a:buFont typeface="+mj-lt"/>
              <a:buAutoNum type="arabicPeriod"/>
            </a:pPr>
            <a:endParaRPr lang="en-GB" sz="2000" dirty="0"/>
          </a:p>
          <a:p>
            <a:pPr marL="635000" indent="-457200">
              <a:spcBef>
                <a:spcPts val="0"/>
              </a:spcBef>
              <a:buSzPts val="2800"/>
              <a:buFont typeface="+mj-lt"/>
              <a:buAutoNum type="arabicPeriod"/>
            </a:pPr>
            <a:r>
              <a:rPr lang="en-GB" sz="2000" dirty="0"/>
              <a:t>Collect concrete UC specification asap (keep an eye on possible creation of threat models for the UCs)</a:t>
            </a:r>
          </a:p>
          <a:p>
            <a:pPr marL="635000" lvl="0" indent="-457200" algn="l" rtl="0">
              <a:lnSpc>
                <a:spcPct val="90000"/>
              </a:lnSpc>
              <a:spcBef>
                <a:spcPts val="0"/>
              </a:spcBef>
              <a:spcAft>
                <a:spcPts val="0"/>
              </a:spcAft>
              <a:buClr>
                <a:schemeClr val="dk1"/>
              </a:buClr>
              <a:buSzPts val="2800"/>
              <a:buFont typeface="+mj-lt"/>
              <a:buAutoNum type="arabicPeriod"/>
            </a:pPr>
            <a:endParaRPr lang="en-GB" sz="2000" dirty="0"/>
          </a:p>
          <a:p>
            <a:pPr marL="635000" lvl="0" indent="-457200" algn="l" rtl="0">
              <a:lnSpc>
                <a:spcPct val="90000"/>
              </a:lnSpc>
              <a:spcBef>
                <a:spcPts val="0"/>
              </a:spcBef>
              <a:spcAft>
                <a:spcPts val="0"/>
              </a:spcAft>
              <a:buClr>
                <a:schemeClr val="dk1"/>
              </a:buClr>
              <a:buSzPts val="2800"/>
              <a:buFont typeface="+mj-lt"/>
              <a:buAutoNum type="arabicPeriod"/>
            </a:pPr>
            <a:r>
              <a:rPr lang="en-GB" sz="2000" dirty="0"/>
              <a:t>Update UC spec at M12 (for delivery)</a:t>
            </a:r>
          </a:p>
          <a:p>
            <a:pPr marL="635000" lvl="0" indent="-457200" algn="l" rtl="0">
              <a:lnSpc>
                <a:spcPct val="90000"/>
              </a:lnSpc>
              <a:spcBef>
                <a:spcPts val="0"/>
              </a:spcBef>
              <a:spcAft>
                <a:spcPts val="0"/>
              </a:spcAft>
              <a:buClr>
                <a:schemeClr val="dk1"/>
              </a:buClr>
              <a:buSzPts val="2800"/>
              <a:buFont typeface="+mj-lt"/>
              <a:buAutoNum type="arabicPeriod"/>
            </a:pPr>
            <a:endParaRPr lang="en-GB" sz="2000" dirty="0"/>
          </a:p>
          <a:p>
            <a:pPr marL="635000" lvl="0" indent="-457200" algn="l" rtl="0">
              <a:lnSpc>
                <a:spcPct val="90000"/>
              </a:lnSpc>
              <a:spcBef>
                <a:spcPts val="0"/>
              </a:spcBef>
              <a:spcAft>
                <a:spcPts val="0"/>
              </a:spcAft>
              <a:buClr>
                <a:schemeClr val="dk1"/>
              </a:buClr>
              <a:buSzPts val="2800"/>
              <a:buFont typeface="+mj-lt"/>
              <a:buAutoNum type="arabicPeriod"/>
            </a:pPr>
            <a:r>
              <a:rPr lang="en-GB" sz="2000" dirty="0"/>
              <a:t>Connect spec/</a:t>
            </a:r>
            <a:r>
              <a:rPr lang="en-GB" sz="2000" dirty="0" err="1"/>
              <a:t>req</a:t>
            </a:r>
            <a:r>
              <a:rPr lang="en-GB" sz="2000" dirty="0"/>
              <a:t> to the AI act requirements (active now – should be done in T3.1 as well)</a:t>
            </a:r>
          </a:p>
          <a:p>
            <a:pPr marL="635000" lvl="0" indent="-457200" algn="l" rtl="0">
              <a:lnSpc>
                <a:spcPct val="90000"/>
              </a:lnSpc>
              <a:spcBef>
                <a:spcPts val="0"/>
              </a:spcBef>
              <a:spcAft>
                <a:spcPts val="0"/>
              </a:spcAft>
              <a:buClr>
                <a:schemeClr val="dk1"/>
              </a:buClr>
              <a:buSzPts val="2800"/>
              <a:buFont typeface="+mj-lt"/>
              <a:buAutoNum type="arabicPeriod"/>
            </a:pPr>
            <a:endParaRPr lang="en-GB" sz="2000" dirty="0"/>
          </a:p>
          <a:p>
            <a:pPr marL="635000" lvl="0" indent="-457200" algn="l" rtl="0">
              <a:lnSpc>
                <a:spcPct val="90000"/>
              </a:lnSpc>
              <a:spcBef>
                <a:spcPts val="0"/>
              </a:spcBef>
              <a:spcAft>
                <a:spcPts val="0"/>
              </a:spcAft>
              <a:buClr>
                <a:schemeClr val="dk1"/>
              </a:buClr>
              <a:buSzPts val="2800"/>
              <a:buFont typeface="+mj-lt"/>
              <a:buAutoNum type="arabicPeriod"/>
            </a:pPr>
            <a:r>
              <a:rPr lang="en-GB" sz="2000" dirty="0">
                <a:solidFill>
                  <a:srgbClr val="C00000"/>
                </a:solidFill>
              </a:rPr>
              <a:t>ADD-ON</a:t>
            </a:r>
            <a:r>
              <a:rPr lang="en-GB" sz="2000" dirty="0"/>
              <a:t> - rudimentary (primitive version) of evaluation “requirements” </a:t>
            </a:r>
          </a:p>
        </p:txBody>
      </p:sp>
    </p:spTree>
    <p:extLst>
      <p:ext uri="{BB962C8B-B14F-4D97-AF65-F5344CB8AC3E}">
        <p14:creationId xmlns:p14="http://schemas.microsoft.com/office/powerpoint/2010/main" val="1958768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Issues / Challenges</a:t>
            </a:r>
            <a:endParaRPr dirty="0"/>
          </a:p>
        </p:txBody>
      </p:sp>
      <p:sp>
        <p:nvSpPr>
          <p:cNvPr id="171" name="Google Shape;171;p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ISSUE:</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T6.3 mentions that methodology and UC scenarios will be prepared in T6.3, but clearly, the main objective of that task is to run the evaluation scenarios and do the evaluation</a:t>
            </a:r>
            <a:endParaRPr sz="2000" dirty="0"/>
          </a:p>
        </p:txBody>
      </p:sp>
      <p:sp>
        <p:nvSpPr>
          <p:cNvPr id="172" name="Google Shape;172;p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ACTION(s):</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Rudimentary (primitive version) of evaluation “requirements” (hints of methodology) should be prepared in T3.2</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The timing of T6.3 will be adapted (the current amendment) to accommodate for refinement of that evaluation methodology for T6.3</a:t>
            </a:r>
            <a:endParaRPr sz="2000" dirty="0"/>
          </a:p>
        </p:txBody>
      </p:sp>
      <p:sp>
        <p:nvSpPr>
          <p:cNvPr id="2" name="Arrow: Right 1">
            <a:extLst>
              <a:ext uri="{FF2B5EF4-FFF2-40B4-BE49-F238E27FC236}">
                <a16:creationId xmlns:a16="http://schemas.microsoft.com/office/drawing/2014/main" id="{861B7D5B-6D6E-8F25-0E65-BAB8A0FD0278}"/>
              </a:ext>
            </a:extLst>
          </p:cNvPr>
          <p:cNvSpPr/>
          <p:nvPr/>
        </p:nvSpPr>
        <p:spPr>
          <a:xfrm>
            <a:off x="5705475" y="1690688"/>
            <a:ext cx="628650" cy="742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924747B2-20F7-B2E9-04D9-0BF69B8202B5}"/>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DF347B24-B209-4598-1768-587145F9816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Pilot1 - INDUSTRIAL/manufacturing</a:t>
            </a:r>
            <a:endParaRPr dirty="0"/>
          </a:p>
        </p:txBody>
      </p:sp>
      <p:sp>
        <p:nvSpPr>
          <p:cNvPr id="171" name="Google Shape;171;p4">
            <a:extLst>
              <a:ext uri="{FF2B5EF4-FFF2-40B4-BE49-F238E27FC236}">
                <a16:creationId xmlns:a16="http://schemas.microsoft.com/office/drawing/2014/main" id="{A8CD4487-9A0C-DB81-0300-544339C1C582}"/>
              </a:ext>
            </a:extLst>
          </p:cNvPr>
          <p:cNvSpPr txBox="1">
            <a:spLocks noGrp="1"/>
          </p:cNvSpPr>
          <p:nvPr>
            <p:ph type="body" idx="1"/>
          </p:nvPr>
        </p:nvSpPr>
        <p:spPr>
          <a:xfrm>
            <a:off x="152400" y="1825625"/>
            <a:ext cx="5867400" cy="4908550"/>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UC 1.1: AI-based localisation in industrial environment</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Have UWB anchors to localise assts in an industrial plant</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The tag sends certain signals, which are received by the anchors (expect difficulties when the tag is not in direct line of sight with the anchor)</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Filter out signals and detect peaks</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The signal is in the edge device and then AI is used to go through signals and improve the signal accuracy</a:t>
            </a:r>
            <a:endParaRPr sz="2000" dirty="0"/>
          </a:p>
        </p:txBody>
      </p:sp>
      <p:sp>
        <p:nvSpPr>
          <p:cNvPr id="172" name="Google Shape;172;p4">
            <a:extLst>
              <a:ext uri="{FF2B5EF4-FFF2-40B4-BE49-F238E27FC236}">
                <a16:creationId xmlns:a16="http://schemas.microsoft.com/office/drawing/2014/main" id="{6B361F3C-2A31-72DD-D5A2-81EC721A944A}"/>
              </a:ext>
            </a:extLst>
          </p:cNvPr>
          <p:cNvSpPr txBox="1">
            <a:spLocks noGrp="1"/>
          </p:cNvSpPr>
          <p:nvPr>
            <p:ph type="body" idx="2"/>
          </p:nvPr>
        </p:nvSpPr>
        <p:spPr>
          <a:xfrm>
            <a:off x="6172199" y="1825624"/>
            <a:ext cx="5867400" cy="4908549"/>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UC 1.2:  AI-based edge/network management</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Aim: allocate the apps (downloaded from the industrial edge market-place) e.g., anomaly detection app, machine monitoring app, comms protocols etc. </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AI's role: use statistics from running infrastructure to optimise the usage of apps. </a:t>
            </a:r>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Also add failure prediction if expecting an issue on the device if the installed apps remain the same. </a:t>
            </a:r>
            <a:endParaRPr sz="2000" dirty="0"/>
          </a:p>
        </p:txBody>
      </p:sp>
      <p:sp>
        <p:nvSpPr>
          <p:cNvPr id="3" name="TextBox 2">
            <a:extLst>
              <a:ext uri="{FF2B5EF4-FFF2-40B4-BE49-F238E27FC236}">
                <a16:creationId xmlns:a16="http://schemas.microsoft.com/office/drawing/2014/main" id="{A4FE2793-AF26-26E6-8730-3F256CD904A3}"/>
              </a:ext>
            </a:extLst>
          </p:cNvPr>
          <p:cNvSpPr txBox="1"/>
          <p:nvPr/>
        </p:nvSpPr>
        <p:spPr>
          <a:xfrm>
            <a:off x="152400" y="6426396"/>
            <a:ext cx="11887199" cy="307777"/>
          </a:xfrm>
          <a:prstGeom prst="rect">
            <a:avLst/>
          </a:prstGeom>
          <a:noFill/>
        </p:spPr>
        <p:txBody>
          <a:bodyPr wrap="square" rtlCol="0">
            <a:spAutoFit/>
          </a:bodyPr>
          <a:lstStyle/>
          <a:p>
            <a:pPr algn="ctr"/>
            <a:r>
              <a:rPr lang="en-GB" b="1" dirty="0">
                <a:solidFill>
                  <a:srgbClr val="C00000"/>
                </a:solidFill>
              </a:rPr>
              <a:t>Tech challenge: Assume the UCs have a starting AI model - continue training and see how the AI performs then</a:t>
            </a:r>
          </a:p>
        </p:txBody>
      </p:sp>
    </p:spTree>
    <p:extLst>
      <p:ext uri="{BB962C8B-B14F-4D97-AF65-F5344CB8AC3E}">
        <p14:creationId xmlns:p14="http://schemas.microsoft.com/office/powerpoint/2010/main" val="311782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826FD9C6-77D2-BD42-06C2-90264FC62953}"/>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22CC705C-5F65-9DEE-71F4-18B73646BA9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Pilot 1 - state</a:t>
            </a:r>
            <a:endParaRPr dirty="0"/>
          </a:p>
        </p:txBody>
      </p:sp>
      <p:sp>
        <p:nvSpPr>
          <p:cNvPr id="171" name="Google Shape;171;p4">
            <a:extLst>
              <a:ext uri="{FF2B5EF4-FFF2-40B4-BE49-F238E27FC236}">
                <a16:creationId xmlns:a16="http://schemas.microsoft.com/office/drawing/2014/main" id="{10DE9780-5D6E-0DC1-A7AA-589A31123FEF}"/>
              </a:ext>
            </a:extLst>
          </p:cNvPr>
          <p:cNvSpPr txBox="1">
            <a:spLocks noGrp="1"/>
          </p:cNvSpPr>
          <p:nvPr>
            <p:ph type="body" idx="1"/>
          </p:nvPr>
        </p:nvSpPr>
        <p:spPr>
          <a:xfrm>
            <a:off x="838200" y="1825625"/>
            <a:ext cx="10858500" cy="4351338"/>
          </a:xfrm>
          <a:prstGeom prst="rect">
            <a:avLst/>
          </a:prstGeom>
          <a:noFill/>
          <a:ln>
            <a:noFill/>
          </a:ln>
        </p:spPr>
        <p:txBody>
          <a:bodyPr spcFirstLastPara="1" wrap="square" lIns="91425" tIns="45700" rIns="91425" bIns="45700" anchor="t" anchorCtr="0">
            <a:normAutofit/>
          </a:bodyPr>
          <a:lstStyle/>
          <a:p>
            <a:pPr marL="635000" indent="-457200">
              <a:spcBef>
                <a:spcPts val="0"/>
              </a:spcBef>
              <a:buSzPts val="2800"/>
            </a:pPr>
            <a:r>
              <a:rPr lang="en-GB" sz="2000" dirty="0"/>
              <a:t>Models are the current models used to deduce the location of the tags. </a:t>
            </a:r>
          </a:p>
          <a:p>
            <a:pPr marL="635000" indent="-457200">
              <a:spcBef>
                <a:spcPts val="0"/>
              </a:spcBef>
              <a:buSzPts val="2800"/>
            </a:pPr>
            <a:endParaRPr lang="en-GB" sz="2000" dirty="0"/>
          </a:p>
          <a:p>
            <a:pPr marL="635000" indent="-457200">
              <a:spcBef>
                <a:spcPts val="0"/>
              </a:spcBef>
              <a:buSzPts val="2800"/>
            </a:pPr>
            <a:r>
              <a:rPr lang="en-GB" sz="2000" dirty="0"/>
              <a:t>Ideal situation: Siemens provides data and current models to other partners. Other partners do number crunching and improve the existing models. The models are then returned to Siemens. </a:t>
            </a:r>
          </a:p>
          <a:p>
            <a:pPr marL="635000" indent="-457200">
              <a:spcBef>
                <a:spcPts val="0"/>
              </a:spcBef>
              <a:buSzPts val="2800"/>
            </a:pPr>
            <a:endParaRPr lang="en-GB" sz="2000" dirty="0"/>
          </a:p>
          <a:p>
            <a:pPr marL="635000" indent="-457200">
              <a:spcBef>
                <a:spcPts val="0"/>
              </a:spcBef>
              <a:buSzPts val="2800"/>
            </a:pPr>
            <a:r>
              <a:rPr lang="en-GB" sz="2000" dirty="0"/>
              <a:t>The issue: it is not clear how the new models will be tested? The SCOPE of the project is NOT to improve the localisation, BUT to make more cyber-resilient models. Hence, need to define how to test those. </a:t>
            </a:r>
          </a:p>
        </p:txBody>
      </p:sp>
    </p:spTree>
    <p:extLst>
      <p:ext uri="{BB962C8B-B14F-4D97-AF65-F5344CB8AC3E}">
        <p14:creationId xmlns:p14="http://schemas.microsoft.com/office/powerpoint/2010/main" val="2355355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F7F1394A-6BFB-3484-DE28-93785F08D44D}"/>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6A9AE981-839A-EDBA-58F2-9F8CE6B610D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Pilot2 - AUTOMOTIVE</a:t>
            </a:r>
            <a:endParaRPr dirty="0"/>
          </a:p>
        </p:txBody>
      </p:sp>
      <p:sp>
        <p:nvSpPr>
          <p:cNvPr id="171" name="Google Shape;171;p4">
            <a:extLst>
              <a:ext uri="{FF2B5EF4-FFF2-40B4-BE49-F238E27FC236}">
                <a16:creationId xmlns:a16="http://schemas.microsoft.com/office/drawing/2014/main" id="{A28909F9-85E2-0B47-730F-5D62FB8FAEAE}"/>
              </a:ext>
            </a:extLst>
          </p:cNvPr>
          <p:cNvSpPr txBox="1">
            <a:spLocks noGrp="1"/>
          </p:cNvSpPr>
          <p:nvPr>
            <p:ph type="body" idx="1"/>
          </p:nvPr>
        </p:nvSpPr>
        <p:spPr>
          <a:xfrm>
            <a:off x="152400" y="1825625"/>
            <a:ext cx="5867400" cy="4908550"/>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UC 2.1: PERCEPTION (AVI)</a:t>
            </a:r>
          </a:p>
          <a:p>
            <a:pPr marL="177800" lvl="0" indent="0" algn="l" rtl="0">
              <a:lnSpc>
                <a:spcPct val="90000"/>
              </a:lnSpc>
              <a:spcBef>
                <a:spcPts val="0"/>
              </a:spcBef>
              <a:spcAft>
                <a:spcPts val="0"/>
              </a:spcAft>
              <a:buClr>
                <a:schemeClr val="dk1"/>
              </a:buClr>
              <a:buSzPts val="2800"/>
              <a:buNone/>
            </a:pPr>
            <a:endParaRPr lang="en-GB" sz="2000" dirty="0"/>
          </a:p>
          <a:p>
            <a:pPr marL="635000" lvl="0" indent="-457200" algn="l" rtl="0">
              <a:lnSpc>
                <a:spcPct val="90000"/>
              </a:lnSpc>
              <a:spcBef>
                <a:spcPts val="0"/>
              </a:spcBef>
              <a:spcAft>
                <a:spcPts val="0"/>
              </a:spcAft>
              <a:buClr>
                <a:schemeClr val="dk1"/>
              </a:buClr>
              <a:buSzPts val="2800"/>
              <a:buFont typeface="Wingdings" panose="05000000000000000000" pitchFamily="2" charset="2"/>
              <a:buChar char="Ø"/>
            </a:pPr>
            <a:r>
              <a:rPr lang="en-GB" sz="2000" dirty="0"/>
              <a:t>TBD how to split away from AVL</a:t>
            </a:r>
            <a:endParaRPr sz="2000" dirty="0"/>
          </a:p>
        </p:txBody>
      </p:sp>
      <p:sp>
        <p:nvSpPr>
          <p:cNvPr id="172" name="Google Shape;172;p4">
            <a:extLst>
              <a:ext uri="{FF2B5EF4-FFF2-40B4-BE49-F238E27FC236}">
                <a16:creationId xmlns:a16="http://schemas.microsoft.com/office/drawing/2014/main" id="{D6AC66C5-5C0F-FF08-716F-C23B1C3C1A11}"/>
              </a:ext>
            </a:extLst>
          </p:cNvPr>
          <p:cNvSpPr txBox="1">
            <a:spLocks noGrp="1"/>
          </p:cNvSpPr>
          <p:nvPr>
            <p:ph type="body" idx="2"/>
          </p:nvPr>
        </p:nvSpPr>
        <p:spPr>
          <a:xfrm>
            <a:off x="6172199" y="1825624"/>
            <a:ext cx="5867400" cy="4908549"/>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GB" sz="2000" dirty="0"/>
              <a:t>UC 2.2:  CONTROL/teleoperation (AVL)</a:t>
            </a:r>
          </a:p>
          <a:p>
            <a:pPr marL="177800" lvl="0" indent="0" algn="l" rtl="0">
              <a:lnSpc>
                <a:spcPct val="90000"/>
              </a:lnSpc>
              <a:spcBef>
                <a:spcPts val="0"/>
              </a:spcBef>
              <a:spcAft>
                <a:spcPts val="0"/>
              </a:spcAft>
              <a:buClr>
                <a:schemeClr val="dk1"/>
              </a:buClr>
              <a:buSzPts val="2800"/>
              <a:buNone/>
            </a:pPr>
            <a:endParaRPr lang="en-GB" sz="2000" dirty="0"/>
          </a:p>
          <a:p>
            <a:pPr marL="520700">
              <a:spcBef>
                <a:spcPts val="0"/>
              </a:spcBef>
              <a:buSzPts val="2800"/>
            </a:pPr>
            <a:r>
              <a:rPr lang="en-GB" sz="2000" dirty="0"/>
              <a:t>UC2.2a: Vehicle ADAS/AD Functionality Extension, Change or Update</a:t>
            </a:r>
          </a:p>
          <a:p>
            <a:pPr marL="920750" lvl="1" indent="-285750">
              <a:spcBef>
                <a:spcPts val="0"/>
              </a:spcBef>
              <a:buSzPts val="2800"/>
            </a:pPr>
            <a:r>
              <a:rPr lang="en-GB" sz="1600" dirty="0"/>
              <a:t>TARGET: regularly update the AI/ML models </a:t>
            </a:r>
          </a:p>
          <a:p>
            <a:pPr marL="520700">
              <a:spcBef>
                <a:spcPts val="0"/>
              </a:spcBef>
              <a:buSzPts val="2800"/>
            </a:pPr>
            <a:endParaRPr lang="en-GB" sz="2000" dirty="0"/>
          </a:p>
          <a:p>
            <a:pPr marL="520700">
              <a:spcBef>
                <a:spcPts val="0"/>
              </a:spcBef>
              <a:buSzPts val="2800"/>
            </a:pPr>
            <a:r>
              <a:rPr lang="en-GB" sz="2000" dirty="0"/>
              <a:t>UC2.2b: AI/ML Models distribution over a network</a:t>
            </a:r>
          </a:p>
          <a:p>
            <a:pPr marL="977900" lvl="1">
              <a:spcBef>
                <a:spcPts val="0"/>
              </a:spcBef>
              <a:buSzPts val="2800"/>
            </a:pPr>
            <a:r>
              <a:rPr lang="en-GB" sz="1600" dirty="0"/>
              <a:t>TARGET: Operator needs to adapt cloud instance for roll out</a:t>
            </a:r>
          </a:p>
          <a:p>
            <a:pPr marL="520700">
              <a:spcBef>
                <a:spcPts val="0"/>
              </a:spcBef>
              <a:buSzPts val="2800"/>
            </a:pPr>
            <a:endParaRPr lang="en-GB" sz="2000" dirty="0"/>
          </a:p>
          <a:p>
            <a:pPr marL="520700">
              <a:spcBef>
                <a:spcPts val="0"/>
              </a:spcBef>
              <a:buSzPts val="2800"/>
            </a:pPr>
            <a:r>
              <a:rPr lang="en-GB" sz="2000" dirty="0"/>
              <a:t>UC2.2c: Customer AI/ML model selection</a:t>
            </a:r>
          </a:p>
          <a:p>
            <a:pPr marL="977900" lvl="1">
              <a:spcBef>
                <a:spcPts val="0"/>
              </a:spcBef>
              <a:buSzPts val="2800"/>
            </a:pPr>
            <a:r>
              <a:rPr lang="en-GB" sz="1600" dirty="0"/>
              <a:t>TARGET: tracked installation of customer installed models (transparent history)</a:t>
            </a:r>
          </a:p>
        </p:txBody>
      </p:sp>
      <p:sp>
        <p:nvSpPr>
          <p:cNvPr id="3" name="TextBox 2">
            <a:extLst>
              <a:ext uri="{FF2B5EF4-FFF2-40B4-BE49-F238E27FC236}">
                <a16:creationId xmlns:a16="http://schemas.microsoft.com/office/drawing/2014/main" id="{5F0FC216-EEC4-45DE-CFE9-F37474705738}"/>
              </a:ext>
            </a:extLst>
          </p:cNvPr>
          <p:cNvSpPr txBox="1"/>
          <p:nvPr/>
        </p:nvSpPr>
        <p:spPr>
          <a:xfrm>
            <a:off x="152400" y="6426396"/>
            <a:ext cx="11887199" cy="307777"/>
          </a:xfrm>
          <a:prstGeom prst="rect">
            <a:avLst/>
          </a:prstGeom>
          <a:noFill/>
        </p:spPr>
        <p:txBody>
          <a:bodyPr wrap="square" rtlCol="0">
            <a:spAutoFit/>
          </a:bodyPr>
          <a:lstStyle/>
          <a:p>
            <a:pPr algn="ctr"/>
            <a:r>
              <a:rPr lang="en-GB" b="1" dirty="0">
                <a:solidFill>
                  <a:srgbClr val="C00000"/>
                </a:solidFill>
              </a:rPr>
              <a:t>Integration challenge: Link two UCs towards the end to demonstrate robustness</a:t>
            </a:r>
          </a:p>
        </p:txBody>
      </p:sp>
    </p:spTree>
    <p:extLst>
      <p:ext uri="{BB962C8B-B14F-4D97-AF65-F5344CB8AC3E}">
        <p14:creationId xmlns:p14="http://schemas.microsoft.com/office/powerpoint/2010/main" val="4293614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a:extLst>
            <a:ext uri="{FF2B5EF4-FFF2-40B4-BE49-F238E27FC236}">
              <a16:creationId xmlns:a16="http://schemas.microsoft.com/office/drawing/2014/main" id="{965610A7-BD68-F479-CABB-8F63067DB898}"/>
            </a:ext>
          </a:extLst>
        </p:cNvPr>
        <p:cNvGrpSpPr/>
        <p:nvPr/>
      </p:nvGrpSpPr>
      <p:grpSpPr>
        <a:xfrm>
          <a:off x="0" y="0"/>
          <a:ext cx="0" cy="0"/>
          <a:chOff x="0" y="0"/>
          <a:chExt cx="0" cy="0"/>
        </a:xfrm>
      </p:grpSpPr>
      <p:sp>
        <p:nvSpPr>
          <p:cNvPr id="170" name="Google Shape;170;p4">
            <a:extLst>
              <a:ext uri="{FF2B5EF4-FFF2-40B4-BE49-F238E27FC236}">
                <a16:creationId xmlns:a16="http://schemas.microsoft.com/office/drawing/2014/main" id="{8B369696-0356-0B91-122A-A2C3ABA7B79E}"/>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GB" dirty="0"/>
              <a:t>Timeline</a:t>
            </a:r>
            <a:endParaRPr dirty="0"/>
          </a:p>
        </p:txBody>
      </p:sp>
      <p:sp>
        <p:nvSpPr>
          <p:cNvPr id="171" name="Google Shape;171;p4">
            <a:extLst>
              <a:ext uri="{FF2B5EF4-FFF2-40B4-BE49-F238E27FC236}">
                <a16:creationId xmlns:a16="http://schemas.microsoft.com/office/drawing/2014/main" id="{92E0A3A7-DE06-1EE1-AD1E-D62A682EEB1D}"/>
              </a:ext>
            </a:extLst>
          </p:cNvPr>
          <p:cNvSpPr txBox="1">
            <a:spLocks noGrp="1"/>
          </p:cNvSpPr>
          <p:nvPr>
            <p:ph type="body" idx="1"/>
          </p:nvPr>
        </p:nvSpPr>
        <p:spPr>
          <a:xfrm>
            <a:off x="838200" y="1825625"/>
            <a:ext cx="10858500" cy="4351338"/>
          </a:xfrm>
          <a:prstGeom prst="rect">
            <a:avLst/>
          </a:prstGeom>
          <a:noFill/>
          <a:ln>
            <a:noFill/>
          </a:ln>
        </p:spPr>
        <p:txBody>
          <a:bodyPr spcFirstLastPara="1" wrap="square" lIns="91425" tIns="45700" rIns="91425" bIns="45700" anchor="t" anchorCtr="0">
            <a:normAutofit/>
          </a:bodyPr>
          <a:lstStyle/>
          <a:p>
            <a:pPr marL="635000" indent="-457200">
              <a:spcBef>
                <a:spcPts val="0"/>
              </a:spcBef>
              <a:buSzPts val="2800"/>
            </a:pPr>
            <a:r>
              <a:rPr lang="en-GB" dirty="0"/>
              <a:t>Organise UC workshops in the first 2-3 months</a:t>
            </a:r>
          </a:p>
          <a:p>
            <a:pPr marL="635000" indent="-457200">
              <a:spcBef>
                <a:spcPts val="0"/>
              </a:spcBef>
              <a:buSzPts val="2800"/>
            </a:pPr>
            <a:endParaRPr lang="en-GB" dirty="0"/>
          </a:p>
          <a:p>
            <a:pPr marL="1092200" lvl="1" indent="-457200">
              <a:spcBef>
                <a:spcPts val="0"/>
              </a:spcBef>
              <a:buSzPts val="2800"/>
            </a:pPr>
            <a:r>
              <a:rPr lang="en-GB" sz="2000" dirty="0"/>
              <a:t>Find out what the needs of Siemens and AVL (and AVI) are</a:t>
            </a:r>
          </a:p>
          <a:p>
            <a:pPr marL="1092200" lvl="1" indent="-457200">
              <a:spcBef>
                <a:spcPts val="0"/>
              </a:spcBef>
              <a:buSzPts val="2800"/>
            </a:pPr>
            <a:endParaRPr lang="en-GB" sz="2000" dirty="0"/>
          </a:p>
          <a:p>
            <a:pPr marL="1092200" lvl="1" indent="-457200">
              <a:spcBef>
                <a:spcPts val="0"/>
              </a:spcBef>
              <a:buSzPts val="2800"/>
            </a:pPr>
            <a:r>
              <a:rPr lang="en-GB" sz="2000" dirty="0"/>
              <a:t>What are the market needs</a:t>
            </a:r>
          </a:p>
          <a:p>
            <a:pPr marL="1092200" lvl="1" indent="-457200">
              <a:spcBef>
                <a:spcPts val="0"/>
              </a:spcBef>
              <a:buSzPts val="2800"/>
            </a:pPr>
            <a:endParaRPr lang="en-GB" sz="2000" dirty="0"/>
          </a:p>
          <a:p>
            <a:pPr marL="1092200" lvl="1" indent="-457200">
              <a:spcBef>
                <a:spcPts val="0"/>
              </a:spcBef>
              <a:buSzPts val="2800"/>
            </a:pPr>
            <a:r>
              <a:rPr lang="en-GB" sz="2000" dirty="0"/>
              <a:t>Bridge between all the sides</a:t>
            </a:r>
          </a:p>
          <a:p>
            <a:pPr marL="1092200" lvl="1" indent="-457200">
              <a:spcBef>
                <a:spcPts val="0"/>
              </a:spcBef>
              <a:buSzPts val="2800"/>
            </a:pPr>
            <a:endParaRPr lang="en-GB" sz="2000" dirty="0"/>
          </a:p>
          <a:p>
            <a:pPr marL="635000" indent="-457200">
              <a:spcBef>
                <a:spcPts val="0"/>
              </a:spcBef>
              <a:buSzPts val="2800"/>
            </a:pPr>
            <a:r>
              <a:rPr lang="en-GB" dirty="0"/>
              <a:t>From that, you bring out the UC spec</a:t>
            </a:r>
          </a:p>
          <a:p>
            <a:pPr marL="177800" indent="0">
              <a:spcBef>
                <a:spcPts val="0"/>
              </a:spcBef>
              <a:buSzPts val="2800"/>
              <a:buNone/>
            </a:pPr>
            <a:endParaRPr lang="en-GB" dirty="0"/>
          </a:p>
        </p:txBody>
      </p:sp>
    </p:spTree>
    <p:extLst>
      <p:ext uri="{BB962C8B-B14F-4D97-AF65-F5344CB8AC3E}">
        <p14:creationId xmlns:p14="http://schemas.microsoft.com/office/powerpoint/2010/main" val="2715237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Front pag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12" ma:contentTypeDescription="Create a new document." ma:contentTypeScope="" ma:versionID="be7498dd9c4512a837f461ead69e4c34">
  <xsd:schema xmlns:xsd="http://www.w3.org/2001/XMLSchema" xmlns:xs="http://www.w3.org/2001/XMLSchema" xmlns:p="http://schemas.microsoft.com/office/2006/metadata/properties" xmlns:ns2="d608b43f-bfac-4116-ae2f-2654f04dc4f2" xmlns:ns3="f05f1c5d-c52e-4d54-83d1-a52e4aeefd52" targetNamespace="http://schemas.microsoft.com/office/2006/metadata/properties" ma:root="true" ma:fieldsID="07f14bcc0f87e48c34d5d33dedee0072" ns2:_="" ns3:_="">
    <xsd:import namespace="d608b43f-bfac-4116-ae2f-2654f04dc4f2"/>
    <xsd:import namespace="f05f1c5d-c52e-4d54-83d1-a52e4aeefd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1a16348-86a9-4153-a534-716e536704a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5f1c5d-c52e-4d54-83d1-a52e4aeefd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be773a3-2a48-487a-a9d1-73543309e2e9}" ma:internalName="TaxCatchAll" ma:showField="CatchAllData" ma:web="f05f1c5d-c52e-4d54-83d1-a52e4aeefd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08b43f-bfac-4116-ae2f-2654f04dc4f2">
      <Terms xmlns="http://schemas.microsoft.com/office/infopath/2007/PartnerControls"/>
    </lcf76f155ced4ddcb4097134ff3c332f>
    <TaxCatchAll xmlns="f05f1c5d-c52e-4d54-83d1-a52e4aeefd52" xsi:nil="true"/>
  </documentManagement>
</p:properties>
</file>

<file path=customXml/itemProps1.xml><?xml version="1.0" encoding="utf-8"?>
<ds:datastoreItem xmlns:ds="http://schemas.openxmlformats.org/officeDocument/2006/customXml" ds:itemID="{329F842E-0721-4A0C-9613-9D84594571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08b43f-bfac-4116-ae2f-2654f04dc4f2"/>
    <ds:schemaRef ds:uri="f05f1c5d-c52e-4d54-83d1-a52e4aeefd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287254-87EB-44FE-8FF1-B8221E710441}">
  <ds:schemaRefs>
    <ds:schemaRef ds:uri="http://schemas.microsoft.com/sharepoint/v3/contenttype/forms"/>
  </ds:schemaRefs>
</ds:datastoreItem>
</file>

<file path=customXml/itemProps3.xml><?xml version="1.0" encoding="utf-8"?>
<ds:datastoreItem xmlns:ds="http://schemas.openxmlformats.org/officeDocument/2006/customXml" ds:itemID="{1E5CE71B-3D00-4AFA-88CF-EB81088C1908}">
  <ds:schemaRefs>
    <ds:schemaRef ds:uri="http://schemas.microsoft.com/office/2006/metadata/properties"/>
    <ds:schemaRef ds:uri="http://schemas.microsoft.com/office/infopath/2007/PartnerControls"/>
    <ds:schemaRef ds:uri="d608b43f-bfac-4116-ae2f-2654f04dc4f2"/>
    <ds:schemaRef ds:uri="f05f1c5d-c52e-4d54-83d1-a52e4aeefd52"/>
  </ds:schemaRefs>
</ds:datastoreItem>
</file>

<file path=docProps/app.xml><?xml version="1.0" encoding="utf-8"?>
<Properties xmlns="http://schemas.openxmlformats.org/officeDocument/2006/extended-properties" xmlns:vt="http://schemas.openxmlformats.org/officeDocument/2006/docPropsVTypes">
  <TotalTime>0</TotalTime>
  <Words>780</Words>
  <Application>Microsoft Office PowerPoint</Application>
  <PresentationFormat>Widescreen</PresentationFormat>
  <Paragraphs>88</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Calibri</vt:lpstr>
      <vt:lpstr>Courier New</vt:lpstr>
      <vt:lpstr>Wingdings</vt:lpstr>
      <vt:lpstr>2_Front page</vt:lpstr>
      <vt:lpstr>Θέμα του Office</vt:lpstr>
      <vt:lpstr>T3.2</vt:lpstr>
      <vt:lpstr>T3.2 description   steps</vt:lpstr>
      <vt:lpstr>Steps - overview</vt:lpstr>
      <vt:lpstr>Issues / Challenges</vt:lpstr>
      <vt:lpstr>Pilot1 - INDUSTRIAL/manufacturing</vt:lpstr>
      <vt:lpstr>Pilot 1 - state</vt:lpstr>
      <vt:lpstr>Pilot2 - AUTOMOTIVE</vt:lpstr>
      <vt:lpstr>Timeline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lastModifiedBy>Omar Veledar</cp:lastModifiedBy>
  <cp:revision>13</cp:revision>
  <dcterms:created xsi:type="dcterms:W3CDTF">2024-04-26T17:52:46Z</dcterms:created>
  <dcterms:modified xsi:type="dcterms:W3CDTF">2024-12-13T13:37:49Z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y fmtid="{D5CDD505-2E9C-101B-9397-08002B2CF9AE}" pid="3" name="MediaServiceImageTags">
    <vt:lpwstr/>
  </property>
</Properties>
</file>