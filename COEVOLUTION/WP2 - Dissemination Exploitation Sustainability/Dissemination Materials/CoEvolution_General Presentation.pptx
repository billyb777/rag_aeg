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  <p:sldMasterId id="2147483654" r:id="rId5"/>
  </p:sldMasterIdLst>
  <p:notesMasterIdLst>
    <p:notesMasterId r:id="rId17"/>
  </p:notesMasterIdLst>
  <p:sldIdLst>
    <p:sldId id="256" r:id="rId6"/>
    <p:sldId id="274" r:id="rId7"/>
    <p:sldId id="264" r:id="rId8"/>
    <p:sldId id="265" r:id="rId9"/>
    <p:sldId id="266" r:id="rId10"/>
    <p:sldId id="268" r:id="rId11"/>
    <p:sldId id="275" r:id="rId12"/>
    <p:sldId id="271" r:id="rId13"/>
    <p:sldId id="272" r:id="rId14"/>
    <p:sldId id="273" r:id="rId15"/>
    <p:sldId id="261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ghzUo9/Mq5C9LLPzUwJ0qEC6lN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2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D4CE6C-36A9-5F62-F9DA-B4F8C0180A7D}" v="24" dt="2025-05-14T05:53:54.893"/>
    <p1510:client id="{D353F345-179C-9F54-3A7A-03AA4197797A}" v="6" dt="2025-05-15T10:20:59.0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25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864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customschemas.google.com/relationships/presentationmetadata" Target="meta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.gkatzios" userId="S::n.gkatzios_aegisresearch.eu#ext#@ntuagr.onmicrosoft.com::5dfb047f-848e-45cc-85cd-d4c8de970208" providerId="AD" clId="Web-{D353F345-179C-9F54-3A7A-03AA4197797A}"/>
    <pc:docChg chg="modSld">
      <pc:chgData name="n.gkatzios" userId="S::n.gkatzios_aegisresearch.eu#ext#@ntuagr.onmicrosoft.com::5dfb047f-848e-45cc-85cd-d4c8de970208" providerId="AD" clId="Web-{D353F345-179C-9F54-3A7A-03AA4197797A}" dt="2025-05-15T10:20:59.036" v="5" actId="20577"/>
      <pc:docMkLst>
        <pc:docMk/>
      </pc:docMkLst>
      <pc:sldChg chg="modSp">
        <pc:chgData name="n.gkatzios" userId="S::n.gkatzios_aegisresearch.eu#ext#@ntuagr.onmicrosoft.com::5dfb047f-848e-45cc-85cd-d4c8de970208" providerId="AD" clId="Web-{D353F345-179C-9F54-3A7A-03AA4197797A}" dt="2025-05-15T10:20:59.036" v="5" actId="20577"/>
        <pc:sldMkLst>
          <pc:docMk/>
          <pc:sldMk cId="1140936040" sldId="264"/>
        </pc:sldMkLst>
        <pc:spChg chg="mod">
          <ac:chgData name="n.gkatzios" userId="S::n.gkatzios_aegisresearch.eu#ext#@ntuagr.onmicrosoft.com::5dfb047f-848e-45cc-85cd-d4c8de970208" providerId="AD" clId="Web-{D353F345-179C-9F54-3A7A-03AA4197797A}" dt="2025-05-15T10:20:59.036" v="5" actId="20577"/>
          <ac:spMkLst>
            <pc:docMk/>
            <pc:sldMk cId="1140936040" sldId="264"/>
            <ac:spMk id="3" creationId="{E8EFCD9F-EFC8-B7E9-B723-C1ABCCFD9CCA}"/>
          </ac:spMkLst>
        </pc:spChg>
      </pc:sldChg>
    </pc:docChg>
  </pc:docChgLst>
  <pc:docChgLst>
    <pc:chgData name="Αντωνιος Μακρης" userId="S::antoniosmakris@ntua.gr::eea0bc52-0833-4d66-a611-1693fee57a2c" providerId="AD" clId="Web-{C22DAC73-3452-8370-6FE7-5AF06B69C658}"/>
    <pc:docChg chg="addSld delSld modSld">
      <pc:chgData name="Αντωνιος Μακρης" userId="S::antoniosmakris@ntua.gr::eea0bc52-0833-4d66-a611-1693fee57a2c" providerId="AD" clId="Web-{C22DAC73-3452-8370-6FE7-5AF06B69C658}" dt="2024-11-27T13:43:00.355" v="7"/>
      <pc:docMkLst>
        <pc:docMk/>
      </pc:docMkLst>
      <pc:sldChg chg="addSp delSp modSp new del mod modClrScheme chgLayout">
        <pc:chgData name="Αντωνιος Μακρης" userId="S::antoniosmakris@ntua.gr::eea0bc52-0833-4d66-a611-1693fee57a2c" providerId="AD" clId="Web-{C22DAC73-3452-8370-6FE7-5AF06B69C658}" dt="2024-11-27T13:43:00.355" v="7"/>
        <pc:sldMkLst>
          <pc:docMk/>
          <pc:sldMk cId="4083399242" sldId="262"/>
        </pc:sldMkLst>
        <pc:spChg chg="mod ord">
          <ac:chgData name="Αντωνιος Μακρης" userId="S::antoniosmakris@ntua.gr::eea0bc52-0833-4d66-a611-1693fee57a2c" providerId="AD" clId="Web-{C22DAC73-3452-8370-6FE7-5AF06B69C658}" dt="2024-11-27T13:42:47.370" v="6"/>
          <ac:spMkLst>
            <pc:docMk/>
            <pc:sldMk cId="4083399242" sldId="262"/>
            <ac:spMk id="2" creationId="{35B027C8-5162-9E3C-4429-28F7876CFCEE}"/>
          </ac:spMkLst>
        </pc:spChg>
        <pc:spChg chg="del mod ord">
          <ac:chgData name="Αντωνιος Μακρης" userId="S::antoniosmakris@ntua.gr::eea0bc52-0833-4d66-a611-1693fee57a2c" providerId="AD" clId="Web-{C22DAC73-3452-8370-6FE7-5AF06B69C658}" dt="2024-11-27T13:42:47.370" v="6"/>
          <ac:spMkLst>
            <pc:docMk/>
            <pc:sldMk cId="4083399242" sldId="262"/>
            <ac:spMk id="3" creationId="{81ABE09B-C8EC-5903-B23F-93FBCBBF53B4}"/>
          </ac:spMkLst>
        </pc:spChg>
        <pc:spChg chg="del mod ord">
          <ac:chgData name="Αντωνιος Μακρης" userId="S::antoniosmakris@ntua.gr::eea0bc52-0833-4d66-a611-1693fee57a2c" providerId="AD" clId="Web-{C22DAC73-3452-8370-6FE7-5AF06B69C658}" dt="2024-11-27T13:42:15.650" v="2"/>
          <ac:spMkLst>
            <pc:docMk/>
            <pc:sldMk cId="4083399242" sldId="262"/>
            <ac:spMk id="4" creationId="{DB4F25AC-F7D3-B7F8-A785-7312A0B28859}"/>
          </ac:spMkLst>
        </pc:spChg>
        <pc:spChg chg="add del mod ord">
          <ac:chgData name="Αντωνιος Μακρης" userId="S::antoniosmakris@ntua.gr::eea0bc52-0833-4d66-a611-1693fee57a2c" providerId="AD" clId="Web-{C22DAC73-3452-8370-6FE7-5AF06B69C658}" dt="2024-11-27T13:42:20.384" v="3"/>
          <ac:spMkLst>
            <pc:docMk/>
            <pc:sldMk cId="4083399242" sldId="262"/>
            <ac:spMk id="5" creationId="{0D2C08A7-D652-63F2-65CB-703A122360A8}"/>
          </ac:spMkLst>
        </pc:spChg>
      </pc:sldChg>
    </pc:docChg>
  </pc:docChgLst>
  <pc:docChgLst>
    <pc:chgData name="Αντωνιος Μακρης" userId="S::antoniosmakris@ntua.gr::eea0bc52-0833-4d66-a611-1693fee57a2c" providerId="AD" clId="Web-{20D4CE6C-36A9-5F62-F9DA-B4F8C0180A7D}"/>
    <pc:docChg chg="addSld modSld">
      <pc:chgData name="Αντωνιος Μακρης" userId="S::antoniosmakris@ntua.gr::eea0bc52-0833-4d66-a611-1693fee57a2c" providerId="AD" clId="Web-{20D4CE6C-36A9-5F62-F9DA-B4F8C0180A7D}" dt="2025-05-14T05:53:54.596" v="20" actId="20577"/>
      <pc:docMkLst>
        <pc:docMk/>
      </pc:docMkLst>
      <pc:sldChg chg="addSp delSp modSp add replId">
        <pc:chgData name="Αντωνιος Μακρης" userId="S::antoniosmakris@ntua.gr::eea0bc52-0833-4d66-a611-1693fee57a2c" providerId="AD" clId="Web-{20D4CE6C-36A9-5F62-F9DA-B4F8C0180A7D}" dt="2025-05-14T05:53:54.596" v="20" actId="20577"/>
        <pc:sldMkLst>
          <pc:docMk/>
          <pc:sldMk cId="199250808" sldId="275"/>
        </pc:sldMkLst>
        <pc:spChg chg="mod">
          <ac:chgData name="Αντωνιος Μακρης" userId="S::antoniosmakris@ntua.gr::eea0bc52-0833-4d66-a611-1693fee57a2c" providerId="AD" clId="Web-{20D4CE6C-36A9-5F62-F9DA-B4F8C0180A7D}" dt="2025-05-14T05:53:54.596" v="20" actId="20577"/>
          <ac:spMkLst>
            <pc:docMk/>
            <pc:sldMk cId="199250808" sldId="275"/>
            <ac:spMk id="2" creationId="{706F9E14-45A7-B3D6-05E8-AF077A104175}"/>
          </ac:spMkLst>
        </pc:spChg>
        <pc:picChg chg="add del mod">
          <ac:chgData name="Αντωνιος Μακρης" userId="S::antoniosmakris@ntua.gr::eea0bc52-0833-4d66-a611-1693fee57a2c" providerId="AD" clId="Web-{20D4CE6C-36A9-5F62-F9DA-B4F8C0180A7D}" dt="2025-05-14T05:52:56.265" v="9"/>
          <ac:picMkLst>
            <pc:docMk/>
            <pc:sldMk cId="199250808" sldId="275"/>
            <ac:picMk id="3" creationId="{B555D352-B7A0-0652-079E-60DA017ED62B}"/>
          </ac:picMkLst>
        </pc:picChg>
        <pc:picChg chg="add mod">
          <ac:chgData name="Αντωνιος Μακρης" userId="S::antoniosmakris@ntua.gr::eea0bc52-0833-4d66-a611-1693fee57a2c" providerId="AD" clId="Web-{20D4CE6C-36A9-5F62-F9DA-B4F8C0180A7D}" dt="2025-05-14T05:53:30.767" v="12" actId="1076"/>
          <ac:picMkLst>
            <pc:docMk/>
            <pc:sldMk cId="199250808" sldId="275"/>
            <ac:picMk id="4" creationId="{BA54D36C-19F1-0111-6A14-90B05C0B0BC4}"/>
          </ac:picMkLst>
        </pc:picChg>
        <pc:picChg chg="del">
          <ac:chgData name="Αντωνιος Μακρης" userId="S::antoniosmakris@ntua.gr::eea0bc52-0833-4d66-a611-1693fee57a2c" providerId="AD" clId="Web-{20D4CE6C-36A9-5F62-F9DA-B4F8C0180A7D}" dt="2025-05-14T05:52:02.404" v="1"/>
          <ac:picMkLst>
            <pc:docMk/>
            <pc:sldMk cId="199250808" sldId="275"/>
            <ac:picMk id="5" creationId="{D191C602-4E83-9086-15D7-7C607CECFCD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Προσαρμοσμένη διάταξη">
  <p:cSld name="Προσαρμοσμένη διάταξη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title"/>
          </p:nvPr>
        </p:nvSpPr>
        <p:spPr>
          <a:xfrm>
            <a:off x="838199" y="320450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i="0" u="none" strike="noStrike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body" idx="1"/>
          </p:nvPr>
        </p:nvSpPr>
        <p:spPr>
          <a:xfrm>
            <a:off x="2886868" y="4865060"/>
            <a:ext cx="6418263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54A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2154A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body" idx="2"/>
          </p:nvPr>
        </p:nvSpPr>
        <p:spPr>
          <a:xfrm>
            <a:off x="266700" y="1983447"/>
            <a:ext cx="22860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54A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2154A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38306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 descr="Χειραψία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6091652" y="5984679"/>
            <a:ext cx="6028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050"/>
              <a:buFont typeface="Calibri"/>
              <a:buNone/>
            </a:pPr>
            <a:r>
              <a:rPr lang="en-US" sz="950" i="0" u="none" strike="noStrike" cap="none">
                <a:solidFill>
                  <a:srgbClr val="757070"/>
                </a:solidFill>
              </a:rPr>
              <a:t>The work described in this presentation has been conducted within the project </a:t>
            </a:r>
            <a:r>
              <a:rPr lang="en-US" sz="950">
                <a:solidFill>
                  <a:srgbClr val="757070"/>
                </a:solidFill>
              </a:rPr>
              <a:t>CoEvolution</a:t>
            </a:r>
            <a:r>
              <a:rPr lang="en-US" sz="950" i="0" u="none" strike="noStrike" cap="none">
                <a:solidFill>
                  <a:srgbClr val="757070"/>
                </a:solidFill>
              </a:rPr>
              <a:t>. This project has received funding </a:t>
            </a:r>
            <a:r>
              <a:rPr lang="en-US" sz="950">
                <a:solidFill>
                  <a:srgbClr val="757070"/>
                </a:solidFill>
              </a:rPr>
              <a:t>from</a:t>
            </a:r>
            <a:r>
              <a:rPr lang="en-US" sz="950" i="0" u="none" strike="noStrike" cap="none">
                <a:solidFill>
                  <a:srgbClr val="757070"/>
                </a:solidFill>
              </a:rPr>
              <a:t> the European Union’s Horizon Europe Framework Programme (Horizon) under Grant Agreement No </a:t>
            </a:r>
            <a:r>
              <a:rPr lang="en-US" sz="950">
                <a:solidFill>
                  <a:srgbClr val="757070"/>
                </a:solidFill>
              </a:rPr>
              <a:t>101168560</a:t>
            </a:r>
            <a:r>
              <a:rPr lang="en-US" sz="950" i="0" u="none" strike="noStrike" cap="none">
                <a:solidFill>
                  <a:srgbClr val="757070"/>
                </a:solidFill>
              </a:rPr>
              <a:t>. This document does not represent the opinion of the European Union, and the European Union is not responsible for any use that might be made of this content.</a:t>
            </a:r>
            <a:endParaRPr sz="1300"/>
          </a:p>
        </p:txBody>
      </p:sp>
      <p:sp>
        <p:nvSpPr>
          <p:cNvPr id="75" name="Google Shape;75;p16"/>
          <p:cNvSpPr txBox="1"/>
          <p:nvPr/>
        </p:nvSpPr>
        <p:spPr>
          <a:xfrm>
            <a:off x="6501028" y="2343782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44546A"/>
                </a:solidFill>
              </a:rPr>
              <a:t>Thank you!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Διαφάνεια τίτλου" type="title">
  <p:cSld name="TITL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582" y="5735637"/>
            <a:ext cx="77293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9982200" y="6254175"/>
            <a:ext cx="20383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The project has received funding form the European Union’s Horizon Europe Framework Programme (Horizon) under grant agreement No 101135775</a:t>
            </a:r>
            <a:endParaRPr sz="800" b="0" i="0" u="none" strike="noStrike" cap="non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περιεχόμενο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εφαλίδα ενότητας" type="secHead">
  <p:cSld name="SECTION_HEAD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Σύγκριση" type="twoTxTwoObj">
  <p:cSld name="TWO_OBJECTS_WITH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Μόνο τίτλος" type="titleOnly">
  <p:cSld name="TITLE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Κατακόρυφο κείμενο" type="vertTx">
  <p:cSld name="VERTICAL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4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ατακόρυφος τίτλος και Κείμενο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4982" y="5739837"/>
            <a:ext cx="77293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/>
          <p:nvPr/>
        </p:nvSpPr>
        <p:spPr>
          <a:xfrm>
            <a:off x="9982200" y="6254175"/>
            <a:ext cx="2038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800"/>
              <a:buFont typeface="Calibri"/>
              <a:buNone/>
            </a:pPr>
            <a:r>
              <a:rPr lang="en-US" sz="800" i="0" u="none" strike="noStrike" cap="none">
                <a:solidFill>
                  <a:srgbClr val="757070"/>
                </a:solidFill>
              </a:rPr>
              <a:t>The project has received funding </a:t>
            </a:r>
            <a:r>
              <a:rPr lang="en-US" sz="800">
                <a:solidFill>
                  <a:srgbClr val="757070"/>
                </a:solidFill>
              </a:rPr>
              <a:t>from</a:t>
            </a:r>
            <a:r>
              <a:rPr lang="en-US" sz="800" i="0" u="none" strike="noStrike" cap="none">
                <a:solidFill>
                  <a:srgbClr val="757070"/>
                </a:solidFill>
              </a:rPr>
              <a:t> the European Union’s Horizon Europe Framework Programme (Horizon) under grant agreement No </a:t>
            </a:r>
            <a:r>
              <a:rPr lang="en-US" sz="800">
                <a:solidFill>
                  <a:srgbClr val="757070"/>
                </a:solidFill>
              </a:rPr>
              <a:t>101168560</a:t>
            </a:r>
            <a:endParaRPr sz="800" i="0" u="none" strike="noStrike" cap="none">
              <a:solidFill>
                <a:srgbClr val="757070"/>
              </a:solidFill>
            </a:endParaRPr>
          </a:p>
        </p:txBody>
      </p:sp>
      <p:pic>
        <p:nvPicPr>
          <p:cNvPr id="12" name="Google Shape;1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7038" y="100275"/>
            <a:ext cx="3017923" cy="18184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246900" y="33425"/>
            <a:ext cx="1911675" cy="2791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5" r:id="rId7"/>
    <p:sldLayoutId id="214748366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>
            <a:spLocks noGrp="1"/>
          </p:cNvSpPr>
          <p:nvPr>
            <p:ph type="title"/>
          </p:nvPr>
        </p:nvSpPr>
        <p:spPr>
          <a:xfrm>
            <a:off x="967855" y="457610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2800" b="1" dirty="0">
                <a:solidFill>
                  <a:srgbClr val="122051"/>
                </a:solidFill>
                <a:latin typeface="Arial Black" panose="020B0A04020102020204" pitchFamily="34" charset="0"/>
              </a:rPr>
              <a:t>A COMPREHENSIVE TRUSTWORTHY FRAMEWORK FOR CONNECTED MACHINE LEARNING AND SECURE INTERCONNECTED AI SOLUTIONS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FC228A-F97E-6E4C-377B-13E6D79F9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7997"/>
            <a:ext cx="12192000" cy="24144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D4891-51E8-A047-E4BD-24E6C6B0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81" y="201352"/>
            <a:ext cx="10515600" cy="1325563"/>
          </a:xfrm>
        </p:spPr>
        <p:txBody>
          <a:bodyPr/>
          <a:lstStyle/>
          <a:p>
            <a:r>
              <a:rPr lang="en-US" dirty="0" err="1"/>
              <a:t>CoEvolution</a:t>
            </a:r>
            <a:r>
              <a:rPr lang="en-US" dirty="0"/>
              <a:t> Key Facts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34670-869B-37B5-D18A-78B91D1FD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0852" y="1839034"/>
            <a:ext cx="9463585" cy="5134971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122051"/>
                </a:solidFill>
                <a:latin typeface="Arial Black" panose="020B0A04020102020204" pitchFamily="34" charset="0"/>
              </a:rPr>
              <a:t>Project Start Date: </a:t>
            </a:r>
            <a:r>
              <a:rPr lang="en-US" dirty="0"/>
              <a:t>1 November 2024</a:t>
            </a:r>
          </a:p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122051"/>
                </a:solidFill>
                <a:latin typeface="Arial Black" panose="020B0A04020102020204" pitchFamily="34" charset="0"/>
              </a:rPr>
              <a:t>Project End Date: </a:t>
            </a:r>
            <a:r>
              <a:rPr lang="en-US" dirty="0"/>
              <a:t>31 October 2027</a:t>
            </a:r>
          </a:p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122051"/>
                </a:solidFill>
                <a:latin typeface="Arial Black" panose="020B0A04020102020204" pitchFamily="34" charset="0"/>
              </a:rPr>
              <a:t>Topic: </a:t>
            </a:r>
            <a:r>
              <a:rPr lang="en-US" dirty="0"/>
              <a:t>HORIZON-CL3-2023-CS-01-03</a:t>
            </a:r>
          </a:p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122051"/>
                </a:solidFill>
                <a:latin typeface="Arial Black" panose="020B0A04020102020204" pitchFamily="34" charset="0"/>
              </a:rPr>
              <a:t>Type of Action: </a:t>
            </a:r>
            <a:r>
              <a:rPr lang="en-US" dirty="0"/>
              <a:t>Research and Innovation Actions (RIA)</a:t>
            </a:r>
          </a:p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122051"/>
                </a:solidFill>
                <a:latin typeface="Arial Black" panose="020B0A04020102020204" pitchFamily="34" charset="0"/>
              </a:rPr>
              <a:t>Duration: </a:t>
            </a:r>
            <a:r>
              <a:rPr lang="en-US" dirty="0"/>
              <a:t>36 months</a:t>
            </a:r>
          </a:p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122051"/>
                </a:solidFill>
                <a:latin typeface="Arial Black" panose="020B0A04020102020204" pitchFamily="34" charset="0"/>
              </a:rPr>
              <a:t>Budget: </a:t>
            </a:r>
            <a:r>
              <a:rPr lang="en-US" dirty="0"/>
              <a:t>5.999.688,75</a:t>
            </a:r>
            <a:r>
              <a:rPr lang="en-US" b="1" dirty="0">
                <a:solidFill>
                  <a:srgbClr val="122051"/>
                </a:solidFill>
                <a:latin typeface="Arial Black" panose="020B0A04020102020204" pitchFamily="34" charset="0"/>
              </a:rPr>
              <a:t> </a:t>
            </a:r>
            <a:r>
              <a:rPr lang="en-US" dirty="0"/>
              <a:t>Euros</a:t>
            </a:r>
          </a:p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122051"/>
                </a:solidFill>
                <a:latin typeface="Arial Black" panose="020B0A04020102020204" pitchFamily="34" charset="0"/>
              </a:rPr>
              <a:t>Coordinator: </a:t>
            </a:r>
            <a:r>
              <a:rPr lang="en-US" dirty="0"/>
              <a:t>ICCS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9234E0-DB6B-8556-3379-C0222CE2C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42" y="1900450"/>
            <a:ext cx="688355" cy="5162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D0B381-354F-0E9D-3E44-ABABD2839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666" y="5359953"/>
            <a:ext cx="591403" cy="4435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A78099-6A31-F412-0CDE-E859B4214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06" y="3934111"/>
            <a:ext cx="791571" cy="5936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12AC66-08D1-7331-8159-35E9076C2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645" y="4719061"/>
            <a:ext cx="591404" cy="4435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C03E40-70A0-C8C4-4806-5139E023AF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0" y="5967482"/>
            <a:ext cx="696035" cy="5220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95A2233-13C5-21EF-69C7-D016C3F2CE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675" y="2623214"/>
            <a:ext cx="784177" cy="5881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80AA81E-461C-F44C-F60F-A814D9D43E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179" y="3409597"/>
            <a:ext cx="667786" cy="50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0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4C914-6D1F-E5A7-D89D-787E4786D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42" y="194528"/>
            <a:ext cx="10515600" cy="1325563"/>
          </a:xfrm>
        </p:spPr>
        <p:txBody>
          <a:bodyPr/>
          <a:lstStyle/>
          <a:p>
            <a:r>
              <a:rPr lang="en-US" dirty="0"/>
              <a:t>Consortium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FCD9F-EFC8-B7E9-B723-C1ABCCFD9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050" y="1669446"/>
            <a:ext cx="11785980" cy="1101820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15 partners from 8 countries: </a:t>
            </a:r>
            <a:r>
              <a:rPr lang="en-US" dirty="0"/>
              <a:t>Greece, Italy, Germany, Spain, Ireland, Austria, Cyprus, Switzerland</a:t>
            </a:r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163099-2D10-13DE-F4B6-2169EED75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16" y="2920621"/>
            <a:ext cx="9716685" cy="382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936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2321765-2943-D850-DD0C-0690975CC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2" y="4977606"/>
            <a:ext cx="1255593" cy="9416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DB0CAE-25EE-2040-B733-75732EC9F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92573"/>
            <a:ext cx="1255593" cy="9416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69B48B-F82A-023B-F1FB-2AD7DF5D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874" y="153584"/>
            <a:ext cx="10515600" cy="1325563"/>
          </a:xfrm>
        </p:spPr>
        <p:txBody>
          <a:bodyPr/>
          <a:lstStyle/>
          <a:p>
            <a:r>
              <a:rPr lang="en-US" dirty="0"/>
              <a:t>Our Vision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05487-5AD0-F8C1-A839-765F91B12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8923" y="1921160"/>
            <a:ext cx="10515600" cy="4351338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CoEvolution</a:t>
            </a:r>
            <a:r>
              <a:rPr lang="en-US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project aims to create an end-to-end </a:t>
            </a:r>
            <a:r>
              <a:rPr lang="en-US" sz="2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Security, Trust, and Robustness (STR)</a:t>
            </a:r>
            <a:r>
              <a:rPr lang="en-US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assessment solution, generating context-aware AI models characterized by their </a:t>
            </a:r>
            <a:r>
              <a:rPr lang="en-US" sz="2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AI Model Bill of Materials (AIMBOM)</a:t>
            </a:r>
            <a:r>
              <a:rPr lang="en-US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</a:t>
            </a:r>
          </a:p>
          <a:p>
            <a:pPr marL="114300" indent="0">
              <a:buNone/>
            </a:pPr>
            <a:endParaRPr lang="en-US" sz="24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goal is a universal hub providing a coherent STR risk assessment and security assurance flow, aligning with </a:t>
            </a:r>
            <a:r>
              <a:rPr lang="en-US" sz="24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MLDevOps</a:t>
            </a:r>
            <a:r>
              <a:rPr lang="en-US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and EU AI regulatory frameworks. </a:t>
            </a:r>
          </a:p>
          <a:p>
            <a:pPr marL="114300" indent="0">
              <a:buNone/>
            </a:pPr>
            <a:endParaRPr lang="en-US" sz="24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sz="24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CoEvolution</a:t>
            </a:r>
            <a:r>
              <a:rPr lang="en-US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introduces a new STR paradigm based on Bills-of-Materials, offering a unified approach to describing AI models in supply chains, ensuring STR compliance with EU directives on trust, fairness, data governance, and GDPR guidelines.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02A49B-94B3-0C29-5404-3564B98E0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73" y="3500473"/>
            <a:ext cx="1119353" cy="83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37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9690051-BC20-DD62-7C3F-1CC2FED16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250" y="4609283"/>
            <a:ext cx="666467" cy="49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E7A859-0995-E18F-7A9B-22E54054B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698" y="146760"/>
            <a:ext cx="10515600" cy="1325563"/>
          </a:xfrm>
        </p:spPr>
        <p:txBody>
          <a:bodyPr/>
          <a:lstStyle/>
          <a:p>
            <a:r>
              <a:rPr lang="en-US" dirty="0"/>
              <a:t>Impact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F893F-3767-FFE0-487F-FE992F7D3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711" y="1681294"/>
            <a:ext cx="10515600" cy="1033581"/>
          </a:xfrm>
        </p:spPr>
        <p:txBody>
          <a:bodyPr/>
          <a:lstStyle/>
          <a:p>
            <a:pPr marL="114300" indent="0">
              <a:buNone/>
            </a:pPr>
            <a:r>
              <a:rPr lang="en-US" dirty="0" err="1"/>
              <a:t>CoEvolution</a:t>
            </a:r>
            <a:r>
              <a:rPr lang="en-US" dirty="0"/>
              <a:t> has developed an impact maximization strategy that is based on seven key principles.</a:t>
            </a:r>
          </a:p>
          <a:p>
            <a:endParaRPr lang="en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6F3472-1EA2-D838-BADA-EE3ED8ED7AA0}"/>
              </a:ext>
            </a:extLst>
          </p:cNvPr>
          <p:cNvSpPr txBox="1"/>
          <p:nvPr/>
        </p:nvSpPr>
        <p:spPr>
          <a:xfrm>
            <a:off x="3422177" y="2782318"/>
            <a:ext cx="7618862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1300"/>
              </a:spcBef>
            </a:pPr>
            <a:r>
              <a:rPr lang="en-US" sz="2800" dirty="0">
                <a:solidFill>
                  <a:schemeClr val="dk1"/>
                </a:solidFill>
              </a:rPr>
              <a:t>Increase awareness</a:t>
            </a:r>
          </a:p>
          <a:p>
            <a:pPr lvl="1">
              <a:spcBef>
                <a:spcPts val="1300"/>
              </a:spcBef>
            </a:pPr>
            <a:r>
              <a:rPr lang="en-US" sz="2800" dirty="0">
                <a:solidFill>
                  <a:schemeClr val="dk1"/>
                </a:solidFill>
              </a:rPr>
              <a:t>Engage with stakeholders</a:t>
            </a:r>
          </a:p>
          <a:p>
            <a:pPr lvl="1">
              <a:spcBef>
                <a:spcPts val="1300"/>
              </a:spcBef>
            </a:pPr>
            <a:r>
              <a:rPr lang="en-US" sz="2800" dirty="0">
                <a:solidFill>
                  <a:schemeClr val="dk1"/>
                </a:solidFill>
              </a:rPr>
              <a:t>Build strategic partnerships</a:t>
            </a:r>
          </a:p>
          <a:p>
            <a:pPr lvl="1">
              <a:spcBef>
                <a:spcPts val="1300"/>
              </a:spcBef>
            </a:pPr>
            <a:r>
              <a:rPr lang="en-US" sz="2800" dirty="0">
                <a:solidFill>
                  <a:schemeClr val="dk1"/>
                </a:solidFill>
              </a:rPr>
              <a:t>Ensure standardization and compliance</a:t>
            </a:r>
          </a:p>
          <a:p>
            <a:pPr lvl="1">
              <a:spcBef>
                <a:spcPts val="1300"/>
              </a:spcBef>
            </a:pPr>
            <a:r>
              <a:rPr lang="en-US" sz="2800" dirty="0">
                <a:solidFill>
                  <a:schemeClr val="dk1"/>
                </a:solidFill>
              </a:rPr>
              <a:t>Provide education and training</a:t>
            </a:r>
          </a:p>
          <a:p>
            <a:pPr lvl="1">
              <a:spcBef>
                <a:spcPts val="1300"/>
              </a:spcBef>
            </a:pPr>
            <a:r>
              <a:rPr lang="en-US" sz="2800" dirty="0">
                <a:solidFill>
                  <a:schemeClr val="dk1"/>
                </a:solidFill>
              </a:rPr>
              <a:t>Foster continuous improvement</a:t>
            </a:r>
          </a:p>
          <a:p>
            <a:pPr lvl="1">
              <a:spcBef>
                <a:spcPts val="1300"/>
              </a:spcBef>
            </a:pPr>
            <a:r>
              <a:rPr lang="en-US" sz="2800" dirty="0">
                <a:solidFill>
                  <a:schemeClr val="dk1"/>
                </a:solidFill>
              </a:rPr>
              <a:t>Drive commercialization  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5F442B0-7602-F30B-4365-D01D186F5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711" y="3395568"/>
            <a:ext cx="666466" cy="4998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5681C78-20D7-7BE1-C57C-C788688DD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066" y="4030303"/>
            <a:ext cx="618699" cy="4640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4380AF7-74FC-6FC4-31DC-2485DA818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9011" y="5163202"/>
            <a:ext cx="545911" cy="4094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1D760E7-21E4-B9E5-8611-080197482C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4851" y="5702304"/>
            <a:ext cx="714233" cy="53567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0389491-5C90-31EC-5218-CC3A57B192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4250" y="6352935"/>
            <a:ext cx="618959" cy="46421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EBEBF20-A0AB-9311-5C82-ACDA954744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1675" y="2823353"/>
            <a:ext cx="618699" cy="46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72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CF7DE-8B69-B227-2884-5AE746AAE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56" y="199049"/>
            <a:ext cx="10515600" cy="1325563"/>
          </a:xfrm>
        </p:spPr>
        <p:txBody>
          <a:bodyPr/>
          <a:lstStyle/>
          <a:p>
            <a:r>
              <a:rPr lang="en-US" dirty="0"/>
              <a:t>Objectives</a:t>
            </a:r>
            <a:endParaRPr lang="en-DE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54122C8-8628-759B-3D3C-54215873C56E}"/>
              </a:ext>
            </a:extLst>
          </p:cNvPr>
          <p:cNvGrpSpPr/>
          <p:nvPr/>
        </p:nvGrpSpPr>
        <p:grpSpPr>
          <a:xfrm>
            <a:off x="65537" y="2108579"/>
            <a:ext cx="5632403" cy="932615"/>
            <a:chOff x="65537" y="2067635"/>
            <a:chExt cx="5632403" cy="93261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CF4A908-6AE1-F13D-023F-73305D227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37" y="2067635"/>
              <a:ext cx="862937" cy="86293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4736396-9126-926E-C215-F83E0EC1C0C5}"/>
                </a:ext>
              </a:extLst>
            </p:cNvPr>
            <p:cNvSpPr txBox="1"/>
            <p:nvPr/>
          </p:nvSpPr>
          <p:spPr>
            <a:xfrm>
              <a:off x="838200" y="2169253"/>
              <a:ext cx="485974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 indent="0">
                <a:buNone/>
              </a:pPr>
              <a:r>
                <a:rPr lang="en-US" sz="1600" b="1" i="0" dirty="0">
                  <a:solidFill>
                    <a:srgbClr val="32323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Develop a security and risk assessment process for AI models across the supply chain lifecycle.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06BA77F-A0A1-62BB-3B67-A68AD9DA6605}"/>
              </a:ext>
            </a:extLst>
          </p:cNvPr>
          <p:cNvGrpSpPr/>
          <p:nvPr/>
        </p:nvGrpSpPr>
        <p:grpSpPr>
          <a:xfrm>
            <a:off x="123822" y="3345989"/>
            <a:ext cx="5628709" cy="830997"/>
            <a:chOff x="123822" y="3345989"/>
            <a:chExt cx="5628709" cy="83099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47A2C37-1AF3-DB50-4F40-433CBAFBA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822" y="3434973"/>
              <a:ext cx="649680" cy="64968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1912953-9CE2-D7D1-26C4-28F20B115786}"/>
                </a:ext>
              </a:extLst>
            </p:cNvPr>
            <p:cNvSpPr txBox="1"/>
            <p:nvPr/>
          </p:nvSpPr>
          <p:spPr>
            <a:xfrm>
              <a:off x="779202" y="3345989"/>
              <a:ext cx="497332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 indent="0">
                <a:buNone/>
              </a:pPr>
              <a:r>
                <a:rPr lang="en-US" sz="1600" b="1" i="0" dirty="0">
                  <a:solidFill>
                    <a:srgbClr val="32323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Create a Security, Trust, and Robustness (STR) </a:t>
              </a:r>
              <a:r>
                <a:rPr lang="en-US" sz="1600" b="1" i="0" dirty="0" err="1">
                  <a:solidFill>
                    <a:srgbClr val="32323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Defence</a:t>
              </a:r>
              <a:r>
                <a:rPr lang="en-US" sz="1600" b="1" i="0" dirty="0">
                  <a:solidFill>
                    <a:srgbClr val="32323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Framework for AI model security-by-design throughout its lifecycle.</a:t>
              </a:r>
              <a:endParaRPr lang="en-US" sz="1600" b="1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CCA26B2-3C40-2207-8379-15AFE5677E59}"/>
              </a:ext>
            </a:extLst>
          </p:cNvPr>
          <p:cNvGrpSpPr/>
          <p:nvPr/>
        </p:nvGrpSpPr>
        <p:grpSpPr>
          <a:xfrm>
            <a:off x="65537" y="4646405"/>
            <a:ext cx="5722680" cy="1077218"/>
            <a:chOff x="93683" y="4512218"/>
            <a:chExt cx="5722680" cy="107721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3572CA5-136E-EB5A-CACE-BF80B60F9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683" y="4604983"/>
              <a:ext cx="740953" cy="74095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F3AA351-B1D1-E572-09DA-46BA2C8908B6}"/>
                </a:ext>
              </a:extLst>
            </p:cNvPr>
            <p:cNvSpPr txBox="1"/>
            <p:nvPr/>
          </p:nvSpPr>
          <p:spPr>
            <a:xfrm>
              <a:off x="779202" y="4512218"/>
              <a:ext cx="5037161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 indent="0">
                <a:buNone/>
              </a:pPr>
              <a:r>
                <a:rPr lang="en-US" sz="1600" b="1" i="0" dirty="0">
                  <a:solidFill>
                    <a:srgbClr val="32323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Propose a new paradigm for AI model security compliant with EU AI guidelines, including an AI Model Bill of Materials as a universal description structure.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40E9893-AB98-305C-4174-6A76882B2E91}"/>
              </a:ext>
            </a:extLst>
          </p:cNvPr>
          <p:cNvGrpSpPr/>
          <p:nvPr/>
        </p:nvGrpSpPr>
        <p:grpSpPr>
          <a:xfrm>
            <a:off x="6515697" y="2072279"/>
            <a:ext cx="5368518" cy="830997"/>
            <a:chOff x="6619876" y="2157418"/>
            <a:chExt cx="5368518" cy="83099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72E2581-7D83-E60C-1550-01DCA1014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19876" y="2204879"/>
              <a:ext cx="643039" cy="643039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DA82A6-69DD-8D7A-7099-E9A54FBD1C07}"/>
                </a:ext>
              </a:extLst>
            </p:cNvPr>
            <p:cNvSpPr txBox="1"/>
            <p:nvPr/>
          </p:nvSpPr>
          <p:spPr>
            <a:xfrm>
              <a:off x="7463024" y="2157418"/>
              <a:ext cx="452537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 indent="0">
                <a:buNone/>
              </a:pPr>
              <a:r>
                <a:rPr lang="en-US" sz="1600" b="1" i="0" dirty="0">
                  <a:solidFill>
                    <a:srgbClr val="32323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Infuse context-aware mechanisms in AI models to adapt to changing cybersecurity environments.</a:t>
              </a:r>
              <a:endParaRPr 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E18DA92-75F3-103D-7225-88C5DEABF10D}"/>
              </a:ext>
            </a:extLst>
          </p:cNvPr>
          <p:cNvGrpSpPr/>
          <p:nvPr/>
        </p:nvGrpSpPr>
        <p:grpSpPr>
          <a:xfrm>
            <a:off x="6515697" y="3345989"/>
            <a:ext cx="5445741" cy="830997"/>
            <a:chOff x="6515697" y="3345989"/>
            <a:chExt cx="5445741" cy="830997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B9884E0-E07F-F83F-0582-EE7585E4D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5697" y="3357907"/>
              <a:ext cx="747218" cy="74721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C11FFA-D717-DB0B-9A40-C8E1DF6AA04D}"/>
                </a:ext>
              </a:extLst>
            </p:cNvPr>
            <p:cNvSpPr txBox="1"/>
            <p:nvPr/>
          </p:nvSpPr>
          <p:spPr>
            <a:xfrm>
              <a:off x="7304140" y="3345989"/>
              <a:ext cx="465729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 indent="0">
                <a:buNone/>
              </a:pPr>
              <a:r>
                <a:rPr lang="en-US" sz="1600" b="1" i="0" dirty="0">
                  <a:solidFill>
                    <a:srgbClr val="323232"/>
                  </a:solidFill>
                  <a:effectLst/>
                  <a:latin typeface="Roboto" panose="02000000000000000000" pitchFamily="2" charset="0"/>
                </a:rPr>
                <a:t>Build a secure, trusted AI supply chain ecosystem through the </a:t>
              </a:r>
              <a:r>
                <a:rPr lang="en-US" sz="1600" b="1" i="0" dirty="0" err="1">
                  <a:solidFill>
                    <a:srgbClr val="323232"/>
                  </a:solidFill>
                  <a:effectLst/>
                  <a:latin typeface="Roboto" panose="02000000000000000000" pitchFamily="2" charset="0"/>
                </a:rPr>
                <a:t>CoEvolution</a:t>
              </a:r>
              <a:r>
                <a:rPr lang="en-US" sz="1600" b="1" i="0" dirty="0">
                  <a:solidFill>
                    <a:srgbClr val="323232"/>
                  </a:solidFill>
                  <a:effectLst/>
                  <a:latin typeface="Roboto" panose="02000000000000000000" pitchFamily="2" charset="0"/>
                </a:rPr>
                <a:t> hub, offering secure AI models and datasets.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15339BD-DA26-1B71-FB24-C20CBA01F606}"/>
              </a:ext>
            </a:extLst>
          </p:cNvPr>
          <p:cNvGrpSpPr/>
          <p:nvPr/>
        </p:nvGrpSpPr>
        <p:grpSpPr>
          <a:xfrm>
            <a:off x="6517205" y="4646405"/>
            <a:ext cx="5512473" cy="1077218"/>
            <a:chOff x="6571910" y="4392240"/>
            <a:chExt cx="5512473" cy="1077218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00391FF-6CC4-A57C-0EC5-F5F311B77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71910" y="4507461"/>
              <a:ext cx="738969" cy="738969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DD8AE9F-7E13-770C-DCE1-03A2F4B2E4DB}"/>
                </a:ext>
              </a:extLst>
            </p:cNvPr>
            <p:cNvSpPr txBox="1"/>
            <p:nvPr/>
          </p:nvSpPr>
          <p:spPr>
            <a:xfrm>
              <a:off x="7358845" y="4392240"/>
              <a:ext cx="4725538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 indent="0">
                <a:buNone/>
              </a:pPr>
              <a:r>
                <a:rPr lang="en-US" sz="1600" b="1" i="0" dirty="0">
                  <a:solidFill>
                    <a:srgbClr val="323232"/>
                  </a:solidFill>
                  <a:effectLst/>
                  <a:latin typeface="Roboto" panose="02000000000000000000" pitchFamily="2" charset="0"/>
                </a:rPr>
                <a:t>Integrate, validate and assess the </a:t>
              </a:r>
              <a:r>
                <a:rPr lang="en-US" sz="1600" b="1" i="0" dirty="0" err="1">
                  <a:solidFill>
                    <a:srgbClr val="323232"/>
                  </a:solidFill>
                  <a:effectLst/>
                  <a:latin typeface="Roboto" panose="02000000000000000000" pitchFamily="2" charset="0"/>
                </a:rPr>
                <a:t>CoEvolution</a:t>
              </a:r>
              <a:r>
                <a:rPr lang="en-US" sz="1600" b="1" i="0" dirty="0">
                  <a:solidFill>
                    <a:srgbClr val="323232"/>
                  </a:solidFill>
                  <a:effectLst/>
                  <a:latin typeface="Roboto" panose="02000000000000000000" pitchFamily="2" charset="0"/>
                </a:rPr>
                <a:t> overall solution in 2 complex pilots that feature all AI model realization paradigms showcasing the security of the overall AI supply chain.</a:t>
              </a:r>
              <a:endParaRPr lang="en-US" sz="1600" b="1" i="0" dirty="0">
                <a:solidFill>
                  <a:srgbClr val="323232"/>
                </a:solidFill>
                <a:effectLst/>
                <a:latin typeface="Roboto" panose="020F0502020204030204" pitchFamily="2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2954128-084E-9930-16C5-91EEA0D649EE}"/>
              </a:ext>
            </a:extLst>
          </p:cNvPr>
          <p:cNvGrpSpPr/>
          <p:nvPr/>
        </p:nvGrpSpPr>
        <p:grpSpPr>
          <a:xfrm>
            <a:off x="3539461" y="6080028"/>
            <a:ext cx="5419585" cy="668993"/>
            <a:chOff x="6664799" y="5565726"/>
            <a:chExt cx="5419585" cy="668993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81E6ECB-E62C-E1DE-D969-3F6D5548B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64799" y="5565726"/>
              <a:ext cx="649122" cy="64912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7472505-98A4-3728-D883-8D8AA64F83C9}"/>
                </a:ext>
              </a:extLst>
            </p:cNvPr>
            <p:cNvSpPr txBox="1"/>
            <p:nvPr/>
          </p:nvSpPr>
          <p:spPr>
            <a:xfrm>
              <a:off x="7502149" y="5649944"/>
              <a:ext cx="458223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i="0" dirty="0">
                  <a:solidFill>
                    <a:srgbClr val="323232"/>
                  </a:solidFill>
                  <a:effectLst/>
                  <a:latin typeface="Roboto" panose="02000000000000000000" pitchFamily="2" charset="0"/>
                </a:rPr>
                <a:t>Develop a sustainable business plan for the </a:t>
              </a:r>
              <a:r>
                <a:rPr lang="en-US" sz="1600" b="1" i="0" dirty="0" err="1">
                  <a:solidFill>
                    <a:srgbClr val="323232"/>
                  </a:solidFill>
                  <a:effectLst/>
                  <a:latin typeface="Roboto" panose="02000000000000000000" pitchFamily="2" charset="0"/>
                </a:rPr>
                <a:t>CoEvolution</a:t>
              </a:r>
              <a:r>
                <a:rPr lang="en-US" sz="1600" b="1" i="0" dirty="0">
                  <a:solidFill>
                    <a:srgbClr val="323232"/>
                  </a:solidFill>
                  <a:effectLst/>
                  <a:latin typeface="Roboto" panose="02000000000000000000" pitchFamily="2" charset="0"/>
                </a:rPr>
                <a:t> solution post-project.</a:t>
              </a:r>
              <a:endParaRPr lang="en-DE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92306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DD717-DFE8-686B-AEBE-CAF97821B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9E14-45A7-B3D6-05E8-AF077A10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93" y="160409"/>
            <a:ext cx="11155907" cy="1325563"/>
          </a:xfrm>
        </p:spPr>
        <p:txBody>
          <a:bodyPr/>
          <a:lstStyle/>
          <a:p>
            <a:r>
              <a:rPr lang="en-US" dirty="0"/>
              <a:t>Conceptual Architecture (initial Version GA-better quality )</a:t>
            </a:r>
            <a:endParaRPr lang="en-DE" dirty="0"/>
          </a:p>
        </p:txBody>
      </p:sp>
      <p:pic>
        <p:nvPicPr>
          <p:cNvPr id="4" name="Picture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BA54D36C-19F1-0111-6A14-90B05C0B0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474" y="1714500"/>
            <a:ext cx="8191052" cy="51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50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3465D-4EF6-63E2-0513-C66377F4C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34" y="187704"/>
            <a:ext cx="11772332" cy="1325563"/>
          </a:xfrm>
        </p:spPr>
        <p:txBody>
          <a:bodyPr>
            <a:normAutofit/>
          </a:bodyPr>
          <a:lstStyle/>
          <a:p>
            <a:r>
              <a:rPr lang="en-US" dirty="0"/>
              <a:t>Pilot 1: Securing the AI Supply Chain of Manufacturing Infrastructure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50A7E-20E8-FB78-7DB0-83D4FD4C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3382" y="1840030"/>
            <a:ext cx="8810767" cy="4663128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3000" b="1" dirty="0">
                <a:solidFill>
                  <a:srgbClr val="122051"/>
                </a:solidFill>
                <a:latin typeface="Arial Black" panose="020B0A04020102020204" pitchFamily="34" charset="0"/>
              </a:rPr>
              <a:t>Goal: </a:t>
            </a:r>
          </a:p>
          <a:p>
            <a:pPr marL="114300" indent="0">
              <a:buNone/>
            </a:pPr>
            <a:r>
              <a:rPr lang="en-US" sz="2400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 the security and reliability of AI components in edge computing applications used for industrial automation.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sz="3000" b="1" dirty="0">
                <a:solidFill>
                  <a:srgbClr val="122051"/>
                </a:solidFill>
                <a:latin typeface="Arial Black" panose="020B0A04020102020204" pitchFamily="34" charset="0"/>
              </a:rPr>
              <a:t>How:</a:t>
            </a:r>
          </a:p>
          <a:p>
            <a:pPr lvl="1"/>
            <a:r>
              <a:rPr lang="en-US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security mechanisms to verify the integrity of third-party AI components in manufacturing apps.</a:t>
            </a:r>
          </a:p>
          <a:p>
            <a:pPr lvl="1"/>
            <a:r>
              <a:rPr lang="en-US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 trust-building measures to ensure AI models function as expected within complex manufacturing workflows.</a:t>
            </a:r>
          </a:p>
          <a:p>
            <a:pPr lvl="1"/>
            <a:r>
              <a:rPr lang="en-US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 on securing AI models deployed on edge devices.</a:t>
            </a:r>
          </a:p>
          <a:p>
            <a:pPr lvl="1"/>
            <a:r>
              <a:rPr lang="en-US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Protect edge infrastructure from adversarial attacks.</a:t>
            </a:r>
          </a:p>
          <a:p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27F51-283A-128B-8157-7907B01A6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651068"/>
            <a:ext cx="2975212" cy="520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48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379E5-4398-830D-43C2-E91FCBC3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698" y="174057"/>
            <a:ext cx="11676797" cy="1325563"/>
          </a:xfrm>
        </p:spPr>
        <p:txBody>
          <a:bodyPr>
            <a:normAutofit/>
          </a:bodyPr>
          <a:lstStyle/>
          <a:p>
            <a:r>
              <a:rPr lang="en-US" dirty="0"/>
              <a:t>Pilot 2: Securing the AI Supply Chain in the Autonomous Vehicles Domain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C4E46-8095-A923-37AA-7FF07F5AA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4520" y="1821976"/>
            <a:ext cx="8420667" cy="4608382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sz="3200" b="1" dirty="0">
                <a:solidFill>
                  <a:srgbClr val="122051"/>
                </a:solidFill>
                <a:latin typeface="Arial Black" panose="020B0A04020102020204" pitchFamily="34" charset="0"/>
              </a:rPr>
              <a:t>Goal:</a:t>
            </a:r>
          </a:p>
          <a:p>
            <a:pPr marL="114300" indent="0">
              <a:buNone/>
            </a:pPr>
            <a:r>
              <a:rPr lang="en-US" sz="2600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 the resilience and security of </a:t>
            </a:r>
            <a:r>
              <a:rPr lang="en-US" sz="2600" dirty="0" err="1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CAVs'</a:t>
            </a:r>
            <a:r>
              <a:rPr lang="en-US" sz="2600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AI-driven systems ensuring safe autonomous navigation.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sz="3200" b="1" dirty="0">
                <a:solidFill>
                  <a:srgbClr val="122051"/>
                </a:solidFill>
                <a:latin typeface="Arial Black" panose="020B0A04020102020204" pitchFamily="34" charset="0"/>
              </a:rPr>
              <a:t>How:</a:t>
            </a:r>
          </a:p>
          <a:p>
            <a:pPr lvl="1"/>
            <a:r>
              <a:rPr lang="en-US" sz="2600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cyber-resilience in valet parking scenarios.</a:t>
            </a:r>
          </a:p>
          <a:p>
            <a:pPr lvl="1"/>
            <a:r>
              <a:rPr lang="en-US" sz="2600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Utilize advanced CAV testing infrastructure, including precise LiDAR, sensors, and high-quality maps.</a:t>
            </a:r>
          </a:p>
          <a:p>
            <a:pPr lvl="1"/>
            <a:r>
              <a:rPr lang="en-US" sz="2600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 cooperative perception for robust environmental modeling and multi-agent path planning.</a:t>
            </a:r>
          </a:p>
          <a:p>
            <a:pPr lvl="1"/>
            <a:r>
              <a:rPr lang="en-US" sz="2600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 cyber-security techniques to prevent data poisoning and sensor manipulation.</a:t>
            </a:r>
          </a:p>
          <a:p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20497-3B37-8B5D-FAFC-28AECE613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" y="1651378"/>
            <a:ext cx="2994658" cy="520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58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3F5BE4AD-9065-9A93-45F6-22431AFA8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2287"/>
            <a:ext cx="12192000" cy="2271236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67248EDB-68DC-2A67-408C-2EAF054A73BF}"/>
              </a:ext>
            </a:extLst>
          </p:cNvPr>
          <p:cNvGrpSpPr/>
          <p:nvPr/>
        </p:nvGrpSpPr>
        <p:grpSpPr>
          <a:xfrm>
            <a:off x="433591" y="5598836"/>
            <a:ext cx="3078371" cy="593024"/>
            <a:chOff x="2735575" y="4687785"/>
            <a:chExt cx="3078371" cy="593024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C1AB0AF9-AF5A-19FD-E0FC-D75EF1A5A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35575" y="4687785"/>
              <a:ext cx="593024" cy="593024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E61EFD2-E552-5A96-ABE6-7ADFC17BF1AA}"/>
                </a:ext>
              </a:extLst>
            </p:cNvPr>
            <p:cNvSpPr txBox="1"/>
            <p:nvPr/>
          </p:nvSpPr>
          <p:spPr>
            <a:xfrm>
              <a:off x="3372419" y="4791194"/>
              <a:ext cx="244152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DE" sz="1600" b="1" i="1" dirty="0"/>
                <a:t>/</a:t>
              </a:r>
              <a:r>
                <a:rPr lang="en-US" sz="1600" b="1" i="1" dirty="0"/>
                <a:t>@</a:t>
              </a:r>
              <a:r>
                <a:rPr lang="en-DE" sz="1600" b="1" i="1" dirty="0" err="1"/>
                <a:t>coevolution_eu</a:t>
              </a:r>
              <a:endParaRPr lang="en-DE" sz="1600" b="1" i="1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2502F04-08F9-8D6A-BF13-DB8469FFE679}"/>
              </a:ext>
            </a:extLst>
          </p:cNvPr>
          <p:cNvGrpSpPr/>
          <p:nvPr/>
        </p:nvGrpSpPr>
        <p:grpSpPr>
          <a:xfrm>
            <a:off x="2362908" y="6264976"/>
            <a:ext cx="3192085" cy="593024"/>
            <a:chOff x="2738222" y="5419246"/>
            <a:chExt cx="3192085" cy="593024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086AD1B-6774-6F8D-EDBC-15D12B129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38222" y="5419246"/>
              <a:ext cx="593024" cy="59302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664361B-AA4A-F3AA-FB06-1046DCAD75CC}"/>
                </a:ext>
              </a:extLst>
            </p:cNvPr>
            <p:cNvSpPr txBox="1"/>
            <p:nvPr/>
          </p:nvSpPr>
          <p:spPr>
            <a:xfrm>
              <a:off x="3372419" y="5550376"/>
              <a:ext cx="25578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DE" sz="1600" b="1" i="1" dirty="0"/>
                <a:t>/coevolution-</a:t>
              </a:r>
              <a:r>
                <a:rPr lang="en-DE" sz="1600" b="1" i="1" dirty="0" err="1"/>
                <a:t>eu</a:t>
              </a:r>
              <a:r>
                <a:rPr lang="en-DE" sz="1600" b="1" i="1" dirty="0"/>
                <a:t>-project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0563D50-CC6E-06A3-32A1-90FF46B3D72C}"/>
              </a:ext>
            </a:extLst>
          </p:cNvPr>
          <p:cNvGrpSpPr/>
          <p:nvPr/>
        </p:nvGrpSpPr>
        <p:grpSpPr>
          <a:xfrm>
            <a:off x="5910503" y="6258153"/>
            <a:ext cx="3573667" cy="593023"/>
            <a:chOff x="6246533" y="5376222"/>
            <a:chExt cx="3573667" cy="593023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734E59E-E6DC-72ED-F291-3D61FEFD6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46533" y="5376222"/>
              <a:ext cx="593023" cy="593023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53A57E6-9F1D-91A4-F6BB-20AAB0092BE7}"/>
                </a:ext>
              </a:extLst>
            </p:cNvPr>
            <p:cNvSpPr txBox="1"/>
            <p:nvPr/>
          </p:nvSpPr>
          <p:spPr>
            <a:xfrm>
              <a:off x="6927197" y="5550376"/>
              <a:ext cx="289300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DE" sz="1600" b="1" i="1" dirty="0"/>
                <a:t>/@CoEvolutionEUH2020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BB95EDC-5A7D-7D49-2290-77A025E576F6}"/>
              </a:ext>
            </a:extLst>
          </p:cNvPr>
          <p:cNvGrpSpPr/>
          <p:nvPr/>
        </p:nvGrpSpPr>
        <p:grpSpPr>
          <a:xfrm>
            <a:off x="3239922" y="5575010"/>
            <a:ext cx="3231392" cy="593024"/>
            <a:chOff x="2725526" y="6150707"/>
            <a:chExt cx="3231392" cy="593024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DC9D004-A583-96A3-82B8-A6ECAAA96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25526" y="6150707"/>
              <a:ext cx="593024" cy="593024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DFD2FDF-E159-36E8-EF14-3D5D6838345D}"/>
                </a:ext>
              </a:extLst>
            </p:cNvPr>
            <p:cNvSpPr txBox="1"/>
            <p:nvPr/>
          </p:nvSpPr>
          <p:spPr>
            <a:xfrm>
              <a:off x="3372419" y="6267024"/>
              <a:ext cx="25844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DE" sz="1600" b="1" i="1" dirty="0"/>
                <a:t>/</a:t>
              </a:r>
              <a:r>
                <a:rPr lang="en-US" sz="1600" b="1" i="1" dirty="0" err="1"/>
                <a:t>CoEvolution-EUHorizon</a:t>
              </a:r>
              <a:endParaRPr lang="en-DE" sz="1600" b="1" i="1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46A1A6B-7FD6-D428-C18A-1A9B7CD5B6E2}"/>
              </a:ext>
            </a:extLst>
          </p:cNvPr>
          <p:cNvGrpSpPr/>
          <p:nvPr/>
        </p:nvGrpSpPr>
        <p:grpSpPr>
          <a:xfrm>
            <a:off x="6649143" y="5564092"/>
            <a:ext cx="3513322" cy="593024"/>
            <a:chOff x="6246533" y="4648571"/>
            <a:chExt cx="3513322" cy="593024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44F007C-8EE0-1A60-35AC-DB270741F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46533" y="4648571"/>
              <a:ext cx="593024" cy="593024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E1306DC-D299-B184-21F9-1DA40E8D0B22}"/>
                </a:ext>
              </a:extLst>
            </p:cNvPr>
            <p:cNvSpPr txBox="1"/>
            <p:nvPr/>
          </p:nvSpPr>
          <p:spPr>
            <a:xfrm>
              <a:off x="6866852" y="4771779"/>
              <a:ext cx="289300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DE" sz="1600" b="1" i="1" dirty="0"/>
                <a:t>/coevolution-eu.bsky.social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DC5846A-3918-2A6F-AD17-0CF08BECC1B5}"/>
              </a:ext>
            </a:extLst>
          </p:cNvPr>
          <p:cNvGrpSpPr/>
          <p:nvPr/>
        </p:nvGrpSpPr>
        <p:grpSpPr>
          <a:xfrm>
            <a:off x="4022319" y="2059392"/>
            <a:ext cx="4147362" cy="633340"/>
            <a:chOff x="8251628" y="732899"/>
            <a:chExt cx="4147362" cy="633340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3E6C8F3-B0D2-4EDB-2114-6FD81D72D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51628" y="732899"/>
              <a:ext cx="648740" cy="63334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E2EEF0C-6899-4655-D53D-83BF4C653687}"/>
                </a:ext>
              </a:extLst>
            </p:cNvPr>
            <p:cNvSpPr txBox="1"/>
            <p:nvPr/>
          </p:nvSpPr>
          <p:spPr>
            <a:xfrm>
              <a:off x="8960713" y="895680"/>
              <a:ext cx="343827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DE" sz="1600" b="1" i="1" dirty="0"/>
                <a:t>https://coevolution-project.eu/</a:t>
              </a:r>
            </a:p>
          </p:txBody>
        </p:sp>
      </p:grpSp>
      <p:pic>
        <p:nvPicPr>
          <p:cNvPr id="66" name="Picture 65">
            <a:extLst>
              <a:ext uri="{FF2B5EF4-FFF2-40B4-BE49-F238E27FC236}">
                <a16:creationId xmlns:a16="http://schemas.microsoft.com/office/drawing/2014/main" id="{F26B450B-7F7A-2DBE-7FB7-3199A6A98D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9567" y="4916061"/>
            <a:ext cx="2329895" cy="63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33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2_Front pag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Θέμα του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4F42BB571C174A8CFFD983452FCC05" ma:contentTypeVersion="14" ma:contentTypeDescription="Create a new document." ma:contentTypeScope="" ma:versionID="a8a70b67efcfe98f85e246bdda75a6a4">
  <xsd:schema xmlns:xsd="http://www.w3.org/2001/XMLSchema" xmlns:xs="http://www.w3.org/2001/XMLSchema" xmlns:p="http://schemas.microsoft.com/office/2006/metadata/properties" xmlns:ns2="d608b43f-bfac-4116-ae2f-2654f04dc4f2" xmlns:ns3="f05f1c5d-c52e-4d54-83d1-a52e4aeefd52" targetNamespace="http://schemas.microsoft.com/office/2006/metadata/properties" ma:root="true" ma:fieldsID="44d91289d0f256bedd12fdd56c47cdeb" ns2:_="" ns3:_="">
    <xsd:import namespace="d608b43f-bfac-4116-ae2f-2654f04dc4f2"/>
    <xsd:import namespace="f05f1c5d-c52e-4d54-83d1-a52e4aeefd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08b43f-bfac-4116-ae2f-2654f04dc4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1a16348-86a9-4153-a534-716e536704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f1c5d-c52e-4d54-83d1-a52e4aeefd5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be773a3-2a48-487a-a9d1-73543309e2e9}" ma:internalName="TaxCatchAll" ma:showField="CatchAllData" ma:web="f05f1c5d-c52e-4d54-83d1-a52e4aeefd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08b43f-bfac-4116-ae2f-2654f04dc4f2">
      <Terms xmlns="http://schemas.microsoft.com/office/infopath/2007/PartnerControls"/>
    </lcf76f155ced4ddcb4097134ff3c332f>
    <TaxCatchAll xmlns="f05f1c5d-c52e-4d54-83d1-a52e4aeefd52" xsi:nil="true"/>
  </documentManagement>
</p:properties>
</file>

<file path=customXml/itemProps1.xml><?xml version="1.0" encoding="utf-8"?>
<ds:datastoreItem xmlns:ds="http://schemas.openxmlformats.org/officeDocument/2006/customXml" ds:itemID="{068AF006-9844-4D8B-B58F-C9D2DAE6B9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08b43f-bfac-4116-ae2f-2654f04dc4f2"/>
    <ds:schemaRef ds:uri="f05f1c5d-c52e-4d54-83d1-a52e4aeefd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287254-87EB-44FE-8FF1-B8221E7104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5CE71B-3D00-4AFA-88CF-EB81088C1908}">
  <ds:schemaRefs>
    <ds:schemaRef ds:uri="http://schemas.microsoft.com/office/2006/metadata/properties"/>
    <ds:schemaRef ds:uri="http://schemas.microsoft.com/office/infopath/2007/PartnerControls"/>
    <ds:schemaRef ds:uri="d608b43f-bfac-4116-ae2f-2654f04dc4f2"/>
    <ds:schemaRef ds:uri="f05f1c5d-c52e-4d54-83d1-a52e4aeefd5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Widescreen</PresentationFormat>
  <Paragraphs>59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Roboto</vt:lpstr>
      <vt:lpstr>2_Front page</vt:lpstr>
      <vt:lpstr>Θέμα του Office</vt:lpstr>
      <vt:lpstr>A COMPREHENSIVE TRUSTWORTHY FRAMEWORK FOR CONNECTED MACHINE LEARNING AND SECURE INTERCONNECTED AI SOLUTIONS</vt:lpstr>
      <vt:lpstr>CoEvolution Key Facts</vt:lpstr>
      <vt:lpstr>Consortium</vt:lpstr>
      <vt:lpstr>Our Vision</vt:lpstr>
      <vt:lpstr>Impact</vt:lpstr>
      <vt:lpstr>Objectives</vt:lpstr>
      <vt:lpstr>Conceptual Architecture (initial Version GA-better quality )</vt:lpstr>
      <vt:lpstr>Pilot 1: Securing the AI Supply Chain of Manufacturing Infrastructure</vt:lpstr>
      <vt:lpstr>Pilot 2: Securing the AI Supply Chain in the Autonomous Vehicles Domain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ASTERIOS STROUMPOULIS</dc:creator>
  <cp:lastModifiedBy>Jihane Najar</cp:lastModifiedBy>
  <cp:revision>70</cp:revision>
  <dcterms:created xsi:type="dcterms:W3CDTF">2024-04-26T17:52:46Z</dcterms:created>
  <dcterms:modified xsi:type="dcterms:W3CDTF">2025-05-27T12:43:36Z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0x010100314F42BB571C174A8CFFD983452FCC05</vt:lpwstr>
  </property>
  <property fmtid="{D5CDD505-2E9C-101B-9397-08002B2CF9AE}" pid="3" name="MediaServiceImageTags">
    <vt:lpwstr/>
  </property>
</Properties>
</file>